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y="5143500" cx="9144000"/>
  <p:notesSz cx="6858000" cy="9144000"/>
  <p:embeddedFontLst>
    <p:embeddedFont>
      <p:font typeface="Playfair Display"/>
      <p:regular r:id="rId45"/>
      <p:bold r:id="rId46"/>
      <p:italic r:id="rId47"/>
      <p:boldItalic r:id="rId48"/>
    </p:embeddedFont>
    <p:embeddedFont>
      <p:font typeface="Montserrat"/>
      <p:regular r:id="rId49"/>
      <p:bold r:id="rId50"/>
      <p:italic r:id="rId51"/>
      <p:boldItalic r:id="rId52"/>
    </p:embeddedFont>
    <p:embeddedFont>
      <p:font typeface="Oswald"/>
      <p:regular r:id="rId53"/>
      <p:bold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1091187-3D30-4718-AFDF-F101C7E348BA}">
  <a:tblStyle styleId="{61091187-3D30-4718-AFDF-F101C7E348B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5230C135-8FFA-46E8-9505-8E11B717E18F}" styleName="Table_1">
    <a:wholeTbl>
      <a:tcTxStyle>
        <a:font>
          <a:latin typeface="Arial"/>
          <a:ea typeface="Arial"/>
          <a:cs typeface="Arial"/>
        </a:font>
        <a:srgbClr val="000000"/>
      </a:tcTxStyle>
      <a:tcStyle>
        <a:tcBdr>
          <a:left>
            <a:ln cap="flat" cmpd="sng">
              <a:solidFill>
                <a:srgbClr val="808080"/>
              </a:solidFill>
              <a:prstDash val="solid"/>
              <a:round/>
              <a:headEnd len="sm" w="sm" type="none"/>
              <a:tailEnd len="sm" w="sm" type="none"/>
            </a:ln>
          </a:left>
          <a:right>
            <a:ln cap="flat" cmpd="sng">
              <a:solidFill>
                <a:srgbClr val="808080"/>
              </a:solidFill>
              <a:prstDash val="solid"/>
              <a:round/>
              <a:headEnd len="sm" w="sm" type="none"/>
              <a:tailEnd len="sm" w="sm" type="none"/>
            </a:ln>
          </a:right>
          <a:top>
            <a:ln cap="flat" cmpd="sng">
              <a:solidFill>
                <a:srgbClr val="808080"/>
              </a:solidFill>
              <a:prstDash val="solid"/>
              <a:round/>
              <a:headEnd len="sm" w="sm" type="none"/>
              <a:tailEnd len="sm" w="sm" type="none"/>
            </a:ln>
          </a:top>
          <a:bottom>
            <a:ln cap="flat" cmpd="sng">
              <a:solidFill>
                <a:srgbClr val="808080"/>
              </a:solidFill>
              <a:prstDash val="solid"/>
              <a:round/>
              <a:headEnd len="sm" w="sm" type="none"/>
              <a:tailEnd len="sm" w="sm" type="none"/>
            </a:ln>
          </a:bottom>
          <a:insideH>
            <a:ln cap="flat" cmpd="sng">
              <a:solidFill>
                <a:srgbClr val="808080"/>
              </a:solidFill>
              <a:prstDash val="solid"/>
              <a:round/>
              <a:headEnd len="sm" w="sm" type="none"/>
              <a:tailEnd len="sm" w="sm" type="none"/>
            </a:ln>
          </a:insideH>
          <a:insideV>
            <a:ln cap="flat" cmpd="sng">
              <a:solidFill>
                <a:srgbClr val="80808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PlayfairDisplay-bold.fntdata"/><Relationship Id="rId45" Type="http://schemas.openxmlformats.org/officeDocument/2006/relationships/font" Target="fonts/PlayfairDisplay-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PlayfairDisplay-boldItalic.fntdata"/><Relationship Id="rId47" Type="http://schemas.openxmlformats.org/officeDocument/2006/relationships/font" Target="fonts/PlayfairDisplay-italic.fntdata"/><Relationship Id="rId49" Type="http://schemas.openxmlformats.org/officeDocument/2006/relationships/font" Target="fonts/Montserrat-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Montserrat-italic.fntdata"/><Relationship Id="rId50" Type="http://schemas.openxmlformats.org/officeDocument/2006/relationships/font" Target="fonts/Montserrat-bold.fntdata"/><Relationship Id="rId53" Type="http://schemas.openxmlformats.org/officeDocument/2006/relationships/font" Target="fonts/Oswald-regular.fntdata"/><Relationship Id="rId52" Type="http://schemas.openxmlformats.org/officeDocument/2006/relationships/font" Target="fonts/Montserrat-boldItalic.fntdata"/><Relationship Id="rId11" Type="http://schemas.openxmlformats.org/officeDocument/2006/relationships/slide" Target="slides/slide5.xml"/><Relationship Id="rId10" Type="http://schemas.openxmlformats.org/officeDocument/2006/relationships/slide" Target="slides/slide4.xml"/><Relationship Id="rId54" Type="http://schemas.openxmlformats.org/officeDocument/2006/relationships/font" Target="fonts/Oswald-bold.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c6f75fce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gc6f75fce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c6f75fce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c6f75fce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c6f75fce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c6f75fce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bdab9932e1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bdab9932e1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c6f75fceb_0_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c6f75fce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bdab9932e1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bdab9932e1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bdab9932e1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bdab9932e1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bdab9932e1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bdab9932e1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bdab9932e1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bdab9932e1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bdab9932e1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bdab9932e1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bdab9932e1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bdab9932e1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bdab9932e1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bdab9932e1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c6f75fceb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c6f75fceb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bdab9932e1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bdab9932e1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bdab9932e1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bdab9932e1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bdab9932e1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bdab9932e1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c7908e89c6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c7908e89c6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c7908e89c6_3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c7908e89c6_3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c7908e89c6_3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c7908e89c6_3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c7908e89c6_3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c7908e89c6_3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c7908e89c6_3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c7908e89c6_3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c7908e89c6_3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c7908e89c6_3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c7908e89c6_3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c7908e89c6_3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c6f75fceb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c6f75fceb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bdab9932e1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bdab9932e1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bdab9932e1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bdab9932e1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c7908e89c6_3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c7908e89c6_3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bdab9932e1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bdab9932e1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c7908e89c6_3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c7908e89c6_3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c6f75fceb_0_2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c6f75fceb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c6f75fceb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c6f75fceb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bdab9932e1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bdab9932e1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bdb5a626c6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bdb5a626c6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bdb5a626c6_2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bdb5a626c6_2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bdb5a626c6_2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bdb5a626c6_2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bdb5a626c6_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bdb5a626c6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bdb5a626c6_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bdb5a626c6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c6f75fceb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c6f75fceb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4286250" y="0"/>
            <a:ext cx="7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4358475" y="0"/>
            <a:ext cx="38532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44250" y="1403850"/>
            <a:ext cx="8455500" cy="21468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6800"/>
              <a:buFont typeface="Playfair Display"/>
              <a:buNone/>
              <a:defRPr b="1" sz="6800">
                <a:latin typeface="Playfair Display"/>
                <a:ea typeface="Playfair Display"/>
                <a:cs typeface="Playfair Display"/>
                <a:sym typeface="Playfair Display"/>
              </a:defRPr>
            </a:lvl1pPr>
            <a:lvl2pPr lvl="1" algn="ctr">
              <a:spcBef>
                <a:spcPts val="0"/>
              </a:spcBef>
              <a:spcAft>
                <a:spcPts val="0"/>
              </a:spcAft>
              <a:buSzPts val="6800"/>
              <a:buFont typeface="Playfair Display"/>
              <a:buNone/>
              <a:defRPr b="1" sz="6800">
                <a:latin typeface="Playfair Display"/>
                <a:ea typeface="Playfair Display"/>
                <a:cs typeface="Playfair Display"/>
                <a:sym typeface="Playfair Display"/>
              </a:defRPr>
            </a:lvl2pPr>
            <a:lvl3pPr lvl="2" algn="ctr">
              <a:spcBef>
                <a:spcPts val="0"/>
              </a:spcBef>
              <a:spcAft>
                <a:spcPts val="0"/>
              </a:spcAft>
              <a:buSzPts val="6800"/>
              <a:buFont typeface="Playfair Display"/>
              <a:buNone/>
              <a:defRPr b="1" sz="6800">
                <a:latin typeface="Playfair Display"/>
                <a:ea typeface="Playfair Display"/>
                <a:cs typeface="Playfair Display"/>
                <a:sym typeface="Playfair Display"/>
              </a:defRPr>
            </a:lvl3pPr>
            <a:lvl4pPr lvl="3" algn="ctr">
              <a:spcBef>
                <a:spcPts val="0"/>
              </a:spcBef>
              <a:spcAft>
                <a:spcPts val="0"/>
              </a:spcAft>
              <a:buSzPts val="6800"/>
              <a:buFont typeface="Playfair Display"/>
              <a:buNone/>
              <a:defRPr b="1" sz="6800">
                <a:latin typeface="Playfair Display"/>
                <a:ea typeface="Playfair Display"/>
                <a:cs typeface="Playfair Display"/>
                <a:sym typeface="Playfair Display"/>
              </a:defRPr>
            </a:lvl4pPr>
            <a:lvl5pPr lvl="4" algn="ctr">
              <a:spcBef>
                <a:spcPts val="0"/>
              </a:spcBef>
              <a:spcAft>
                <a:spcPts val="0"/>
              </a:spcAft>
              <a:buSzPts val="6800"/>
              <a:buFont typeface="Playfair Display"/>
              <a:buNone/>
              <a:defRPr b="1" sz="6800">
                <a:latin typeface="Playfair Display"/>
                <a:ea typeface="Playfair Display"/>
                <a:cs typeface="Playfair Display"/>
                <a:sym typeface="Playfair Display"/>
              </a:defRPr>
            </a:lvl5pPr>
            <a:lvl6pPr lvl="5" algn="ctr">
              <a:spcBef>
                <a:spcPts val="0"/>
              </a:spcBef>
              <a:spcAft>
                <a:spcPts val="0"/>
              </a:spcAft>
              <a:buSzPts val="6800"/>
              <a:buFont typeface="Playfair Display"/>
              <a:buNone/>
              <a:defRPr b="1" sz="6800">
                <a:latin typeface="Playfair Display"/>
                <a:ea typeface="Playfair Display"/>
                <a:cs typeface="Playfair Display"/>
                <a:sym typeface="Playfair Display"/>
              </a:defRPr>
            </a:lvl6pPr>
            <a:lvl7pPr lvl="6" algn="ctr">
              <a:spcBef>
                <a:spcPts val="0"/>
              </a:spcBef>
              <a:spcAft>
                <a:spcPts val="0"/>
              </a:spcAft>
              <a:buSzPts val="6800"/>
              <a:buFont typeface="Playfair Display"/>
              <a:buNone/>
              <a:defRPr b="1" sz="6800">
                <a:latin typeface="Playfair Display"/>
                <a:ea typeface="Playfair Display"/>
                <a:cs typeface="Playfair Display"/>
                <a:sym typeface="Playfair Display"/>
              </a:defRPr>
            </a:lvl7pPr>
            <a:lvl8pPr lvl="7" algn="ctr">
              <a:spcBef>
                <a:spcPts val="0"/>
              </a:spcBef>
              <a:spcAft>
                <a:spcPts val="0"/>
              </a:spcAft>
              <a:buSzPts val="6800"/>
              <a:buFont typeface="Playfair Display"/>
              <a:buNone/>
              <a:defRPr b="1" sz="6800">
                <a:latin typeface="Playfair Display"/>
                <a:ea typeface="Playfair Display"/>
                <a:cs typeface="Playfair Display"/>
                <a:sym typeface="Playfair Display"/>
              </a:defRPr>
            </a:lvl8pPr>
            <a:lvl9pPr lvl="8" algn="ctr">
              <a:spcBef>
                <a:spcPts val="0"/>
              </a:spcBef>
              <a:spcAft>
                <a:spcPts val="0"/>
              </a:spcAft>
              <a:buSzPts val="6800"/>
              <a:buFont typeface="Playfair Display"/>
              <a:buNone/>
              <a:defRPr b="1" sz="6800">
                <a:latin typeface="Playfair Display"/>
                <a:ea typeface="Playfair Display"/>
                <a:cs typeface="Playfair Display"/>
                <a:sym typeface="Playfair Display"/>
              </a:defRPr>
            </a:lvl9pPr>
          </a:lstStyle>
          <a:p/>
        </p:txBody>
      </p:sp>
      <p:sp>
        <p:nvSpPr>
          <p:cNvPr id="13" name="Google Shape;13;p2"/>
          <p:cNvSpPr txBox="1"/>
          <p:nvPr>
            <p:ph idx="1" type="subTitle"/>
          </p:nvPr>
        </p:nvSpPr>
        <p:spPr>
          <a:xfrm>
            <a:off x="344250" y="3550650"/>
            <a:ext cx="4910100" cy="577800"/>
          </a:xfrm>
          <a:prstGeom prst="rect">
            <a:avLst/>
          </a:prstGeom>
          <a:solidFill>
            <a:schemeClr val="dk2"/>
          </a:solidFill>
        </p:spPr>
        <p:txBody>
          <a:bodyPr anchorCtr="0" anchor="ctr" bIns="91425" lIns="91425" spcFirstLastPara="1" rIns="91425" wrap="square" tIns="91425">
            <a:normAutofit/>
          </a:bodyPr>
          <a:lstStyle>
            <a:lvl1pPr lvl="0">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1pPr>
            <a:lvl2pPr lvl="1">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2pPr>
            <a:lvl3pPr lvl="2">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3pPr>
            <a:lvl4pPr lvl="3">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4pPr>
            <a:lvl5pPr lvl="4">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5pPr>
            <a:lvl6pPr lvl="5">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6pPr>
            <a:lvl7pPr lvl="6">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7pPr>
            <a:lvl8pPr lvl="7">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8pPr>
            <a:lvl9pPr lvl="8">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9pPr>
          </a:lstStyle>
          <a:p/>
        </p:txBody>
      </p:sp>
      <p:sp>
        <p:nvSpPr>
          <p:cNvPr id="14" name="Google Shape;14;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4"/>
        </a:solidFill>
      </p:bgPr>
    </p:bg>
    <p:spTree>
      <p:nvGrpSpPr>
        <p:cNvPr id="15" name="Shape 15"/>
        <p:cNvGrpSpPr/>
        <p:nvPr/>
      </p:nvGrpSpPr>
      <p:grpSpPr>
        <a:xfrm>
          <a:off x="0" y="0"/>
          <a:ext cx="0" cy="0"/>
          <a:chOff x="0" y="0"/>
          <a:chExt cx="0" cy="0"/>
        </a:xfrm>
      </p:grpSpPr>
      <p:sp>
        <p:nvSpPr>
          <p:cNvPr id="16" name="Google Shape;16;p3"/>
          <p:cNvSpPr/>
          <p:nvPr/>
        </p:nvSpPr>
        <p:spPr>
          <a:xfrm rot="5400000">
            <a:off x="4550700" y="-498600"/>
            <a:ext cx="42600" cy="845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344250" y="1403850"/>
            <a:ext cx="8455500" cy="21468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Font typeface="Playfair Display"/>
              <a:buNone/>
              <a:defRPr b="1" sz="4800">
                <a:latin typeface="Playfair Display"/>
                <a:ea typeface="Playfair Display"/>
                <a:cs typeface="Playfair Display"/>
                <a:sym typeface="Playfair Display"/>
              </a:defRPr>
            </a:lvl1pPr>
            <a:lvl2pPr lvl="1" algn="ctr">
              <a:spcBef>
                <a:spcPts val="0"/>
              </a:spcBef>
              <a:spcAft>
                <a:spcPts val="0"/>
              </a:spcAft>
              <a:buSzPts val="4800"/>
              <a:buFont typeface="Playfair Display"/>
              <a:buNone/>
              <a:defRPr b="1" sz="4800">
                <a:latin typeface="Playfair Display"/>
                <a:ea typeface="Playfair Display"/>
                <a:cs typeface="Playfair Display"/>
                <a:sym typeface="Playfair Display"/>
              </a:defRPr>
            </a:lvl2pPr>
            <a:lvl3pPr lvl="2" algn="ctr">
              <a:spcBef>
                <a:spcPts val="0"/>
              </a:spcBef>
              <a:spcAft>
                <a:spcPts val="0"/>
              </a:spcAft>
              <a:buSzPts val="4800"/>
              <a:buFont typeface="Playfair Display"/>
              <a:buNone/>
              <a:defRPr b="1" sz="4800">
                <a:latin typeface="Playfair Display"/>
                <a:ea typeface="Playfair Display"/>
                <a:cs typeface="Playfair Display"/>
                <a:sym typeface="Playfair Display"/>
              </a:defRPr>
            </a:lvl3pPr>
            <a:lvl4pPr lvl="3" algn="ctr">
              <a:spcBef>
                <a:spcPts val="0"/>
              </a:spcBef>
              <a:spcAft>
                <a:spcPts val="0"/>
              </a:spcAft>
              <a:buSzPts val="4800"/>
              <a:buFont typeface="Playfair Display"/>
              <a:buNone/>
              <a:defRPr b="1" sz="4800">
                <a:latin typeface="Playfair Display"/>
                <a:ea typeface="Playfair Display"/>
                <a:cs typeface="Playfair Display"/>
                <a:sym typeface="Playfair Display"/>
              </a:defRPr>
            </a:lvl4pPr>
            <a:lvl5pPr lvl="4" algn="ctr">
              <a:spcBef>
                <a:spcPts val="0"/>
              </a:spcBef>
              <a:spcAft>
                <a:spcPts val="0"/>
              </a:spcAft>
              <a:buSzPts val="4800"/>
              <a:buFont typeface="Playfair Display"/>
              <a:buNone/>
              <a:defRPr b="1" sz="4800">
                <a:latin typeface="Playfair Display"/>
                <a:ea typeface="Playfair Display"/>
                <a:cs typeface="Playfair Display"/>
                <a:sym typeface="Playfair Display"/>
              </a:defRPr>
            </a:lvl5pPr>
            <a:lvl6pPr lvl="5" algn="ctr">
              <a:spcBef>
                <a:spcPts val="0"/>
              </a:spcBef>
              <a:spcAft>
                <a:spcPts val="0"/>
              </a:spcAft>
              <a:buSzPts val="4800"/>
              <a:buFont typeface="Playfair Display"/>
              <a:buNone/>
              <a:defRPr b="1" sz="4800">
                <a:latin typeface="Playfair Display"/>
                <a:ea typeface="Playfair Display"/>
                <a:cs typeface="Playfair Display"/>
                <a:sym typeface="Playfair Display"/>
              </a:defRPr>
            </a:lvl6pPr>
            <a:lvl7pPr lvl="6" algn="ctr">
              <a:spcBef>
                <a:spcPts val="0"/>
              </a:spcBef>
              <a:spcAft>
                <a:spcPts val="0"/>
              </a:spcAft>
              <a:buSzPts val="4800"/>
              <a:buFont typeface="Playfair Display"/>
              <a:buNone/>
              <a:defRPr b="1" sz="4800">
                <a:latin typeface="Playfair Display"/>
                <a:ea typeface="Playfair Display"/>
                <a:cs typeface="Playfair Display"/>
                <a:sym typeface="Playfair Display"/>
              </a:defRPr>
            </a:lvl7pPr>
            <a:lvl8pPr lvl="7" algn="ctr">
              <a:spcBef>
                <a:spcPts val="0"/>
              </a:spcBef>
              <a:spcAft>
                <a:spcPts val="0"/>
              </a:spcAft>
              <a:buSzPts val="4800"/>
              <a:buFont typeface="Playfair Display"/>
              <a:buNone/>
              <a:defRPr b="1" sz="4800">
                <a:latin typeface="Playfair Display"/>
                <a:ea typeface="Playfair Display"/>
                <a:cs typeface="Playfair Display"/>
                <a:sym typeface="Playfair Display"/>
              </a:defRPr>
            </a:lvl8pPr>
            <a:lvl9pPr lvl="8" algn="ctr">
              <a:spcBef>
                <a:spcPts val="0"/>
              </a:spcBef>
              <a:spcAft>
                <a:spcPts val="0"/>
              </a:spcAft>
              <a:buSzPts val="4800"/>
              <a:buFont typeface="Playfair Display"/>
              <a:buNone/>
              <a:defRPr b="1" sz="4800">
                <a:latin typeface="Playfair Display"/>
                <a:ea typeface="Playfair Display"/>
                <a:cs typeface="Playfair Display"/>
                <a:sym typeface="Playfair Display"/>
              </a:defRPr>
            </a:lvl9pPr>
          </a:lstStyle>
          <a:p/>
        </p:txBody>
      </p:sp>
      <p:sp>
        <p:nvSpPr>
          <p:cNvPr id="18" name="Google Shape;18;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1" name="Google Shape;21;p4"/>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 name="Google Shape;25;p5"/>
          <p:cNvSpPr txBox="1"/>
          <p:nvPr>
            <p:ph idx="1" type="body"/>
          </p:nvPr>
        </p:nvSpPr>
        <p:spPr>
          <a:xfrm>
            <a:off x="311700" y="1234050"/>
            <a:ext cx="3999900" cy="33348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234050"/>
            <a:ext cx="3999900" cy="33348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0" name="Google Shape;30;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1pPr>
            <a:lvl2pPr lvl="1">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2pPr>
            <a:lvl3pPr lvl="2">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3pPr>
            <a:lvl4pPr lvl="3">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4pPr>
            <a:lvl5pPr lvl="4">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5pPr>
            <a:lvl6pPr lvl="5">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6pPr>
            <a:lvl7pPr lvl="6">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7pPr>
            <a:lvl8pPr lvl="7">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8pPr>
            <a:lvl9pPr lvl="8">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9pPr>
          </a:lstStyle>
          <a:p/>
        </p:txBody>
      </p:sp>
      <p:sp>
        <p:nvSpPr>
          <p:cNvPr id="37" name="Google Shape;37;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9"/>
          <p:cNvSpPr txBox="1"/>
          <p:nvPr>
            <p:ph type="title"/>
          </p:nvPr>
        </p:nvSpPr>
        <p:spPr>
          <a:xfrm>
            <a:off x="265500" y="10816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highlight>
                  <a:schemeClr val="lt1"/>
                </a:highlight>
              </a:defRPr>
            </a:lvl1pPr>
            <a:lvl2pPr indent="-317500" lvl="1" marL="914400">
              <a:spcBef>
                <a:spcPts val="0"/>
              </a:spcBef>
              <a:spcAft>
                <a:spcPts val="0"/>
              </a:spcAft>
              <a:buSzPts val="1400"/>
              <a:buChar char="○"/>
              <a:defRPr>
                <a:highlight>
                  <a:schemeClr val="lt1"/>
                </a:highlight>
              </a:defRPr>
            </a:lvl2pPr>
            <a:lvl3pPr indent="-317500" lvl="2" marL="1371600">
              <a:spcBef>
                <a:spcPts val="0"/>
              </a:spcBef>
              <a:spcAft>
                <a:spcPts val="0"/>
              </a:spcAft>
              <a:buSzPts val="1400"/>
              <a:buChar char="■"/>
              <a:defRPr>
                <a:highlight>
                  <a:schemeClr val="lt1"/>
                </a:highlight>
              </a:defRPr>
            </a:lvl3pPr>
            <a:lvl4pPr indent="-317500" lvl="3" marL="1828800">
              <a:spcBef>
                <a:spcPts val="0"/>
              </a:spcBef>
              <a:spcAft>
                <a:spcPts val="0"/>
              </a:spcAft>
              <a:buSzPts val="1400"/>
              <a:buChar char="●"/>
              <a:defRPr>
                <a:highlight>
                  <a:schemeClr val="lt1"/>
                </a:highlight>
              </a:defRPr>
            </a:lvl4pPr>
            <a:lvl5pPr indent="-317500" lvl="4" marL="2286000">
              <a:spcBef>
                <a:spcPts val="0"/>
              </a:spcBef>
              <a:spcAft>
                <a:spcPts val="0"/>
              </a:spcAft>
              <a:buSzPts val="1400"/>
              <a:buChar char="○"/>
              <a:defRPr>
                <a:highlight>
                  <a:schemeClr val="lt1"/>
                </a:highlight>
              </a:defRPr>
            </a:lvl5pPr>
            <a:lvl6pPr indent="-317500" lvl="5" marL="2743200">
              <a:spcBef>
                <a:spcPts val="0"/>
              </a:spcBef>
              <a:spcAft>
                <a:spcPts val="0"/>
              </a:spcAft>
              <a:buSzPts val="1400"/>
              <a:buChar char="■"/>
              <a:defRPr>
                <a:highlight>
                  <a:schemeClr val="lt1"/>
                </a:highlight>
              </a:defRPr>
            </a:lvl6pPr>
            <a:lvl7pPr indent="-317500" lvl="6" marL="3200400">
              <a:spcBef>
                <a:spcPts val="0"/>
              </a:spcBef>
              <a:spcAft>
                <a:spcPts val="0"/>
              </a:spcAft>
              <a:buSzPts val="1400"/>
              <a:buChar char="●"/>
              <a:defRPr>
                <a:highlight>
                  <a:schemeClr val="lt1"/>
                </a:highlight>
              </a:defRPr>
            </a:lvl7pPr>
            <a:lvl8pPr indent="-317500" lvl="7" marL="3657600">
              <a:spcBef>
                <a:spcPts val="0"/>
              </a:spcBef>
              <a:spcAft>
                <a:spcPts val="0"/>
              </a:spcAft>
              <a:buSzPts val="1400"/>
              <a:buChar char="○"/>
              <a:defRPr>
                <a:highlight>
                  <a:schemeClr val="lt1"/>
                </a:highlight>
              </a:defRPr>
            </a:lvl8pPr>
            <a:lvl9pPr indent="-317500" lvl="8" marL="4114800">
              <a:spcBef>
                <a:spcPts val="0"/>
              </a:spcBef>
              <a:spcAft>
                <a:spcPts val="0"/>
              </a:spcAft>
              <a:buSzPts val="1400"/>
              <a:buChar char="■"/>
              <a:defRPr>
                <a:highlight>
                  <a:schemeClr val="lt1"/>
                </a:highlight>
              </a:defRPr>
            </a:lvl9pPr>
          </a:lstStyle>
          <a:p/>
        </p:txBody>
      </p:sp>
      <p:sp>
        <p:nvSpPr>
          <p:cNvPr id="44" name="Google Shape;44;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highlight>
                  <a:schemeClr val="dk1"/>
                </a:highlight>
              </a:defRPr>
            </a:lvl1pPr>
          </a:lstStyle>
          <a:p/>
        </p:txBody>
      </p:sp>
      <p:sp>
        <p:nvSpPr>
          <p:cNvPr id="47" name="Google Shape;47;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txBox="1"/>
          <p:nvPr>
            <p:ph hasCustomPrompt="1" type="title"/>
          </p:nvPr>
        </p:nvSpPr>
        <p:spPr>
          <a:xfrm>
            <a:off x="311700" y="999925"/>
            <a:ext cx="8520600" cy="21462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Font typeface="Montserrat"/>
              <a:buNone/>
              <a:defRPr sz="14000">
                <a:latin typeface="Montserrat"/>
                <a:ea typeface="Montserrat"/>
                <a:cs typeface="Montserrat"/>
                <a:sym typeface="Montserrat"/>
              </a:defRPr>
            </a:lvl1pPr>
            <a:lvl2pPr lvl="1" algn="ctr">
              <a:spcBef>
                <a:spcPts val="0"/>
              </a:spcBef>
              <a:spcAft>
                <a:spcPts val="0"/>
              </a:spcAft>
              <a:buSzPts val="14000"/>
              <a:buFont typeface="Montserrat"/>
              <a:buNone/>
              <a:defRPr sz="14000">
                <a:latin typeface="Montserrat"/>
                <a:ea typeface="Montserrat"/>
                <a:cs typeface="Montserrat"/>
                <a:sym typeface="Montserrat"/>
              </a:defRPr>
            </a:lvl2pPr>
            <a:lvl3pPr lvl="2" algn="ctr">
              <a:spcBef>
                <a:spcPts val="0"/>
              </a:spcBef>
              <a:spcAft>
                <a:spcPts val="0"/>
              </a:spcAft>
              <a:buSzPts val="14000"/>
              <a:buFont typeface="Montserrat"/>
              <a:buNone/>
              <a:defRPr sz="14000">
                <a:latin typeface="Montserrat"/>
                <a:ea typeface="Montserrat"/>
                <a:cs typeface="Montserrat"/>
                <a:sym typeface="Montserrat"/>
              </a:defRPr>
            </a:lvl3pPr>
            <a:lvl4pPr lvl="3" algn="ctr">
              <a:spcBef>
                <a:spcPts val="0"/>
              </a:spcBef>
              <a:spcAft>
                <a:spcPts val="0"/>
              </a:spcAft>
              <a:buSzPts val="14000"/>
              <a:buFont typeface="Montserrat"/>
              <a:buNone/>
              <a:defRPr sz="14000">
                <a:latin typeface="Montserrat"/>
                <a:ea typeface="Montserrat"/>
                <a:cs typeface="Montserrat"/>
                <a:sym typeface="Montserrat"/>
              </a:defRPr>
            </a:lvl4pPr>
            <a:lvl5pPr lvl="4" algn="ctr">
              <a:spcBef>
                <a:spcPts val="0"/>
              </a:spcBef>
              <a:spcAft>
                <a:spcPts val="0"/>
              </a:spcAft>
              <a:buSzPts val="14000"/>
              <a:buFont typeface="Montserrat"/>
              <a:buNone/>
              <a:defRPr sz="14000">
                <a:latin typeface="Montserrat"/>
                <a:ea typeface="Montserrat"/>
                <a:cs typeface="Montserrat"/>
                <a:sym typeface="Montserrat"/>
              </a:defRPr>
            </a:lvl5pPr>
            <a:lvl6pPr lvl="5" algn="ctr">
              <a:spcBef>
                <a:spcPts val="0"/>
              </a:spcBef>
              <a:spcAft>
                <a:spcPts val="0"/>
              </a:spcAft>
              <a:buSzPts val="14000"/>
              <a:buFont typeface="Montserrat"/>
              <a:buNone/>
              <a:defRPr sz="14000">
                <a:latin typeface="Montserrat"/>
                <a:ea typeface="Montserrat"/>
                <a:cs typeface="Montserrat"/>
                <a:sym typeface="Montserrat"/>
              </a:defRPr>
            </a:lvl6pPr>
            <a:lvl7pPr lvl="6" algn="ctr">
              <a:spcBef>
                <a:spcPts val="0"/>
              </a:spcBef>
              <a:spcAft>
                <a:spcPts val="0"/>
              </a:spcAft>
              <a:buSzPts val="14000"/>
              <a:buFont typeface="Montserrat"/>
              <a:buNone/>
              <a:defRPr sz="14000">
                <a:latin typeface="Montserrat"/>
                <a:ea typeface="Montserrat"/>
                <a:cs typeface="Montserrat"/>
                <a:sym typeface="Montserrat"/>
              </a:defRPr>
            </a:lvl7pPr>
            <a:lvl8pPr lvl="7" algn="ctr">
              <a:spcBef>
                <a:spcPts val="0"/>
              </a:spcBef>
              <a:spcAft>
                <a:spcPts val="0"/>
              </a:spcAft>
              <a:buSzPts val="14000"/>
              <a:buFont typeface="Montserrat"/>
              <a:buNone/>
              <a:defRPr sz="14000">
                <a:latin typeface="Montserrat"/>
                <a:ea typeface="Montserrat"/>
                <a:cs typeface="Montserrat"/>
                <a:sym typeface="Montserrat"/>
              </a:defRPr>
            </a:lvl8pPr>
            <a:lvl9pPr lvl="8" algn="ctr">
              <a:spcBef>
                <a:spcPts val="0"/>
              </a:spcBef>
              <a:spcAft>
                <a:spcPts val="0"/>
              </a:spcAft>
              <a:buSzPts val="14000"/>
              <a:buFont typeface="Montserrat"/>
              <a:buNone/>
              <a:defRPr sz="14000">
                <a:latin typeface="Montserrat"/>
                <a:ea typeface="Montserrat"/>
                <a:cs typeface="Montserrat"/>
                <a:sym typeface="Montserrat"/>
              </a:defRPr>
            </a:lvl9pPr>
          </a:lstStyle>
          <a:p>
            <a:r>
              <a:t>xx%</a:t>
            </a:r>
          </a:p>
        </p:txBody>
      </p:sp>
      <p:sp>
        <p:nvSpPr>
          <p:cNvPr id="50" name="Google Shape;50;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highlight>
                  <a:schemeClr val="dk1"/>
                </a:highlight>
              </a:defRPr>
            </a:lvl1pPr>
            <a:lvl2pPr indent="-317500" lvl="1" marL="914400" algn="ctr">
              <a:spcBef>
                <a:spcPts val="0"/>
              </a:spcBef>
              <a:spcAft>
                <a:spcPts val="0"/>
              </a:spcAft>
              <a:buSzPts val="1400"/>
              <a:buChar char="○"/>
              <a:defRPr>
                <a:highlight>
                  <a:schemeClr val="dk1"/>
                </a:highlight>
              </a:defRPr>
            </a:lvl2pPr>
            <a:lvl3pPr indent="-317500" lvl="2" marL="1371600" algn="ctr">
              <a:spcBef>
                <a:spcPts val="0"/>
              </a:spcBef>
              <a:spcAft>
                <a:spcPts val="0"/>
              </a:spcAft>
              <a:buSzPts val="1400"/>
              <a:buChar char="■"/>
              <a:defRPr>
                <a:highlight>
                  <a:schemeClr val="dk1"/>
                </a:highlight>
              </a:defRPr>
            </a:lvl3pPr>
            <a:lvl4pPr indent="-317500" lvl="3" marL="1828800" algn="ctr">
              <a:spcBef>
                <a:spcPts val="0"/>
              </a:spcBef>
              <a:spcAft>
                <a:spcPts val="0"/>
              </a:spcAft>
              <a:buSzPts val="1400"/>
              <a:buChar char="●"/>
              <a:defRPr>
                <a:highlight>
                  <a:schemeClr val="dk1"/>
                </a:highlight>
              </a:defRPr>
            </a:lvl4pPr>
            <a:lvl5pPr indent="-317500" lvl="4" marL="2286000" algn="ctr">
              <a:spcBef>
                <a:spcPts val="0"/>
              </a:spcBef>
              <a:spcAft>
                <a:spcPts val="0"/>
              </a:spcAft>
              <a:buSzPts val="1400"/>
              <a:buChar char="○"/>
              <a:defRPr>
                <a:highlight>
                  <a:schemeClr val="dk1"/>
                </a:highlight>
              </a:defRPr>
            </a:lvl5pPr>
            <a:lvl6pPr indent="-317500" lvl="5" marL="2743200" algn="ctr">
              <a:spcBef>
                <a:spcPts val="0"/>
              </a:spcBef>
              <a:spcAft>
                <a:spcPts val="0"/>
              </a:spcAft>
              <a:buSzPts val="1400"/>
              <a:buChar char="■"/>
              <a:defRPr>
                <a:highlight>
                  <a:schemeClr val="dk1"/>
                </a:highlight>
              </a:defRPr>
            </a:lvl6pPr>
            <a:lvl7pPr indent="-317500" lvl="6" marL="3200400" algn="ctr">
              <a:spcBef>
                <a:spcPts val="0"/>
              </a:spcBef>
              <a:spcAft>
                <a:spcPts val="0"/>
              </a:spcAft>
              <a:buSzPts val="1400"/>
              <a:buChar char="●"/>
              <a:defRPr>
                <a:highlight>
                  <a:schemeClr val="dk1"/>
                </a:highlight>
              </a:defRPr>
            </a:lvl7pPr>
            <a:lvl8pPr indent="-317500" lvl="7" marL="3657600" algn="ctr">
              <a:spcBef>
                <a:spcPts val="0"/>
              </a:spcBef>
              <a:spcAft>
                <a:spcPts val="0"/>
              </a:spcAft>
              <a:buSzPts val="1400"/>
              <a:buChar char="○"/>
              <a:defRPr>
                <a:highlight>
                  <a:schemeClr val="dk1"/>
                </a:highlight>
              </a:defRPr>
            </a:lvl8pPr>
            <a:lvl9pPr indent="-317500" lvl="8" marL="4114800" algn="ctr">
              <a:spcBef>
                <a:spcPts val="0"/>
              </a:spcBef>
              <a:spcAft>
                <a:spcPts val="0"/>
              </a:spcAft>
              <a:buSzPts val="1400"/>
              <a:buChar char="■"/>
              <a:defRPr>
                <a:highlight>
                  <a:schemeClr val="dk1"/>
                </a:highlight>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op">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9pPr>
          </a:lstStyle>
          <a:p/>
        </p:txBody>
      </p:sp>
      <p:sp>
        <p:nvSpPr>
          <p:cNvPr id="7" name="Google Shape;7;p1"/>
          <p:cNvSpPr txBox="1"/>
          <p:nvPr>
            <p:ph idx="1" type="body"/>
          </p:nvPr>
        </p:nvSpPr>
        <p:spPr>
          <a:xfrm>
            <a:off x="311700" y="1234075"/>
            <a:ext cx="8520600" cy="33348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layfair Display"/>
              <a:buChar char="●"/>
              <a:defRPr sz="1800">
                <a:solidFill>
                  <a:schemeClr val="dk2"/>
                </a:solidFill>
                <a:latin typeface="Playfair Display"/>
                <a:ea typeface="Playfair Display"/>
                <a:cs typeface="Playfair Display"/>
                <a:sym typeface="Playfair Display"/>
              </a:defRPr>
            </a:lvl1pPr>
            <a:lvl2pPr indent="-317500" lvl="1" marL="9144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2pPr>
            <a:lvl3pPr indent="-317500" lvl="2" marL="13716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3pPr>
            <a:lvl4pPr indent="-317500" lvl="3" marL="18288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4pPr>
            <a:lvl5pPr indent="-317500" lvl="4" marL="22860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5pPr>
            <a:lvl6pPr indent="-317500" lvl="5" marL="27432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6pPr>
            <a:lvl7pPr indent="-317500" lvl="6" marL="32004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7pPr>
            <a:lvl8pPr indent="-317500" lvl="7" marL="36576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8pPr>
            <a:lvl9pPr indent="-317500" lvl="8" marL="41148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layfair Display"/>
                <a:ea typeface="Playfair Display"/>
                <a:cs typeface="Playfair Display"/>
                <a:sym typeface="Playfair Display"/>
              </a:defRPr>
            </a:lvl1pPr>
            <a:lvl2pPr lvl="1" algn="r">
              <a:buNone/>
              <a:defRPr sz="1000">
                <a:solidFill>
                  <a:schemeClr val="dk2"/>
                </a:solidFill>
                <a:latin typeface="Playfair Display"/>
                <a:ea typeface="Playfair Display"/>
                <a:cs typeface="Playfair Display"/>
                <a:sym typeface="Playfair Display"/>
              </a:defRPr>
            </a:lvl2pPr>
            <a:lvl3pPr lvl="2" algn="r">
              <a:buNone/>
              <a:defRPr sz="1000">
                <a:solidFill>
                  <a:schemeClr val="dk2"/>
                </a:solidFill>
                <a:latin typeface="Playfair Display"/>
                <a:ea typeface="Playfair Display"/>
                <a:cs typeface="Playfair Display"/>
                <a:sym typeface="Playfair Display"/>
              </a:defRPr>
            </a:lvl3pPr>
            <a:lvl4pPr lvl="3" algn="r">
              <a:buNone/>
              <a:defRPr sz="1000">
                <a:solidFill>
                  <a:schemeClr val="dk2"/>
                </a:solidFill>
                <a:latin typeface="Playfair Display"/>
                <a:ea typeface="Playfair Display"/>
                <a:cs typeface="Playfair Display"/>
                <a:sym typeface="Playfair Display"/>
              </a:defRPr>
            </a:lvl4pPr>
            <a:lvl5pPr lvl="4" algn="r">
              <a:buNone/>
              <a:defRPr sz="1000">
                <a:solidFill>
                  <a:schemeClr val="dk2"/>
                </a:solidFill>
                <a:latin typeface="Playfair Display"/>
                <a:ea typeface="Playfair Display"/>
                <a:cs typeface="Playfair Display"/>
                <a:sym typeface="Playfair Display"/>
              </a:defRPr>
            </a:lvl5pPr>
            <a:lvl6pPr lvl="5" algn="r">
              <a:buNone/>
              <a:defRPr sz="1000">
                <a:solidFill>
                  <a:schemeClr val="dk2"/>
                </a:solidFill>
                <a:latin typeface="Playfair Display"/>
                <a:ea typeface="Playfair Display"/>
                <a:cs typeface="Playfair Display"/>
                <a:sym typeface="Playfair Display"/>
              </a:defRPr>
            </a:lvl6pPr>
            <a:lvl7pPr lvl="6" algn="r">
              <a:buNone/>
              <a:defRPr sz="1000">
                <a:solidFill>
                  <a:schemeClr val="dk2"/>
                </a:solidFill>
                <a:latin typeface="Playfair Display"/>
                <a:ea typeface="Playfair Display"/>
                <a:cs typeface="Playfair Display"/>
                <a:sym typeface="Playfair Display"/>
              </a:defRPr>
            </a:lvl7pPr>
            <a:lvl8pPr lvl="7" algn="r">
              <a:buNone/>
              <a:defRPr sz="1000">
                <a:solidFill>
                  <a:schemeClr val="dk2"/>
                </a:solidFill>
                <a:latin typeface="Playfair Display"/>
                <a:ea typeface="Playfair Display"/>
                <a:cs typeface="Playfair Display"/>
                <a:sym typeface="Playfair Display"/>
              </a:defRPr>
            </a:lvl8pPr>
            <a:lvl9pPr lvl="8" algn="r">
              <a:buNone/>
              <a:defRPr sz="1000">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www.google.com/search?q=https://www.airbnb.com/rooms/1382894725308960562%3Fadults%3D2%26check_in%3D2026-05-11%26check_out%3D2026-05-14%26children%3D2%26pets%3D1%26search_mode%3Dregular_search%26amenities%255B%255D%3D9%26amenities%255B%255D%3D33%26amenities%255B%255D%3D15%26source_impression_id%3Dp3_1768419811_P3csUMjlimoYxmug%26previous_page_section_name%3D1000%26federated_search_id%3D38ac425a-ad30-4bef-a8d8-fa1aa554820b" TargetMode="Externa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hyperlink" Target="https://www.britannica.com/topic/Google-Inc" TargetMode="External"/><Relationship Id="rId5" Type="http://schemas.openxmlformats.org/officeDocument/2006/relationships/hyperlink" Target="https://www.britannica.com/topic/Google-Inc" TargetMode="External"/><Relationship Id="rId6" Type="http://schemas.openxmlformats.org/officeDocument/2006/relationships/hyperlink" Target="https://about.google/company-info/"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www.britannica.com/topic/Google-Inc" TargetMode="External"/><Relationship Id="rId4" Type="http://schemas.openxmlformats.org/officeDocument/2006/relationships/hyperlink" Target="https://www.britannica.com/topic/Google-Inc" TargetMode="External"/><Relationship Id="rId5" Type="http://schemas.openxmlformats.org/officeDocument/2006/relationships/hyperlink" Target="https://about.google/company-info/" TargetMode="External"/><Relationship Id="rId6" Type="http://schemas.openxmlformats.org/officeDocument/2006/relationships/hyperlink" Target="https://www.britannica.com/topic/Google-Inc" TargetMode="External"/><Relationship Id="rId7" Type="http://schemas.openxmlformats.org/officeDocument/2006/relationships/hyperlink" Target="https://www.britannica.com/topic/Google-Inc" TargetMode="External"/><Relationship Id="rId8" Type="http://schemas.openxmlformats.org/officeDocument/2006/relationships/hyperlink" Target="https://about.google/company-info/"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hyperlink" Target="https://httpstat.us/404" TargetMode="External"/><Relationship Id="rId4" Type="http://schemas.openxmlformats.org/officeDocument/2006/relationships/hyperlink" Target="https://www.netflix.com/" TargetMode="External"/><Relationship Id="rId5" Type="http://schemas.openxmlformats.org/officeDocument/2006/relationships/hyperlink" Target="https://www.google.com/search?q=https%3A%2F%2Fwww.imdb.com%2Ftitle%2Ftt0111161%2F&amp;sca_esv=9687c9b822386596&amp;sxsrf=ANbL-n6fNEMjyWDB28WzHALILyo2yW-jRA%3A1770742069900&amp;source=hp&amp;ei=NWGLaYXXNLygnesPk7WjkQE&amp;iflsig=AFdpzrgAAAAAaYtvRZihw0IsYzJJoRcG6K9a9MSBsugk&amp;ved=0ahUKEwjFxcCgsM-SAxU8UGcHHZPaKBIQ4dUDCDI&amp;uact=5&amp;oq=https%3A%2F%2Fwww.imdb.com%2Ftitle%2Ftt0111161%2F&amp;gs_lp=Egdnd3Mtd2l6IiVodHRwczovL3d3dy5pbWRiLmNvbS90aXRsZS90dDAxMTExNjEvSKgIUABYAHAAeACQAQCYAa8BoAGvAaoBAzAuMbgBA8gBAPgBAvgBAZgCAKACAJgDAJIHAKAHWbIHALgHAMIHAMgHAIAIAA&amp;sclient=gws-wiz"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344250" y="1403850"/>
            <a:ext cx="8455500" cy="2146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sz="5244"/>
              <a:t>Weekly Training</a:t>
            </a:r>
            <a:r>
              <a:rPr lang="en"/>
              <a:t> </a:t>
            </a:r>
            <a:endParaRPr/>
          </a:p>
          <a:p>
            <a:pPr indent="0" lvl="0" marL="0" rtl="0" algn="ctr">
              <a:spcBef>
                <a:spcPts val="0"/>
              </a:spcBef>
              <a:spcAft>
                <a:spcPts val="0"/>
              </a:spcAft>
              <a:buNone/>
            </a:pPr>
            <a:r>
              <a:rPr lang="en" sz="6133"/>
              <a:t>Factual Accuracy</a:t>
            </a:r>
            <a:endParaRPr sz="6133"/>
          </a:p>
        </p:txBody>
      </p:sp>
      <p:sp>
        <p:nvSpPr>
          <p:cNvPr id="59" name="Google Shape;59;p13"/>
          <p:cNvSpPr txBox="1"/>
          <p:nvPr>
            <p:ph idx="1" type="subTitle"/>
          </p:nvPr>
        </p:nvSpPr>
        <p:spPr>
          <a:xfrm>
            <a:off x="344250" y="3550650"/>
            <a:ext cx="4910100" cy="577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Asha Rebellya Prince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1. Identify Objective vs Subjective Statements</a:t>
            </a:r>
            <a:endParaRPr/>
          </a:p>
          <a:p>
            <a:pPr indent="0" lvl="0" marL="0" rtl="0" algn="l">
              <a:spcBef>
                <a:spcPts val="1200"/>
              </a:spcBef>
              <a:spcAft>
                <a:spcPts val="0"/>
              </a:spcAft>
              <a:buNone/>
            </a:pPr>
            <a:r>
              <a:rPr lang="en"/>
              <a:t>2. Verify Objective Claims Accurately</a:t>
            </a:r>
            <a:endParaRPr/>
          </a:p>
          <a:p>
            <a:pPr indent="0" lvl="0" marL="0" rtl="0" algn="l">
              <a:spcBef>
                <a:spcPts val="1200"/>
              </a:spcBef>
              <a:spcAft>
                <a:spcPts val="0"/>
              </a:spcAft>
              <a:buNone/>
            </a:pPr>
            <a:r>
              <a:rPr lang="en"/>
              <a:t>3. Handle Edge Cases With Confidence</a:t>
            </a:r>
            <a:endParaRPr/>
          </a:p>
          <a:p>
            <a:pPr indent="0" lvl="0" marL="0" rtl="0" algn="l">
              <a:spcBef>
                <a:spcPts val="1200"/>
              </a:spcBef>
              <a:spcAft>
                <a:spcPts val="1200"/>
              </a:spcAft>
              <a:buClr>
                <a:schemeClr val="dk2"/>
              </a:buClr>
              <a:buSzPts val="1100"/>
              <a:buFont typeface="Arial"/>
              <a:buNone/>
            </a:pPr>
            <a:r>
              <a:rPr lang="en"/>
              <a:t>4</a:t>
            </a:r>
            <a:r>
              <a:rPr lang="en"/>
              <a:t>. Use the Justification Builder or Justification Template Correctly</a:t>
            </a:r>
            <a:endParaRPr/>
          </a:p>
        </p:txBody>
      </p:sp>
      <p:sp>
        <p:nvSpPr>
          <p:cNvPr id="65" name="Google Shape;65;p14"/>
          <p:cNvSpPr txBox="1"/>
          <p:nvPr>
            <p:ph type="title"/>
          </p:nvPr>
        </p:nvSpPr>
        <p:spPr>
          <a:xfrm>
            <a:off x="265500" y="1912650"/>
            <a:ext cx="4045200" cy="1318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Training Objectives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103944"/>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00"/>
              <a:t>What Is a Claim?</a:t>
            </a:r>
            <a:endParaRPr sz="2000"/>
          </a:p>
        </p:txBody>
      </p:sp>
      <p:sp>
        <p:nvSpPr>
          <p:cNvPr id="71" name="Google Shape;71;p15"/>
          <p:cNvSpPr txBox="1"/>
          <p:nvPr>
            <p:ph idx="1" type="body"/>
          </p:nvPr>
        </p:nvSpPr>
        <p:spPr>
          <a:xfrm>
            <a:off x="311700" y="661059"/>
            <a:ext cx="8520600" cy="858900"/>
          </a:xfrm>
          <a:prstGeom prst="rect">
            <a:avLst/>
          </a:prstGeom>
        </p:spPr>
        <p:txBody>
          <a:bodyPr anchorCtr="0" anchor="t" bIns="91425" lIns="91425" spcFirstLastPara="1" rIns="91425" wrap="square" tIns="91425">
            <a:normAutofit fontScale="77500"/>
          </a:bodyPr>
          <a:lstStyle/>
          <a:p>
            <a:pPr indent="0" lvl="0" marL="0" rtl="0" algn="l">
              <a:spcBef>
                <a:spcPts val="0"/>
              </a:spcBef>
              <a:spcAft>
                <a:spcPts val="1200"/>
              </a:spcAft>
              <a:buNone/>
            </a:pPr>
            <a:r>
              <a:rPr lang="en" sz="2388"/>
              <a:t>A claim is any statement in the response that can be checked for accuracy—it can be proven either true or false. You should only fact-check objective claims.</a:t>
            </a:r>
            <a:endParaRPr/>
          </a:p>
        </p:txBody>
      </p:sp>
      <p:pic>
        <p:nvPicPr>
          <p:cNvPr id="72" name="Google Shape;72;p15"/>
          <p:cNvPicPr preferRelativeResize="0"/>
          <p:nvPr/>
        </p:nvPicPr>
        <p:blipFill>
          <a:blip r:embed="rId3">
            <a:alphaModFix/>
          </a:blip>
          <a:stretch>
            <a:fillRect/>
          </a:stretch>
        </p:blipFill>
        <p:spPr>
          <a:xfrm>
            <a:off x="6838875" y="3305575"/>
            <a:ext cx="2076525" cy="1609324"/>
          </a:xfrm>
          <a:prstGeom prst="rect">
            <a:avLst/>
          </a:prstGeom>
          <a:noFill/>
          <a:ln>
            <a:noFill/>
          </a:ln>
        </p:spPr>
      </p:pic>
      <p:sp>
        <p:nvSpPr>
          <p:cNvPr id="73" name="Google Shape;73;p15"/>
          <p:cNvSpPr txBox="1"/>
          <p:nvPr>
            <p:ph type="title"/>
          </p:nvPr>
        </p:nvSpPr>
        <p:spPr>
          <a:xfrm>
            <a:off x="395884" y="1519942"/>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00"/>
              <a:t>Objective</a:t>
            </a:r>
            <a:r>
              <a:rPr lang="en" sz="2100"/>
              <a:t> vs Subjective </a:t>
            </a:r>
            <a:r>
              <a:rPr lang="en" sz="2100"/>
              <a:t>Claims</a:t>
            </a:r>
            <a:endParaRPr sz="2100"/>
          </a:p>
        </p:txBody>
      </p:sp>
      <p:sp>
        <p:nvSpPr>
          <p:cNvPr id="74" name="Google Shape;74;p15"/>
          <p:cNvSpPr txBox="1"/>
          <p:nvPr>
            <p:ph idx="1" type="body"/>
          </p:nvPr>
        </p:nvSpPr>
        <p:spPr>
          <a:xfrm>
            <a:off x="395875" y="2024650"/>
            <a:ext cx="8520600" cy="3219600"/>
          </a:xfrm>
          <a:prstGeom prst="rect">
            <a:avLst/>
          </a:prstGeom>
        </p:spPr>
        <p:txBody>
          <a:bodyPr anchorCtr="0" anchor="t" bIns="91425" lIns="91425" spcFirstLastPara="1" rIns="91425" wrap="square" tIns="91425">
            <a:noAutofit/>
          </a:bodyPr>
          <a:lstStyle/>
          <a:p>
            <a:pPr indent="-311150" lvl="0" marL="457200" rtl="0" algn="l">
              <a:spcBef>
                <a:spcPts val="1200"/>
              </a:spcBef>
              <a:spcAft>
                <a:spcPts val="0"/>
              </a:spcAft>
              <a:buSzPts val="1300"/>
              <a:buFont typeface="Arial"/>
              <a:buChar char="●"/>
            </a:pPr>
            <a:r>
              <a:rPr b="1" lang="en" sz="1300">
                <a:latin typeface="Arial"/>
                <a:ea typeface="Arial"/>
                <a:cs typeface="Arial"/>
                <a:sym typeface="Arial"/>
              </a:rPr>
              <a:t>Objective claims</a:t>
            </a:r>
            <a:br>
              <a:rPr b="1" lang="en" sz="1300">
                <a:latin typeface="Arial"/>
                <a:ea typeface="Arial"/>
                <a:cs typeface="Arial"/>
                <a:sym typeface="Arial"/>
              </a:rPr>
            </a:br>
            <a:endParaRPr b="1" sz="1300">
              <a:latin typeface="Arial"/>
              <a:ea typeface="Arial"/>
              <a:cs typeface="Arial"/>
              <a:sym typeface="Arial"/>
            </a:endParaRPr>
          </a:p>
          <a:p>
            <a:pPr indent="-311150" lvl="1" marL="914400" rtl="0" algn="l">
              <a:spcBef>
                <a:spcPts val="0"/>
              </a:spcBef>
              <a:spcAft>
                <a:spcPts val="0"/>
              </a:spcAft>
              <a:buSzPts val="1300"/>
              <a:buFont typeface="Arial"/>
              <a:buChar char="○"/>
            </a:pPr>
            <a:r>
              <a:rPr lang="en" sz="1300">
                <a:latin typeface="Arial"/>
                <a:ea typeface="Arial"/>
                <a:cs typeface="Arial"/>
                <a:sym typeface="Arial"/>
              </a:rPr>
              <a:t>Verifiable with evidence</a:t>
            </a:r>
            <a:br>
              <a:rPr lang="en" sz="1300">
                <a:latin typeface="Arial"/>
                <a:ea typeface="Arial"/>
                <a:cs typeface="Arial"/>
                <a:sym typeface="Arial"/>
              </a:rPr>
            </a:br>
            <a:endParaRPr sz="1300">
              <a:latin typeface="Arial"/>
              <a:ea typeface="Arial"/>
              <a:cs typeface="Arial"/>
              <a:sym typeface="Arial"/>
            </a:endParaRPr>
          </a:p>
          <a:p>
            <a:pPr indent="-311150" lvl="1" marL="914400" rtl="0" algn="l">
              <a:spcBef>
                <a:spcPts val="0"/>
              </a:spcBef>
              <a:spcAft>
                <a:spcPts val="0"/>
              </a:spcAft>
              <a:buSzPts val="1300"/>
              <a:buFont typeface="Arial"/>
              <a:buChar char="○"/>
            </a:pPr>
            <a:r>
              <a:rPr lang="en" sz="1300">
                <a:latin typeface="Arial"/>
                <a:ea typeface="Arial"/>
                <a:cs typeface="Arial"/>
                <a:sym typeface="Arial"/>
              </a:rPr>
              <a:t>Can be proven true or false</a:t>
            </a:r>
            <a:br>
              <a:rPr lang="en" sz="1300">
                <a:latin typeface="Arial"/>
                <a:ea typeface="Arial"/>
                <a:cs typeface="Arial"/>
                <a:sym typeface="Arial"/>
              </a:rPr>
            </a:b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b="1" lang="en" sz="1300">
                <a:latin typeface="Arial"/>
                <a:ea typeface="Arial"/>
                <a:cs typeface="Arial"/>
                <a:sym typeface="Arial"/>
              </a:rPr>
              <a:t>Subjective claims</a:t>
            </a:r>
            <a:br>
              <a:rPr b="1" lang="en" sz="1300">
                <a:latin typeface="Arial"/>
                <a:ea typeface="Arial"/>
                <a:cs typeface="Arial"/>
                <a:sym typeface="Arial"/>
              </a:rPr>
            </a:br>
            <a:endParaRPr b="1" sz="1300">
              <a:latin typeface="Arial"/>
              <a:ea typeface="Arial"/>
              <a:cs typeface="Arial"/>
              <a:sym typeface="Arial"/>
            </a:endParaRPr>
          </a:p>
          <a:p>
            <a:pPr indent="-311150" lvl="1" marL="914400" rtl="0" algn="l">
              <a:spcBef>
                <a:spcPts val="0"/>
              </a:spcBef>
              <a:spcAft>
                <a:spcPts val="0"/>
              </a:spcAft>
              <a:buSzPts val="1300"/>
              <a:buFont typeface="Arial"/>
              <a:buChar char="○"/>
            </a:pPr>
            <a:r>
              <a:rPr lang="en" sz="1300">
                <a:latin typeface="Arial"/>
                <a:ea typeface="Arial"/>
                <a:cs typeface="Arial"/>
                <a:sym typeface="Arial"/>
              </a:rPr>
              <a:t>Opinions, beliefs, value judgments</a:t>
            </a:r>
            <a:br>
              <a:rPr lang="en" sz="1300">
                <a:latin typeface="Arial"/>
                <a:ea typeface="Arial"/>
                <a:cs typeface="Arial"/>
                <a:sym typeface="Arial"/>
              </a:rPr>
            </a:br>
            <a:endParaRPr sz="1300">
              <a:latin typeface="Arial"/>
              <a:ea typeface="Arial"/>
              <a:cs typeface="Arial"/>
              <a:sym typeface="Arial"/>
            </a:endParaRPr>
          </a:p>
          <a:p>
            <a:pPr indent="-311150" lvl="1" marL="914400" rtl="0" algn="l">
              <a:spcBef>
                <a:spcPts val="0"/>
              </a:spcBef>
              <a:spcAft>
                <a:spcPts val="0"/>
              </a:spcAft>
              <a:buSzPts val="1300"/>
              <a:buFont typeface="Arial"/>
              <a:buChar char="○"/>
            </a:pPr>
            <a:r>
              <a:rPr lang="en" sz="1300">
                <a:latin typeface="Arial"/>
                <a:ea typeface="Arial"/>
                <a:cs typeface="Arial"/>
                <a:sym typeface="Arial"/>
              </a:rPr>
              <a:t>Cannot be proven true or false</a:t>
            </a:r>
            <a:br>
              <a:rPr lang="en" sz="1300">
                <a:latin typeface="Arial"/>
                <a:ea typeface="Arial"/>
                <a:cs typeface="Arial"/>
                <a:sym typeface="Arial"/>
              </a:rPr>
            </a:br>
            <a:endParaRPr sz="1300">
              <a:latin typeface="Arial"/>
              <a:ea typeface="Arial"/>
              <a:cs typeface="Arial"/>
              <a:sym typeface="Arial"/>
            </a:endParaRPr>
          </a:p>
          <a:p>
            <a:pPr indent="-311150" lvl="1" marL="914400" rtl="0" algn="l">
              <a:spcBef>
                <a:spcPts val="0"/>
              </a:spcBef>
              <a:spcAft>
                <a:spcPts val="0"/>
              </a:spcAft>
              <a:buSzPts val="1300"/>
              <a:buFont typeface="Arial"/>
              <a:buChar char="○"/>
            </a:pPr>
            <a:r>
              <a:rPr lang="en" sz="1300">
                <a:latin typeface="Arial"/>
                <a:ea typeface="Arial"/>
                <a:cs typeface="Arial"/>
                <a:sym typeface="Arial"/>
              </a:rPr>
              <a:t>Ignored for Factual Accuracy</a:t>
            </a:r>
            <a:endParaRPr sz="2588"/>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graphicFrame>
        <p:nvGraphicFramePr>
          <p:cNvPr id="79" name="Google Shape;79;p16"/>
          <p:cNvGraphicFramePr/>
          <p:nvPr/>
        </p:nvGraphicFramePr>
        <p:xfrm>
          <a:off x="2676381" y="386769"/>
          <a:ext cx="3000000" cy="3000000"/>
        </p:xfrm>
        <a:graphic>
          <a:graphicData uri="http://schemas.openxmlformats.org/drawingml/2006/table">
            <a:tbl>
              <a:tblPr>
                <a:noFill/>
                <a:tableStyleId>{61091187-3D30-4718-AFDF-F101C7E348BA}</a:tableStyleId>
              </a:tblPr>
              <a:tblGrid>
                <a:gridCol w="1955800"/>
                <a:gridCol w="3633800"/>
                <a:gridCol w="837075"/>
              </a:tblGrid>
              <a:tr h="574925">
                <a:tc>
                  <a:txBody>
                    <a:bodyPr/>
                    <a:lstStyle/>
                    <a:p>
                      <a:pPr indent="0" lvl="0" marL="0" rtl="0" algn="ctr">
                        <a:lnSpc>
                          <a:spcPct val="115000"/>
                        </a:lnSpc>
                        <a:spcBef>
                          <a:spcPts val="0"/>
                        </a:spcBef>
                        <a:spcAft>
                          <a:spcPts val="0"/>
                        </a:spcAft>
                        <a:buNone/>
                      </a:pPr>
                      <a:r>
                        <a:rPr b="1" lang="en" sz="1100"/>
                        <a:t>Scenario</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Example Statement</a:t>
                      </a:r>
                      <a:endParaRPr b="1" sz="1100"/>
                    </a:p>
                  </a:txBody>
                  <a:tcPr marT="91425" marB="91425" marR="91425" marL="91425"/>
                </a:tc>
                <a:tc>
                  <a:txBody>
                    <a:bodyPr/>
                    <a:lstStyle/>
                    <a:p>
                      <a:pPr indent="0" lvl="0" marL="0" rtl="0" algn="l">
                        <a:lnSpc>
                          <a:spcPct val="115000"/>
                        </a:lnSpc>
                        <a:spcBef>
                          <a:spcPts val="0"/>
                        </a:spcBef>
                        <a:spcAft>
                          <a:spcPts val="0"/>
                        </a:spcAft>
                        <a:buNone/>
                      </a:pPr>
                      <a:r>
                        <a:rPr b="1" lang="en" sz="1100"/>
                        <a:t>Verify?</a:t>
                      </a:r>
                      <a:endParaRPr b="1" sz="1100"/>
                    </a:p>
                  </a:txBody>
                  <a:tcPr marT="91425" marB="91425" marR="91425" marL="91425"/>
                </a:tc>
              </a:tr>
              <a:tr h="400075">
                <a:tc>
                  <a:txBody>
                    <a:bodyPr/>
                    <a:lstStyle/>
                    <a:p>
                      <a:pPr indent="0" lvl="0" marL="0" rtl="0" algn="l">
                        <a:spcBef>
                          <a:spcPts val="0"/>
                        </a:spcBef>
                        <a:spcAft>
                          <a:spcPts val="0"/>
                        </a:spcAft>
                        <a:buNone/>
                      </a:pPr>
                      <a:r>
                        <a:rPr b="1" lang="en" sz="1100"/>
                        <a:t>Fact</a:t>
                      </a:r>
                      <a:endParaRPr b="1" sz="1100"/>
                    </a:p>
                  </a:txBody>
                  <a:tcPr marT="91425" marB="91425" marR="91425" marL="91425"/>
                </a:tc>
                <a:tc>
                  <a:txBody>
                    <a:bodyPr/>
                    <a:lstStyle/>
                    <a:p>
                      <a:pPr indent="0" lvl="0" marL="0" rtl="0" algn="l">
                        <a:spcBef>
                          <a:spcPts val="0"/>
                        </a:spcBef>
                        <a:spcAft>
                          <a:spcPts val="0"/>
                        </a:spcAft>
                        <a:buNone/>
                      </a:pPr>
                      <a:r>
                        <a:rPr lang="en"/>
                        <a:t>“Zoom was founded in 2011.”</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r>
              <a:tr h="613750">
                <a:tc>
                  <a:txBody>
                    <a:bodyPr/>
                    <a:lstStyle/>
                    <a:p>
                      <a:pPr indent="0" lvl="0" marL="0" rtl="0" algn="l">
                        <a:spcBef>
                          <a:spcPts val="0"/>
                        </a:spcBef>
                        <a:spcAft>
                          <a:spcPts val="0"/>
                        </a:spcAft>
                        <a:buNone/>
                      </a:pPr>
                      <a:r>
                        <a:rPr b="1" lang="en" sz="1100"/>
                        <a:t>Date</a:t>
                      </a:r>
                      <a:endParaRPr b="1" sz="1100"/>
                    </a:p>
                  </a:txBody>
                  <a:tcPr marT="91425" marB="91425" marR="91425" marL="91425"/>
                </a:tc>
                <a:tc>
                  <a:txBody>
                    <a:bodyPr/>
                    <a:lstStyle/>
                    <a:p>
                      <a:pPr indent="0" lvl="0" marL="0" rtl="0" algn="l">
                        <a:spcBef>
                          <a:spcPts val="0"/>
                        </a:spcBef>
                        <a:spcAft>
                          <a:spcPts val="0"/>
                        </a:spcAft>
                        <a:buNone/>
                      </a:pPr>
                      <a:r>
                        <a:rPr lang="en"/>
                        <a:t>“The policy was updated on March 12, 2024.”</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r>
              <a:tr h="613750">
                <a:tc>
                  <a:txBody>
                    <a:bodyPr/>
                    <a:lstStyle/>
                    <a:p>
                      <a:pPr indent="0" lvl="0" marL="0" rtl="0" algn="l">
                        <a:spcBef>
                          <a:spcPts val="0"/>
                        </a:spcBef>
                        <a:spcAft>
                          <a:spcPts val="0"/>
                        </a:spcAft>
                        <a:buNone/>
                      </a:pPr>
                      <a:r>
                        <a:rPr b="1" lang="en" sz="1100"/>
                        <a:t>Location</a:t>
                      </a:r>
                      <a:endParaRPr b="1" sz="1100"/>
                    </a:p>
                  </a:txBody>
                  <a:tcPr marT="91425" marB="91425" marR="91425" marL="91425"/>
                </a:tc>
                <a:tc>
                  <a:txBody>
                    <a:bodyPr/>
                    <a:lstStyle/>
                    <a:p>
                      <a:pPr indent="0" lvl="0" marL="0" rtl="0" algn="l">
                        <a:spcBef>
                          <a:spcPts val="0"/>
                        </a:spcBef>
                        <a:spcAft>
                          <a:spcPts val="0"/>
                        </a:spcAft>
                        <a:buNone/>
                      </a:pPr>
                      <a:r>
                        <a:rPr lang="en"/>
                        <a:t>“The company headquarters is in Toronto.”</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r>
              <a:tr h="613750">
                <a:tc>
                  <a:txBody>
                    <a:bodyPr/>
                    <a:lstStyle/>
                    <a:p>
                      <a:pPr indent="0" lvl="0" marL="0" rtl="0" algn="l">
                        <a:spcBef>
                          <a:spcPts val="0"/>
                        </a:spcBef>
                        <a:spcAft>
                          <a:spcPts val="0"/>
                        </a:spcAft>
                        <a:buNone/>
                      </a:pPr>
                      <a:r>
                        <a:rPr b="1" lang="en" sz="1100"/>
                        <a:t>Action Taken</a:t>
                      </a:r>
                      <a:endParaRPr b="1" sz="1100"/>
                    </a:p>
                  </a:txBody>
                  <a:tcPr marT="91425" marB="91425" marR="91425" marL="91425"/>
                </a:tc>
                <a:tc>
                  <a:txBody>
                    <a:bodyPr/>
                    <a:lstStyle/>
                    <a:p>
                      <a:pPr indent="0" lvl="0" marL="0" rtl="0" algn="l">
                        <a:spcBef>
                          <a:spcPts val="0"/>
                        </a:spcBef>
                        <a:spcAft>
                          <a:spcPts val="0"/>
                        </a:spcAft>
                        <a:buNone/>
                      </a:pPr>
                      <a:r>
                        <a:rPr lang="en"/>
                        <a:t>“The product was added to the cart.”</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r>
              <a:tr h="613750">
                <a:tc>
                  <a:txBody>
                    <a:bodyPr/>
                    <a:lstStyle/>
                    <a:p>
                      <a:pPr indent="0" lvl="0" marL="0" rtl="0" algn="l">
                        <a:spcBef>
                          <a:spcPts val="0"/>
                        </a:spcBef>
                        <a:spcAft>
                          <a:spcPts val="0"/>
                        </a:spcAft>
                        <a:buNone/>
                      </a:pPr>
                      <a:r>
                        <a:rPr b="1" lang="en" sz="1100"/>
                        <a:t>Quantitative Information</a:t>
                      </a:r>
                      <a:endParaRPr b="1" sz="1100"/>
                    </a:p>
                  </a:txBody>
                  <a:tcPr marT="91425" marB="91425" marR="91425" marL="91425"/>
                </a:tc>
                <a:tc>
                  <a:txBody>
                    <a:bodyPr/>
                    <a:lstStyle/>
                    <a:p>
                      <a:pPr indent="0" lvl="0" marL="0" rtl="0" algn="l">
                        <a:spcBef>
                          <a:spcPts val="0"/>
                        </a:spcBef>
                        <a:spcAft>
                          <a:spcPts val="0"/>
                        </a:spcAft>
                        <a:buNone/>
                      </a:pPr>
                      <a:r>
                        <a:rPr lang="en"/>
                        <a:t>“The survey included 1,200 participants.”</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r>
              <a:tr h="613750">
                <a:tc>
                  <a:txBody>
                    <a:bodyPr/>
                    <a:lstStyle/>
                    <a:p>
                      <a:pPr indent="0" lvl="0" marL="0" rtl="0" algn="l">
                        <a:spcBef>
                          <a:spcPts val="0"/>
                        </a:spcBef>
                        <a:spcAft>
                          <a:spcPts val="0"/>
                        </a:spcAft>
                        <a:buNone/>
                      </a:pPr>
                      <a:r>
                        <a:rPr b="1" lang="en" sz="1100"/>
                        <a:t>Cause-and-Effect</a:t>
                      </a:r>
                      <a:endParaRPr b="1" sz="1100"/>
                    </a:p>
                  </a:txBody>
                  <a:tcPr marT="91425" marB="91425" marR="91425" marL="91425"/>
                </a:tc>
                <a:tc>
                  <a:txBody>
                    <a:bodyPr/>
                    <a:lstStyle/>
                    <a:p>
                      <a:pPr indent="0" lvl="0" marL="0" rtl="0" algn="l">
                        <a:spcBef>
                          <a:spcPts val="0"/>
                        </a:spcBef>
                        <a:spcAft>
                          <a:spcPts val="0"/>
                        </a:spcAft>
                        <a:buNone/>
                      </a:pPr>
                      <a:r>
                        <a:rPr lang="en"/>
                        <a:t>“The update reduced application errors.”</a:t>
                      </a:r>
                      <a:endParaRPr/>
                    </a:p>
                  </a:txBody>
                  <a:tcPr marT="91425" marB="91425" marR="91425" marL="91425"/>
                </a:tc>
                <a:tc>
                  <a:txBody>
                    <a:bodyPr/>
                    <a:lstStyle/>
                    <a:p>
                      <a:pPr indent="0" lvl="0" marL="0" rtl="0" algn="l">
                        <a:spcBef>
                          <a:spcPts val="0"/>
                        </a:spcBef>
                        <a:spcAft>
                          <a:spcPts val="0"/>
                        </a:spcAft>
                        <a:buNone/>
                      </a:pPr>
                      <a:r>
                        <a:rPr lang="en"/>
                        <a:t>Yes</a:t>
                      </a:r>
                      <a:endParaRPr/>
                    </a:p>
                  </a:txBody>
                  <a:tcPr marT="91425" marB="91425" marR="91425" marL="91425"/>
                </a:tc>
              </a:tr>
              <a:tr h="400075">
                <a:tc>
                  <a:txBody>
                    <a:bodyPr/>
                    <a:lstStyle/>
                    <a:p>
                      <a:pPr indent="0" lvl="0" marL="0" rtl="0" algn="l">
                        <a:spcBef>
                          <a:spcPts val="0"/>
                        </a:spcBef>
                        <a:spcAft>
                          <a:spcPts val="0"/>
                        </a:spcAft>
                        <a:buNone/>
                      </a:pPr>
                      <a:r>
                        <a:rPr b="1" lang="en" sz="1100"/>
                        <a:t>Subjective Only</a:t>
                      </a:r>
                      <a:endParaRPr b="1" sz="1100"/>
                    </a:p>
                  </a:txBody>
                  <a:tcPr marT="91425" marB="91425" marR="91425" marL="91425"/>
                </a:tc>
                <a:tc>
                  <a:txBody>
                    <a:bodyPr/>
                    <a:lstStyle/>
                    <a:p>
                      <a:pPr indent="0" lvl="0" marL="0" rtl="0" algn="l">
                        <a:spcBef>
                          <a:spcPts val="0"/>
                        </a:spcBef>
                        <a:spcAft>
                          <a:spcPts val="0"/>
                        </a:spcAft>
                        <a:buNone/>
                      </a:pPr>
                      <a:r>
                        <a:rPr lang="en"/>
                        <a:t>“The interface looks bad.”</a:t>
                      </a:r>
                      <a:endParaRPr/>
                    </a:p>
                  </a:txBody>
                  <a:tcPr marT="91425" marB="91425" marR="91425" marL="91425"/>
                </a:tc>
                <a:tc>
                  <a:txBody>
                    <a:bodyPr/>
                    <a:lstStyle/>
                    <a:p>
                      <a:pPr indent="0" lvl="0" marL="0" rtl="0" algn="l">
                        <a:spcBef>
                          <a:spcPts val="0"/>
                        </a:spcBef>
                        <a:spcAft>
                          <a:spcPts val="0"/>
                        </a:spcAft>
                        <a:buNone/>
                      </a:pPr>
                      <a:r>
                        <a:rPr lang="en"/>
                        <a:t>No</a:t>
                      </a:r>
                      <a:endParaRPr/>
                    </a:p>
                  </a:txBody>
                  <a:tcPr marT="91425" marB="91425" marR="91425" marL="91425"/>
                </a:tc>
              </a:tr>
              <a:tr h="61375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61375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80" name="Google Shape;80;p16"/>
          <p:cNvSpPr txBox="1"/>
          <p:nvPr/>
        </p:nvSpPr>
        <p:spPr>
          <a:xfrm>
            <a:off x="714078" y="504398"/>
            <a:ext cx="1908000" cy="4298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800"/>
              </a:spcBef>
              <a:spcAft>
                <a:spcPts val="400"/>
              </a:spcAft>
              <a:buNone/>
            </a:pPr>
            <a:r>
              <a:rPr b="1" lang="en" sz="1900">
                <a:highlight>
                  <a:srgbClr val="F6B26B"/>
                </a:highlight>
              </a:rPr>
              <a:t>How to Decide What Needs Verification – Examples</a:t>
            </a:r>
            <a:endParaRPr b="1" sz="1900">
              <a:highlight>
                <a:srgbClr val="F6B26B"/>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cxnSp>
        <p:nvCxnSpPr>
          <p:cNvPr id="85" name="Google Shape;85;p17"/>
          <p:cNvCxnSpPr/>
          <p:nvPr/>
        </p:nvCxnSpPr>
        <p:spPr>
          <a:xfrm>
            <a:off x="418675" y="1811883"/>
            <a:ext cx="270900" cy="0"/>
          </a:xfrm>
          <a:prstGeom prst="straightConnector1">
            <a:avLst/>
          </a:prstGeom>
          <a:noFill/>
          <a:ln cap="flat" cmpd="sng" w="9525">
            <a:solidFill>
              <a:schemeClr val="lt2"/>
            </a:solidFill>
            <a:prstDash val="solid"/>
            <a:round/>
            <a:headEnd len="sm" w="sm" type="none"/>
            <a:tailEnd len="sm" w="sm" type="none"/>
          </a:ln>
        </p:spPr>
      </p:cxnSp>
      <p:sp>
        <p:nvSpPr>
          <p:cNvPr id="86" name="Google Shape;86;p17"/>
          <p:cNvSpPr txBox="1"/>
          <p:nvPr>
            <p:ph idx="4294967295" type="body"/>
          </p:nvPr>
        </p:nvSpPr>
        <p:spPr>
          <a:xfrm>
            <a:off x="386850" y="628575"/>
            <a:ext cx="8370300" cy="42345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2"/>
              </a:buClr>
              <a:buSzPts val="1100"/>
              <a:buFont typeface="Arial"/>
              <a:buNone/>
            </a:pPr>
            <a:r>
              <a:rPr b="1" lang="en" sz="1500">
                <a:latin typeface="Arial"/>
                <a:ea typeface="Arial"/>
                <a:cs typeface="Arial"/>
                <a:sym typeface="Arial"/>
              </a:rPr>
              <a:t>“The Android operating system was released in 2008.” </a:t>
            </a:r>
            <a:r>
              <a:rPr b="1" lang="en" sz="1400">
                <a:highlight>
                  <a:srgbClr val="B6D7A8"/>
                </a:highlight>
                <a:latin typeface="Arial"/>
                <a:ea typeface="Arial"/>
                <a:cs typeface="Arial"/>
                <a:sym typeface="Arial"/>
              </a:rPr>
              <a:t>Objective</a:t>
            </a:r>
            <a:r>
              <a:rPr lang="en" sz="1400">
                <a:highlight>
                  <a:srgbClr val="B6D7A8"/>
                </a:highlight>
                <a:latin typeface="Arial"/>
                <a:ea typeface="Arial"/>
                <a:cs typeface="Arial"/>
                <a:sym typeface="Arial"/>
              </a:rPr>
              <a:t> – Verifiable release year</a:t>
            </a:r>
            <a:br>
              <a:rPr lang="en" sz="1300">
                <a:highlight>
                  <a:srgbClr val="B6D7A8"/>
                </a:highlight>
                <a:latin typeface="Arial"/>
                <a:ea typeface="Arial"/>
                <a:cs typeface="Arial"/>
                <a:sym typeface="Arial"/>
              </a:rPr>
            </a:br>
            <a:endParaRPr sz="1300">
              <a:highlight>
                <a:srgbClr val="B6D7A8"/>
              </a:highlight>
              <a:latin typeface="Arial"/>
              <a:ea typeface="Arial"/>
              <a:cs typeface="Arial"/>
              <a:sym typeface="Arial"/>
            </a:endParaRPr>
          </a:p>
          <a:p>
            <a:pPr indent="0" lvl="0" marL="0" rtl="0" algn="l">
              <a:spcBef>
                <a:spcPts val="1200"/>
              </a:spcBef>
              <a:spcAft>
                <a:spcPts val="0"/>
              </a:spcAft>
              <a:buClr>
                <a:schemeClr val="dk2"/>
              </a:buClr>
              <a:buSzPts val="1100"/>
              <a:buFont typeface="Arial"/>
              <a:buNone/>
            </a:pPr>
            <a:r>
              <a:rPr b="1" lang="en" sz="1500">
                <a:latin typeface="Arial"/>
                <a:ea typeface="Arial"/>
                <a:cs typeface="Arial"/>
                <a:sym typeface="Arial"/>
              </a:rPr>
              <a:t>“Android phones are better than iPhones.” </a:t>
            </a:r>
            <a:r>
              <a:rPr b="1" lang="en" sz="1400">
                <a:highlight>
                  <a:srgbClr val="B6D7A8"/>
                </a:highlight>
                <a:latin typeface="Arial"/>
                <a:ea typeface="Arial"/>
                <a:cs typeface="Arial"/>
                <a:sym typeface="Arial"/>
              </a:rPr>
              <a:t>Subjective</a:t>
            </a:r>
            <a:r>
              <a:rPr lang="en" sz="1400">
                <a:highlight>
                  <a:srgbClr val="B6D7A8"/>
                </a:highlight>
                <a:latin typeface="Arial"/>
                <a:ea typeface="Arial"/>
                <a:cs typeface="Arial"/>
                <a:sym typeface="Arial"/>
              </a:rPr>
              <a:t> – Opinion/value judgment</a:t>
            </a:r>
            <a:br>
              <a:rPr lang="en" sz="1100">
                <a:latin typeface="Arial"/>
                <a:ea typeface="Arial"/>
                <a:cs typeface="Arial"/>
                <a:sym typeface="Arial"/>
              </a:rPr>
            </a:br>
            <a:endParaRPr sz="1100">
              <a:latin typeface="Arial"/>
              <a:ea typeface="Arial"/>
              <a:cs typeface="Arial"/>
              <a:sym typeface="Arial"/>
            </a:endParaRPr>
          </a:p>
          <a:p>
            <a:pPr indent="0" lvl="0" marL="0" rtl="0" algn="l">
              <a:spcBef>
                <a:spcPts val="1200"/>
              </a:spcBef>
              <a:spcAft>
                <a:spcPts val="0"/>
              </a:spcAft>
              <a:buClr>
                <a:schemeClr val="dk2"/>
              </a:buClr>
              <a:buSzPts val="1100"/>
              <a:buFont typeface="Arial"/>
              <a:buNone/>
            </a:pPr>
            <a:r>
              <a:rPr b="1" lang="en" sz="1500">
                <a:latin typeface="Arial"/>
                <a:ea typeface="Arial"/>
                <a:cs typeface="Arial"/>
                <a:sym typeface="Arial"/>
              </a:rPr>
              <a:t>“The report was submitted on March 12, 2024.” </a:t>
            </a:r>
            <a:r>
              <a:rPr b="1" lang="en" sz="1400">
                <a:highlight>
                  <a:srgbClr val="B6D7A8"/>
                </a:highlight>
                <a:latin typeface="Arial"/>
                <a:ea typeface="Arial"/>
                <a:cs typeface="Arial"/>
                <a:sym typeface="Arial"/>
              </a:rPr>
              <a:t>Objective</a:t>
            </a:r>
            <a:r>
              <a:rPr lang="en" sz="1400">
                <a:highlight>
                  <a:srgbClr val="B6D7A8"/>
                </a:highlight>
                <a:latin typeface="Arial"/>
                <a:ea typeface="Arial"/>
                <a:cs typeface="Arial"/>
                <a:sym typeface="Arial"/>
              </a:rPr>
              <a:t> – Verifiable date</a:t>
            </a:r>
            <a:br>
              <a:rPr lang="en" sz="1100">
                <a:latin typeface="Arial"/>
                <a:ea typeface="Arial"/>
                <a:cs typeface="Arial"/>
                <a:sym typeface="Arial"/>
              </a:rPr>
            </a:br>
            <a:endParaRPr sz="1100">
              <a:latin typeface="Arial"/>
              <a:ea typeface="Arial"/>
              <a:cs typeface="Arial"/>
              <a:sym typeface="Arial"/>
            </a:endParaRPr>
          </a:p>
          <a:p>
            <a:pPr indent="0" lvl="0" marL="0" rtl="0" algn="l">
              <a:spcBef>
                <a:spcPts val="1200"/>
              </a:spcBef>
              <a:spcAft>
                <a:spcPts val="0"/>
              </a:spcAft>
              <a:buClr>
                <a:schemeClr val="dk2"/>
              </a:buClr>
              <a:buSzPts val="1100"/>
              <a:buFont typeface="Arial"/>
              <a:buNone/>
            </a:pPr>
            <a:r>
              <a:rPr b="1" lang="en" sz="1500">
                <a:latin typeface="Arial"/>
                <a:ea typeface="Arial"/>
                <a:cs typeface="Arial"/>
                <a:sym typeface="Arial"/>
              </a:rPr>
              <a:t>“This report is extremely thorough.” </a:t>
            </a:r>
            <a:r>
              <a:rPr b="1" lang="en" sz="1400">
                <a:highlight>
                  <a:srgbClr val="B6D7A8"/>
                </a:highlight>
                <a:latin typeface="Arial"/>
                <a:ea typeface="Arial"/>
                <a:cs typeface="Arial"/>
                <a:sym typeface="Arial"/>
              </a:rPr>
              <a:t>Subjective</a:t>
            </a:r>
            <a:r>
              <a:rPr lang="en" sz="1400">
                <a:highlight>
                  <a:srgbClr val="B6D7A8"/>
                </a:highlight>
                <a:latin typeface="Arial"/>
                <a:ea typeface="Arial"/>
                <a:cs typeface="Arial"/>
                <a:sym typeface="Arial"/>
              </a:rPr>
              <a:t> – Personal judgment</a:t>
            </a:r>
            <a:br>
              <a:rPr lang="en" sz="1400">
                <a:highlight>
                  <a:srgbClr val="B6D7A8"/>
                </a:highlight>
                <a:latin typeface="Arial"/>
                <a:ea typeface="Arial"/>
                <a:cs typeface="Arial"/>
                <a:sym typeface="Arial"/>
              </a:rPr>
            </a:br>
            <a:endParaRPr sz="1400">
              <a:highlight>
                <a:srgbClr val="B6D7A8"/>
              </a:highlight>
              <a:latin typeface="Arial"/>
              <a:ea typeface="Arial"/>
              <a:cs typeface="Arial"/>
              <a:sym typeface="Arial"/>
            </a:endParaRPr>
          </a:p>
          <a:p>
            <a:pPr indent="0" lvl="0" marL="0" rtl="0" algn="l">
              <a:spcBef>
                <a:spcPts val="1200"/>
              </a:spcBef>
              <a:spcAft>
                <a:spcPts val="0"/>
              </a:spcAft>
              <a:buClr>
                <a:schemeClr val="dk2"/>
              </a:buClr>
              <a:buSzPts val="1100"/>
              <a:buFont typeface="Arial"/>
              <a:buNone/>
            </a:pPr>
            <a:r>
              <a:rPr b="1" lang="en" sz="1500">
                <a:latin typeface="Arial"/>
                <a:ea typeface="Arial"/>
                <a:cs typeface="Arial"/>
                <a:sym typeface="Arial"/>
              </a:rPr>
              <a:t>“The app crashed after the update.” </a:t>
            </a:r>
            <a:r>
              <a:rPr b="1" lang="en" sz="1400">
                <a:highlight>
                  <a:srgbClr val="B6D7A8"/>
                </a:highlight>
                <a:latin typeface="Arial"/>
                <a:ea typeface="Arial"/>
                <a:cs typeface="Arial"/>
                <a:sym typeface="Arial"/>
              </a:rPr>
              <a:t>Objective</a:t>
            </a:r>
            <a:r>
              <a:rPr lang="en" sz="1400">
                <a:highlight>
                  <a:srgbClr val="B6D7A8"/>
                </a:highlight>
                <a:latin typeface="Arial"/>
                <a:ea typeface="Arial"/>
                <a:cs typeface="Arial"/>
                <a:sym typeface="Arial"/>
              </a:rPr>
              <a:t> – Factual system behavior (can be verified with logs or evidence)</a:t>
            </a:r>
            <a:br>
              <a:rPr lang="en" sz="1400">
                <a:highlight>
                  <a:srgbClr val="B6D7A8"/>
                </a:highlight>
                <a:latin typeface="Arial"/>
                <a:ea typeface="Arial"/>
                <a:cs typeface="Arial"/>
                <a:sym typeface="Arial"/>
              </a:rPr>
            </a:br>
            <a:endParaRPr sz="1400">
              <a:highlight>
                <a:srgbClr val="B6D7A8"/>
              </a:highlight>
              <a:latin typeface="Arial"/>
              <a:ea typeface="Arial"/>
              <a:cs typeface="Arial"/>
              <a:sym typeface="Arial"/>
            </a:endParaRPr>
          </a:p>
          <a:p>
            <a:pPr indent="0" lvl="0" marL="0" rtl="0" algn="l">
              <a:spcBef>
                <a:spcPts val="1200"/>
              </a:spcBef>
              <a:spcAft>
                <a:spcPts val="0"/>
              </a:spcAft>
              <a:buClr>
                <a:schemeClr val="dk2"/>
              </a:buClr>
              <a:buSzPts val="1100"/>
              <a:buFont typeface="Arial"/>
              <a:buNone/>
            </a:pPr>
            <a:r>
              <a:rPr b="1" lang="en" sz="1500">
                <a:latin typeface="Arial"/>
                <a:ea typeface="Arial"/>
                <a:cs typeface="Arial"/>
                <a:sym typeface="Arial"/>
              </a:rPr>
              <a:t>“The update definitely ruined the app experience.”</a:t>
            </a:r>
            <a:r>
              <a:rPr b="1" lang="en" sz="1400">
                <a:highlight>
                  <a:srgbClr val="B6D7A8"/>
                </a:highlight>
                <a:latin typeface="Arial"/>
                <a:ea typeface="Arial"/>
                <a:cs typeface="Arial"/>
                <a:sym typeface="Arial"/>
              </a:rPr>
              <a:t>Subjective</a:t>
            </a:r>
            <a:r>
              <a:rPr lang="en" sz="1400">
                <a:highlight>
                  <a:srgbClr val="B6D7A8"/>
                </a:highlight>
                <a:latin typeface="Arial"/>
                <a:ea typeface="Arial"/>
                <a:cs typeface="Arial"/>
                <a:sym typeface="Arial"/>
              </a:rPr>
              <a:t> – Opinion, even though “definitely” sounds factual</a:t>
            </a:r>
            <a:endParaRPr sz="1400">
              <a:highlight>
                <a:srgbClr val="B6D7A8"/>
              </a:highlight>
              <a:latin typeface="Arial"/>
              <a:ea typeface="Arial"/>
              <a:cs typeface="Arial"/>
              <a:sym typeface="Arial"/>
            </a:endParaRPr>
          </a:p>
          <a:p>
            <a:pPr indent="0" lvl="0" marL="0" rtl="0" algn="l">
              <a:spcBef>
                <a:spcPts val="1200"/>
              </a:spcBef>
              <a:spcAft>
                <a:spcPts val="1200"/>
              </a:spcAft>
              <a:buNone/>
            </a:pPr>
            <a:r>
              <a:t/>
            </a:r>
            <a:endParaRPr sz="1400"/>
          </a:p>
        </p:txBody>
      </p:sp>
      <p:cxnSp>
        <p:nvCxnSpPr>
          <p:cNvPr id="87" name="Google Shape;87;p17"/>
          <p:cNvCxnSpPr/>
          <p:nvPr/>
        </p:nvCxnSpPr>
        <p:spPr>
          <a:xfrm>
            <a:off x="5012725" y="1811883"/>
            <a:ext cx="270900" cy="0"/>
          </a:xfrm>
          <a:prstGeom prst="straightConnector1">
            <a:avLst/>
          </a:prstGeom>
          <a:noFill/>
          <a:ln cap="flat" cmpd="sng" w="9525">
            <a:solidFill>
              <a:schemeClr val="lt2"/>
            </a:solidFill>
            <a:prstDash val="solid"/>
            <a:round/>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390452"/>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00"/>
              <a:t>How to Verify Objective Claims</a:t>
            </a:r>
            <a:endParaRPr sz="2000"/>
          </a:p>
        </p:txBody>
      </p:sp>
      <p:pic>
        <p:nvPicPr>
          <p:cNvPr id="93" name="Google Shape;93;p18"/>
          <p:cNvPicPr preferRelativeResize="0"/>
          <p:nvPr/>
        </p:nvPicPr>
        <p:blipFill>
          <a:blip r:embed="rId3">
            <a:alphaModFix/>
          </a:blip>
          <a:stretch>
            <a:fillRect/>
          </a:stretch>
        </p:blipFill>
        <p:spPr>
          <a:xfrm>
            <a:off x="6838875" y="3305575"/>
            <a:ext cx="2076525" cy="1609324"/>
          </a:xfrm>
          <a:prstGeom prst="rect">
            <a:avLst/>
          </a:prstGeom>
          <a:noFill/>
          <a:ln>
            <a:noFill/>
          </a:ln>
        </p:spPr>
      </p:pic>
      <p:sp>
        <p:nvSpPr>
          <p:cNvPr id="94" name="Google Shape;94;p18"/>
          <p:cNvSpPr txBox="1"/>
          <p:nvPr>
            <p:ph idx="1" type="body"/>
          </p:nvPr>
        </p:nvSpPr>
        <p:spPr>
          <a:xfrm>
            <a:off x="409518" y="1247001"/>
            <a:ext cx="8520600" cy="4147200"/>
          </a:xfrm>
          <a:prstGeom prst="rect">
            <a:avLst/>
          </a:prstGeom>
        </p:spPr>
        <p:txBody>
          <a:bodyPr anchorCtr="0" anchor="t" bIns="91425" lIns="91425" spcFirstLastPara="1" rIns="91425" wrap="square" tIns="91425">
            <a:noAutofit/>
          </a:bodyPr>
          <a:lstStyle/>
          <a:p>
            <a:pPr indent="0" lvl="0" marL="457200" rtl="0" algn="l">
              <a:lnSpc>
                <a:spcPct val="200000"/>
              </a:lnSpc>
              <a:spcBef>
                <a:spcPts val="1200"/>
              </a:spcBef>
              <a:spcAft>
                <a:spcPts val="0"/>
              </a:spcAft>
              <a:buNone/>
            </a:pPr>
            <a:r>
              <a:rPr b="1" lang="en" sz="1500">
                <a:latin typeface="Arial"/>
                <a:ea typeface="Arial"/>
                <a:cs typeface="Arial"/>
                <a:sym typeface="Arial"/>
              </a:rPr>
              <a:t>1. External Research (Most Common Case)</a:t>
            </a:r>
            <a:endParaRPr b="1" sz="1500">
              <a:latin typeface="Arial"/>
              <a:ea typeface="Arial"/>
              <a:cs typeface="Arial"/>
              <a:sym typeface="Arial"/>
            </a:endParaRPr>
          </a:p>
          <a:p>
            <a:pPr indent="0" lvl="0" marL="457200" rtl="0" algn="l">
              <a:lnSpc>
                <a:spcPct val="200000"/>
              </a:lnSpc>
              <a:spcBef>
                <a:spcPts val="1200"/>
              </a:spcBef>
              <a:spcAft>
                <a:spcPts val="0"/>
              </a:spcAft>
              <a:buNone/>
            </a:pPr>
            <a:r>
              <a:rPr b="1" lang="en" sz="1500">
                <a:latin typeface="Arial"/>
                <a:ea typeface="Arial"/>
                <a:cs typeface="Arial"/>
                <a:sym typeface="Arial"/>
              </a:rPr>
              <a:t>2.  Using Links Provided in the Response</a:t>
            </a:r>
            <a:endParaRPr b="1" sz="1500">
              <a:latin typeface="Arial"/>
              <a:ea typeface="Arial"/>
              <a:cs typeface="Arial"/>
              <a:sym typeface="Arial"/>
            </a:endParaRPr>
          </a:p>
          <a:p>
            <a:pPr indent="0" lvl="0" marL="457200" rtl="0" algn="l">
              <a:lnSpc>
                <a:spcPct val="200000"/>
              </a:lnSpc>
              <a:spcBef>
                <a:spcPts val="1200"/>
              </a:spcBef>
              <a:spcAft>
                <a:spcPts val="0"/>
              </a:spcAft>
              <a:buNone/>
            </a:pPr>
            <a:r>
              <a:rPr b="1" lang="en" sz="1500">
                <a:latin typeface="Arial"/>
                <a:ea typeface="Arial"/>
                <a:cs typeface="Arial"/>
                <a:sym typeface="Arial"/>
              </a:rPr>
              <a:t>3. </a:t>
            </a:r>
            <a:r>
              <a:rPr b="1" lang="en" sz="1500">
                <a:latin typeface="Arial"/>
                <a:ea typeface="Arial"/>
                <a:cs typeface="Arial"/>
                <a:sym typeface="Arial"/>
              </a:rPr>
              <a:t>Verifying Agent Actions Using Screenshots</a:t>
            </a:r>
            <a:endParaRPr b="1" sz="1500">
              <a:latin typeface="Arial"/>
              <a:ea typeface="Arial"/>
              <a:cs typeface="Arial"/>
              <a:sym typeface="Arial"/>
            </a:endParaRPr>
          </a:p>
          <a:p>
            <a:pPr indent="0" lvl="0" marL="457200" rtl="0" algn="l">
              <a:spcBef>
                <a:spcPts val="1200"/>
              </a:spcBef>
              <a:spcAft>
                <a:spcPts val="0"/>
              </a:spcAft>
              <a:buNone/>
            </a:pPr>
            <a:br>
              <a:rPr b="1" lang="en" sz="1500">
                <a:latin typeface="Arial"/>
                <a:ea typeface="Arial"/>
                <a:cs typeface="Arial"/>
                <a:sym typeface="Arial"/>
              </a:rPr>
            </a:br>
            <a:endParaRPr b="1" sz="1500">
              <a:latin typeface="Arial"/>
              <a:ea typeface="Arial"/>
              <a:cs typeface="Arial"/>
              <a:sym typeface="Arial"/>
            </a:endParaRPr>
          </a:p>
          <a:p>
            <a:pPr indent="0" lvl="0" marL="457200" rtl="0" algn="l">
              <a:spcBef>
                <a:spcPts val="1200"/>
              </a:spcBef>
              <a:spcAft>
                <a:spcPts val="1200"/>
              </a:spcAft>
              <a:buNone/>
            </a:pPr>
            <a:r>
              <a:t/>
            </a:r>
            <a:endParaRPr b="1" sz="1500">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390452"/>
            <a:ext cx="8520600" cy="5727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AutoNum type="arabicPeriod"/>
            </a:pPr>
            <a:r>
              <a:rPr lang="en" sz="2000"/>
              <a:t>External Research (Most Common Case)</a:t>
            </a:r>
            <a:endParaRPr sz="2000"/>
          </a:p>
        </p:txBody>
      </p:sp>
      <p:pic>
        <p:nvPicPr>
          <p:cNvPr id="100" name="Google Shape;100;p19"/>
          <p:cNvPicPr preferRelativeResize="0"/>
          <p:nvPr/>
        </p:nvPicPr>
        <p:blipFill>
          <a:blip r:embed="rId3">
            <a:alphaModFix/>
          </a:blip>
          <a:stretch>
            <a:fillRect/>
          </a:stretch>
        </p:blipFill>
        <p:spPr>
          <a:xfrm>
            <a:off x="6838875" y="3305575"/>
            <a:ext cx="2076525" cy="1609324"/>
          </a:xfrm>
          <a:prstGeom prst="rect">
            <a:avLst/>
          </a:prstGeom>
          <a:noFill/>
          <a:ln>
            <a:noFill/>
          </a:ln>
        </p:spPr>
      </p:pic>
      <p:sp>
        <p:nvSpPr>
          <p:cNvPr id="101" name="Google Shape;101;p19"/>
          <p:cNvSpPr txBox="1"/>
          <p:nvPr>
            <p:ph idx="1" type="body"/>
          </p:nvPr>
        </p:nvSpPr>
        <p:spPr>
          <a:xfrm>
            <a:off x="491368" y="963158"/>
            <a:ext cx="8520600" cy="4147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2"/>
              </a:buClr>
              <a:buSzPts val="1100"/>
              <a:buFont typeface="Arial"/>
              <a:buNone/>
            </a:pPr>
            <a:r>
              <a:rPr b="1" lang="en" sz="1500">
                <a:latin typeface="Arial"/>
                <a:ea typeface="Arial"/>
                <a:cs typeface="Arial"/>
                <a:sym typeface="Arial"/>
              </a:rPr>
              <a:t>When to Use</a:t>
            </a:r>
            <a:endParaRPr b="1" sz="1500">
              <a:latin typeface="Arial"/>
              <a:ea typeface="Arial"/>
              <a:cs typeface="Arial"/>
              <a:sym typeface="Arial"/>
            </a:endParaRPr>
          </a:p>
          <a:p>
            <a:pPr indent="-323850" lvl="0" marL="457200" rtl="0" algn="l">
              <a:spcBef>
                <a:spcPts val="1200"/>
              </a:spcBef>
              <a:spcAft>
                <a:spcPts val="0"/>
              </a:spcAft>
              <a:buSzPts val="1500"/>
              <a:buFont typeface="Arial"/>
              <a:buChar char="●"/>
            </a:pPr>
            <a:r>
              <a:rPr lang="en" sz="1500">
                <a:latin typeface="Arial"/>
                <a:ea typeface="Arial"/>
                <a:cs typeface="Arial"/>
                <a:sym typeface="Arial"/>
              </a:rPr>
              <a:t>No links are provided</a:t>
            </a:r>
            <a:endParaRPr sz="1500">
              <a:latin typeface="Arial"/>
              <a:ea typeface="Arial"/>
              <a:cs typeface="Arial"/>
              <a:sym typeface="Arial"/>
            </a:endParaRPr>
          </a:p>
          <a:p>
            <a:pPr indent="-323850" lvl="0" marL="457200" rtl="0" algn="l">
              <a:spcBef>
                <a:spcPts val="0"/>
              </a:spcBef>
              <a:spcAft>
                <a:spcPts val="0"/>
              </a:spcAft>
              <a:buSzPts val="1500"/>
              <a:buFont typeface="Arial"/>
              <a:buChar char="●"/>
            </a:pPr>
            <a:r>
              <a:rPr lang="en" sz="1500">
                <a:latin typeface="Arial"/>
                <a:ea typeface="Arial"/>
                <a:cs typeface="Arial"/>
                <a:sym typeface="Arial"/>
              </a:rPr>
              <a:t>Provided links are insufficient</a:t>
            </a:r>
            <a:endParaRPr sz="1500">
              <a:latin typeface="Arial"/>
              <a:ea typeface="Arial"/>
              <a:cs typeface="Arial"/>
              <a:sym typeface="Arial"/>
            </a:endParaRPr>
          </a:p>
          <a:p>
            <a:pPr indent="-323850" lvl="0" marL="457200" rtl="0" algn="l">
              <a:spcBef>
                <a:spcPts val="0"/>
              </a:spcBef>
              <a:spcAft>
                <a:spcPts val="0"/>
              </a:spcAft>
              <a:buSzPts val="1500"/>
              <a:buFont typeface="Arial"/>
              <a:buChar char="●"/>
            </a:pPr>
            <a:r>
              <a:rPr lang="en" sz="1500">
                <a:latin typeface="Arial"/>
                <a:ea typeface="Arial"/>
                <a:cs typeface="Arial"/>
                <a:sym typeface="Arial"/>
              </a:rPr>
              <a:t>Claims are general knowledge or public facts</a:t>
            </a:r>
            <a:endParaRPr sz="1500">
              <a:latin typeface="Arial"/>
              <a:ea typeface="Arial"/>
              <a:cs typeface="Arial"/>
              <a:sym typeface="Arial"/>
            </a:endParaRPr>
          </a:p>
          <a:p>
            <a:pPr indent="0" lvl="0" marL="0" rtl="0" algn="l">
              <a:spcBef>
                <a:spcPts val="1200"/>
              </a:spcBef>
              <a:spcAft>
                <a:spcPts val="0"/>
              </a:spcAft>
              <a:buNone/>
            </a:pPr>
            <a:r>
              <a:rPr b="1" lang="en" sz="1500">
                <a:latin typeface="Arial"/>
                <a:ea typeface="Arial"/>
                <a:cs typeface="Arial"/>
                <a:sym typeface="Arial"/>
              </a:rPr>
              <a:t>How to Verify</a:t>
            </a:r>
            <a:endParaRPr b="1" sz="1500">
              <a:latin typeface="Arial"/>
              <a:ea typeface="Arial"/>
              <a:cs typeface="Arial"/>
              <a:sym typeface="Arial"/>
            </a:endParaRPr>
          </a:p>
          <a:p>
            <a:pPr indent="-323850" lvl="0" marL="457200" rtl="0" algn="l">
              <a:spcBef>
                <a:spcPts val="1200"/>
              </a:spcBef>
              <a:spcAft>
                <a:spcPts val="0"/>
              </a:spcAft>
              <a:buSzPts val="1500"/>
              <a:buFont typeface="Arial"/>
              <a:buChar char="●"/>
            </a:pPr>
            <a:r>
              <a:rPr lang="en" sz="1500">
                <a:latin typeface="Arial"/>
                <a:ea typeface="Arial"/>
                <a:cs typeface="Arial"/>
                <a:sym typeface="Arial"/>
              </a:rPr>
              <a:t>Use reputable external sources:</a:t>
            </a:r>
            <a:endParaRPr sz="1500">
              <a:latin typeface="Arial"/>
              <a:ea typeface="Arial"/>
              <a:cs typeface="Arial"/>
              <a:sym typeface="Arial"/>
            </a:endParaRPr>
          </a:p>
          <a:p>
            <a:pPr indent="-323850" lvl="1" marL="914400" rtl="0" algn="l">
              <a:spcBef>
                <a:spcPts val="0"/>
              </a:spcBef>
              <a:spcAft>
                <a:spcPts val="0"/>
              </a:spcAft>
              <a:buSzPts val="1500"/>
              <a:buFont typeface="Arial"/>
              <a:buChar char="○"/>
            </a:pPr>
            <a:r>
              <a:rPr lang="en" sz="1500">
                <a:latin typeface="Arial"/>
                <a:ea typeface="Arial"/>
                <a:cs typeface="Arial"/>
                <a:sym typeface="Arial"/>
              </a:rPr>
              <a:t>Encyclopedias</a:t>
            </a:r>
            <a:endParaRPr sz="1500">
              <a:latin typeface="Arial"/>
              <a:ea typeface="Arial"/>
              <a:cs typeface="Arial"/>
              <a:sym typeface="Arial"/>
            </a:endParaRPr>
          </a:p>
          <a:p>
            <a:pPr indent="-323850" lvl="1" marL="914400" rtl="0" algn="l">
              <a:spcBef>
                <a:spcPts val="0"/>
              </a:spcBef>
              <a:spcAft>
                <a:spcPts val="0"/>
              </a:spcAft>
              <a:buSzPts val="1500"/>
              <a:buFont typeface="Arial"/>
              <a:buChar char="○"/>
            </a:pPr>
            <a:r>
              <a:rPr lang="en" sz="1500">
                <a:latin typeface="Arial"/>
                <a:ea typeface="Arial"/>
                <a:cs typeface="Arial"/>
                <a:sym typeface="Arial"/>
              </a:rPr>
              <a:t>Government websites</a:t>
            </a:r>
            <a:endParaRPr sz="1500">
              <a:latin typeface="Arial"/>
              <a:ea typeface="Arial"/>
              <a:cs typeface="Arial"/>
              <a:sym typeface="Arial"/>
            </a:endParaRPr>
          </a:p>
          <a:p>
            <a:pPr indent="-323850" lvl="1" marL="914400" rtl="0" algn="l">
              <a:spcBef>
                <a:spcPts val="0"/>
              </a:spcBef>
              <a:spcAft>
                <a:spcPts val="0"/>
              </a:spcAft>
              <a:buSzPts val="1500"/>
              <a:buFont typeface="Arial"/>
              <a:buChar char="○"/>
            </a:pPr>
            <a:r>
              <a:rPr lang="en" sz="1500">
                <a:latin typeface="Arial"/>
                <a:ea typeface="Arial"/>
                <a:cs typeface="Arial"/>
                <a:sym typeface="Arial"/>
              </a:rPr>
              <a:t>Academic journals</a:t>
            </a:r>
            <a:endParaRPr sz="1500">
              <a:latin typeface="Arial"/>
              <a:ea typeface="Arial"/>
              <a:cs typeface="Arial"/>
              <a:sym typeface="Arial"/>
            </a:endParaRPr>
          </a:p>
          <a:p>
            <a:pPr indent="-323850" lvl="1" marL="914400" rtl="0" algn="l">
              <a:spcBef>
                <a:spcPts val="0"/>
              </a:spcBef>
              <a:spcAft>
                <a:spcPts val="0"/>
              </a:spcAft>
              <a:buSzPts val="1500"/>
              <a:buFont typeface="Arial"/>
              <a:buChar char="○"/>
            </a:pPr>
            <a:r>
              <a:rPr lang="en" sz="1500">
                <a:latin typeface="Arial"/>
                <a:ea typeface="Arial"/>
                <a:cs typeface="Arial"/>
                <a:sym typeface="Arial"/>
              </a:rPr>
              <a:t>Reputable news organizations</a:t>
            </a:r>
            <a:br>
              <a:rPr lang="en" sz="1500">
                <a:latin typeface="Arial"/>
                <a:ea typeface="Arial"/>
                <a:cs typeface="Arial"/>
                <a:sym typeface="Arial"/>
              </a:rPr>
            </a:br>
            <a:endParaRPr sz="1500">
              <a:latin typeface="Arial"/>
              <a:ea typeface="Arial"/>
              <a:cs typeface="Arial"/>
              <a:sym typeface="Arial"/>
            </a:endParaRPr>
          </a:p>
          <a:p>
            <a:pPr indent="-323850" lvl="0" marL="457200" rtl="0" algn="l">
              <a:spcBef>
                <a:spcPts val="0"/>
              </a:spcBef>
              <a:spcAft>
                <a:spcPts val="0"/>
              </a:spcAft>
              <a:buSzPts val="1500"/>
              <a:buFont typeface="Arial"/>
              <a:buChar char="●"/>
            </a:pPr>
            <a:r>
              <a:rPr lang="en" sz="1500">
                <a:latin typeface="Arial"/>
                <a:ea typeface="Arial"/>
                <a:cs typeface="Arial"/>
                <a:sym typeface="Arial"/>
              </a:rPr>
              <a:t>Use </a:t>
            </a:r>
            <a:r>
              <a:rPr b="1" lang="en" sz="1500">
                <a:latin typeface="Arial"/>
                <a:ea typeface="Arial"/>
                <a:cs typeface="Arial"/>
                <a:sym typeface="Arial"/>
              </a:rPr>
              <a:t>targeted keywords</a:t>
            </a:r>
            <a:r>
              <a:rPr lang="en" sz="1500">
                <a:latin typeface="Arial"/>
                <a:ea typeface="Arial"/>
                <a:cs typeface="Arial"/>
                <a:sym typeface="Arial"/>
              </a:rPr>
              <a:t> that match the claim exactly</a:t>
            </a:r>
            <a:endParaRPr sz="1500">
              <a:latin typeface="Arial"/>
              <a:ea typeface="Arial"/>
              <a:cs typeface="Arial"/>
              <a:sym typeface="Arial"/>
            </a:endParaRPr>
          </a:p>
          <a:p>
            <a:pPr indent="0" lvl="0" marL="457200" rtl="0" algn="l">
              <a:spcBef>
                <a:spcPts val="1200"/>
              </a:spcBef>
              <a:spcAft>
                <a:spcPts val="1200"/>
              </a:spcAft>
              <a:buNone/>
            </a:pPr>
            <a:r>
              <a:t/>
            </a:r>
            <a:endParaRPr b="1" sz="1500">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11700" y="390452"/>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2. Using Links Provided in the Response</a:t>
            </a:r>
            <a:endParaRPr sz="2000"/>
          </a:p>
        </p:txBody>
      </p:sp>
      <p:pic>
        <p:nvPicPr>
          <p:cNvPr id="107" name="Google Shape;107;p20"/>
          <p:cNvPicPr preferRelativeResize="0"/>
          <p:nvPr/>
        </p:nvPicPr>
        <p:blipFill>
          <a:blip r:embed="rId3">
            <a:alphaModFix/>
          </a:blip>
          <a:stretch>
            <a:fillRect/>
          </a:stretch>
        </p:blipFill>
        <p:spPr>
          <a:xfrm>
            <a:off x="6838875" y="3305575"/>
            <a:ext cx="2076525" cy="1609324"/>
          </a:xfrm>
          <a:prstGeom prst="rect">
            <a:avLst/>
          </a:prstGeom>
          <a:noFill/>
          <a:ln>
            <a:noFill/>
          </a:ln>
        </p:spPr>
      </p:pic>
      <p:sp>
        <p:nvSpPr>
          <p:cNvPr id="108" name="Google Shape;108;p20"/>
          <p:cNvSpPr txBox="1"/>
          <p:nvPr>
            <p:ph idx="1" type="body"/>
          </p:nvPr>
        </p:nvSpPr>
        <p:spPr>
          <a:xfrm>
            <a:off x="491368" y="963158"/>
            <a:ext cx="8520600" cy="4147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2"/>
              </a:buClr>
              <a:buSzPts val="1100"/>
              <a:buFont typeface="Arial"/>
              <a:buNone/>
            </a:pPr>
            <a:r>
              <a:rPr b="1" lang="en">
                <a:latin typeface="Arial"/>
                <a:ea typeface="Arial"/>
                <a:cs typeface="Arial"/>
                <a:sym typeface="Arial"/>
              </a:rPr>
              <a:t>When to Use</a:t>
            </a:r>
            <a:endParaRPr b="1">
              <a:latin typeface="Arial"/>
              <a:ea typeface="Arial"/>
              <a:cs typeface="Arial"/>
              <a:sym typeface="Arial"/>
            </a:endParaRPr>
          </a:p>
          <a:p>
            <a:pPr indent="-342900" lvl="0" marL="457200" rtl="0" algn="l">
              <a:spcBef>
                <a:spcPts val="1200"/>
              </a:spcBef>
              <a:spcAft>
                <a:spcPts val="0"/>
              </a:spcAft>
              <a:buSzPts val="1800"/>
              <a:buFont typeface="Arial"/>
              <a:buChar char="●"/>
            </a:pPr>
            <a:r>
              <a:rPr lang="en">
                <a:latin typeface="Arial"/>
                <a:ea typeface="Arial"/>
                <a:cs typeface="Arial"/>
                <a:sym typeface="Arial"/>
              </a:rPr>
              <a:t>The response includes links</a:t>
            </a:r>
            <a:endParaRPr>
              <a:latin typeface="Arial"/>
              <a:ea typeface="Arial"/>
              <a:cs typeface="Arial"/>
              <a:sym typeface="Arial"/>
            </a:endParaRPr>
          </a:p>
          <a:p>
            <a:pPr indent="-342900" lvl="0" marL="457200" rtl="0" algn="l">
              <a:spcBef>
                <a:spcPts val="0"/>
              </a:spcBef>
              <a:spcAft>
                <a:spcPts val="0"/>
              </a:spcAft>
              <a:buSzPts val="1800"/>
              <a:buFont typeface="Arial"/>
              <a:buChar char="●"/>
            </a:pPr>
            <a:r>
              <a:rPr lang="en">
                <a:latin typeface="Arial"/>
                <a:ea typeface="Arial"/>
                <a:cs typeface="Arial"/>
                <a:sym typeface="Arial"/>
              </a:rPr>
              <a:t>The links are accessible and relevant</a:t>
            </a:r>
            <a:br>
              <a:rPr lang="en">
                <a:latin typeface="Arial"/>
                <a:ea typeface="Arial"/>
                <a:cs typeface="Arial"/>
                <a:sym typeface="Arial"/>
              </a:rPr>
            </a:br>
            <a:endParaRPr>
              <a:latin typeface="Arial"/>
              <a:ea typeface="Arial"/>
              <a:cs typeface="Arial"/>
              <a:sym typeface="Arial"/>
            </a:endParaRPr>
          </a:p>
          <a:p>
            <a:pPr indent="0" lvl="0" marL="0" rtl="0" algn="l">
              <a:spcBef>
                <a:spcPts val="1200"/>
              </a:spcBef>
              <a:spcAft>
                <a:spcPts val="0"/>
              </a:spcAft>
              <a:buClr>
                <a:schemeClr val="dk2"/>
              </a:buClr>
              <a:buSzPts val="1100"/>
              <a:buFont typeface="Arial"/>
              <a:buNone/>
            </a:pPr>
            <a:r>
              <a:rPr b="1" lang="en">
                <a:latin typeface="Arial"/>
                <a:ea typeface="Arial"/>
                <a:cs typeface="Arial"/>
                <a:sym typeface="Arial"/>
              </a:rPr>
              <a:t>How to Verify</a:t>
            </a:r>
            <a:endParaRPr b="1">
              <a:latin typeface="Arial"/>
              <a:ea typeface="Arial"/>
              <a:cs typeface="Arial"/>
              <a:sym typeface="Arial"/>
            </a:endParaRPr>
          </a:p>
          <a:p>
            <a:pPr indent="-342900" lvl="0" marL="457200" rtl="0" algn="l">
              <a:spcBef>
                <a:spcPts val="1200"/>
              </a:spcBef>
              <a:spcAft>
                <a:spcPts val="0"/>
              </a:spcAft>
              <a:buSzPts val="1800"/>
              <a:buFont typeface="Arial"/>
              <a:buChar char="●"/>
            </a:pPr>
            <a:r>
              <a:rPr lang="en">
                <a:latin typeface="Arial"/>
                <a:ea typeface="Arial"/>
                <a:cs typeface="Arial"/>
                <a:sym typeface="Arial"/>
              </a:rPr>
              <a:t>Open the link</a:t>
            </a:r>
            <a:endParaRPr>
              <a:latin typeface="Arial"/>
              <a:ea typeface="Arial"/>
              <a:cs typeface="Arial"/>
              <a:sym typeface="Arial"/>
            </a:endParaRPr>
          </a:p>
          <a:p>
            <a:pPr indent="-342900" lvl="0" marL="457200" rtl="0" algn="l">
              <a:spcBef>
                <a:spcPts val="0"/>
              </a:spcBef>
              <a:spcAft>
                <a:spcPts val="0"/>
              </a:spcAft>
              <a:buSzPts val="1800"/>
              <a:buFont typeface="Arial"/>
              <a:buChar char="●"/>
            </a:pPr>
            <a:r>
              <a:rPr lang="en">
                <a:latin typeface="Arial"/>
                <a:ea typeface="Arial"/>
                <a:cs typeface="Arial"/>
                <a:sym typeface="Arial"/>
              </a:rPr>
              <a:t>Confirm the source is reputable</a:t>
            </a:r>
            <a:endParaRPr>
              <a:latin typeface="Arial"/>
              <a:ea typeface="Arial"/>
              <a:cs typeface="Arial"/>
              <a:sym typeface="Arial"/>
            </a:endParaRPr>
          </a:p>
          <a:p>
            <a:pPr indent="-342900" lvl="0" marL="457200" rtl="0" algn="l">
              <a:spcBef>
                <a:spcPts val="0"/>
              </a:spcBef>
              <a:spcAft>
                <a:spcPts val="0"/>
              </a:spcAft>
              <a:buSzPts val="1800"/>
              <a:buFont typeface="Arial"/>
              <a:buChar char="●"/>
            </a:pPr>
            <a:r>
              <a:rPr lang="en">
                <a:latin typeface="Arial"/>
                <a:ea typeface="Arial"/>
                <a:cs typeface="Arial"/>
                <a:sym typeface="Arial"/>
              </a:rPr>
              <a:t>Check that the evidence directly supports the claim</a:t>
            </a:r>
            <a:endParaRPr b="1" sz="2200">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11700" y="240376"/>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3</a:t>
            </a:r>
            <a:r>
              <a:rPr lang="en" sz="2000"/>
              <a:t>. </a:t>
            </a:r>
            <a:r>
              <a:rPr lang="en" sz="2000"/>
              <a:t>Verifying Agent Actions Using Screenshots</a:t>
            </a:r>
            <a:endParaRPr sz="2000"/>
          </a:p>
        </p:txBody>
      </p:sp>
      <p:pic>
        <p:nvPicPr>
          <p:cNvPr id="114" name="Google Shape;114;p21"/>
          <p:cNvPicPr preferRelativeResize="0"/>
          <p:nvPr/>
        </p:nvPicPr>
        <p:blipFill>
          <a:blip r:embed="rId3">
            <a:alphaModFix/>
          </a:blip>
          <a:stretch>
            <a:fillRect/>
          </a:stretch>
        </p:blipFill>
        <p:spPr>
          <a:xfrm>
            <a:off x="6838875" y="3305575"/>
            <a:ext cx="2076525" cy="1609324"/>
          </a:xfrm>
          <a:prstGeom prst="rect">
            <a:avLst/>
          </a:prstGeom>
          <a:noFill/>
          <a:ln>
            <a:noFill/>
          </a:ln>
        </p:spPr>
      </p:pic>
      <p:sp>
        <p:nvSpPr>
          <p:cNvPr id="115" name="Google Shape;115;p21"/>
          <p:cNvSpPr txBox="1"/>
          <p:nvPr>
            <p:ph idx="1" type="body"/>
          </p:nvPr>
        </p:nvSpPr>
        <p:spPr>
          <a:xfrm>
            <a:off x="491368" y="703937"/>
            <a:ext cx="8520600" cy="4147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100">
                <a:latin typeface="Arial"/>
                <a:ea typeface="Arial"/>
                <a:cs typeface="Arial"/>
                <a:sym typeface="Arial"/>
              </a:rPr>
              <a:t>When to Use</a:t>
            </a:r>
            <a:endParaRPr b="1" sz="1100">
              <a:latin typeface="Arial"/>
              <a:ea typeface="Arial"/>
              <a:cs typeface="Arial"/>
              <a:sym typeface="Arial"/>
            </a:endParaRPr>
          </a:p>
          <a:p>
            <a:pPr indent="-298450" lvl="0" marL="457200" rtl="0" algn="l">
              <a:spcBef>
                <a:spcPts val="1200"/>
              </a:spcBef>
              <a:spcAft>
                <a:spcPts val="0"/>
              </a:spcAft>
              <a:buSzPts val="1100"/>
              <a:buFont typeface="Arial"/>
              <a:buChar char="●"/>
            </a:pPr>
            <a:r>
              <a:rPr lang="en" sz="1100">
                <a:latin typeface="Arial"/>
                <a:ea typeface="Arial"/>
                <a:cs typeface="Arial"/>
                <a:sym typeface="Arial"/>
              </a:rPr>
              <a:t>The task involves agent actions (adding to cart)</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A screenshot is provided as evidence</a:t>
            </a:r>
            <a:endParaRPr sz="1100">
              <a:latin typeface="Arial"/>
              <a:ea typeface="Arial"/>
              <a:cs typeface="Arial"/>
              <a:sym typeface="Arial"/>
            </a:endParaRPr>
          </a:p>
          <a:p>
            <a:pPr indent="0" lvl="0" marL="0" rtl="0" algn="l">
              <a:spcBef>
                <a:spcPts val="1200"/>
              </a:spcBef>
              <a:spcAft>
                <a:spcPts val="0"/>
              </a:spcAft>
              <a:buNone/>
            </a:pPr>
            <a:r>
              <a:rPr b="1" lang="en" sz="1100">
                <a:latin typeface="Arial"/>
                <a:ea typeface="Arial"/>
                <a:cs typeface="Arial"/>
                <a:sym typeface="Arial"/>
              </a:rPr>
              <a:t>How to Verify</a:t>
            </a:r>
            <a:endParaRPr b="1" sz="1100">
              <a:latin typeface="Arial"/>
              <a:ea typeface="Arial"/>
              <a:cs typeface="Arial"/>
              <a:sym typeface="Arial"/>
            </a:endParaRPr>
          </a:p>
          <a:p>
            <a:pPr indent="-298450" lvl="0" marL="457200" rtl="0" algn="l">
              <a:spcBef>
                <a:spcPts val="1200"/>
              </a:spcBef>
              <a:spcAft>
                <a:spcPts val="0"/>
              </a:spcAft>
              <a:buSzPts val="1100"/>
              <a:buFont typeface="Arial"/>
              <a:buChar char="●"/>
            </a:pPr>
            <a:r>
              <a:rPr lang="en" sz="1100">
                <a:latin typeface="Arial"/>
                <a:ea typeface="Arial"/>
                <a:cs typeface="Arial"/>
                <a:sym typeface="Arial"/>
              </a:rPr>
              <a:t>Check the screenshot carefully</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Confirm whether the claimed action is visibly completed</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Look for indicators such as:</a:t>
            </a:r>
            <a:br>
              <a:rPr lang="en" sz="1100">
                <a:latin typeface="Arial"/>
                <a:ea typeface="Arial"/>
                <a:cs typeface="Arial"/>
                <a:sym typeface="Arial"/>
              </a:rPr>
            </a:br>
            <a:r>
              <a:rPr lang="en" sz="1100">
                <a:latin typeface="Arial"/>
                <a:ea typeface="Arial"/>
                <a:cs typeface="Arial"/>
                <a:sym typeface="Arial"/>
              </a:rPr>
              <a:t>- Confirmation messages</a:t>
            </a:r>
            <a:endParaRPr sz="1100">
              <a:latin typeface="Arial"/>
              <a:ea typeface="Arial"/>
              <a:cs typeface="Arial"/>
              <a:sym typeface="Arial"/>
            </a:endParaRPr>
          </a:p>
          <a:p>
            <a:pPr indent="0" lvl="0" marL="457200" rtl="0" algn="l">
              <a:spcBef>
                <a:spcPts val="1200"/>
              </a:spcBef>
              <a:spcAft>
                <a:spcPts val="0"/>
              </a:spcAft>
              <a:buNone/>
            </a:pPr>
            <a:r>
              <a:rPr lang="en" sz="1100">
                <a:latin typeface="Arial"/>
                <a:ea typeface="Arial"/>
                <a:cs typeface="Arial"/>
                <a:sym typeface="Arial"/>
              </a:rPr>
              <a:t>- Updated cart icons</a:t>
            </a:r>
            <a:endParaRPr sz="1100">
              <a:latin typeface="Arial"/>
              <a:ea typeface="Arial"/>
              <a:cs typeface="Arial"/>
              <a:sym typeface="Arial"/>
            </a:endParaRPr>
          </a:p>
          <a:p>
            <a:pPr indent="0" lvl="0" marL="0" rtl="0" algn="l">
              <a:spcBef>
                <a:spcPts val="1200"/>
              </a:spcBef>
              <a:spcAft>
                <a:spcPts val="0"/>
              </a:spcAft>
              <a:buNone/>
            </a:pPr>
            <a:r>
              <a:rPr b="1" lang="en" sz="1100">
                <a:latin typeface="Arial"/>
                <a:ea typeface="Arial"/>
                <a:cs typeface="Arial"/>
                <a:sym typeface="Arial"/>
              </a:rPr>
              <a:t>Example:</a:t>
            </a:r>
            <a:endParaRPr b="1" sz="1100">
              <a:latin typeface="Arial"/>
              <a:ea typeface="Arial"/>
              <a:cs typeface="Arial"/>
              <a:sym typeface="Arial"/>
            </a:endParaRPr>
          </a:p>
          <a:p>
            <a:pPr indent="0" lvl="0" marL="0" rtl="0" algn="l">
              <a:spcBef>
                <a:spcPts val="1200"/>
              </a:spcBef>
              <a:spcAft>
                <a:spcPts val="0"/>
              </a:spcAft>
              <a:buNone/>
            </a:pPr>
            <a:r>
              <a:rPr b="1" lang="en" sz="1100">
                <a:latin typeface="Arial"/>
                <a:ea typeface="Arial"/>
                <a:cs typeface="Arial"/>
                <a:sym typeface="Arial"/>
              </a:rPr>
              <a:t>Claim:</a:t>
            </a:r>
            <a:br>
              <a:rPr b="1" lang="en" sz="1100">
                <a:latin typeface="Arial"/>
                <a:ea typeface="Arial"/>
                <a:cs typeface="Arial"/>
                <a:sym typeface="Arial"/>
              </a:rPr>
            </a:br>
            <a:r>
              <a:rPr lang="en" sz="1100">
                <a:latin typeface="Arial"/>
                <a:ea typeface="Arial"/>
                <a:cs typeface="Arial"/>
                <a:sym typeface="Arial"/>
              </a:rPr>
              <a:t> “The item was successfully added to the cart.”</a:t>
            </a:r>
            <a:endParaRPr sz="1100">
              <a:latin typeface="Arial"/>
              <a:ea typeface="Arial"/>
              <a:cs typeface="Arial"/>
              <a:sym typeface="Arial"/>
            </a:endParaRPr>
          </a:p>
          <a:p>
            <a:pPr indent="0" lvl="0" marL="0" rtl="0" algn="l">
              <a:spcBef>
                <a:spcPts val="1200"/>
              </a:spcBef>
              <a:spcAft>
                <a:spcPts val="0"/>
              </a:spcAft>
              <a:buNone/>
            </a:pPr>
            <a:r>
              <a:rPr b="1" lang="en" sz="1100">
                <a:latin typeface="Arial"/>
                <a:ea typeface="Arial"/>
                <a:cs typeface="Arial"/>
                <a:sym typeface="Arial"/>
              </a:rPr>
              <a:t>Verification:</a:t>
            </a:r>
            <a:endParaRPr b="1" sz="1100">
              <a:latin typeface="Arial"/>
              <a:ea typeface="Arial"/>
              <a:cs typeface="Arial"/>
              <a:sym typeface="Arial"/>
            </a:endParaRPr>
          </a:p>
          <a:p>
            <a:pPr indent="-298450" lvl="0" marL="457200" rtl="0" algn="l">
              <a:spcBef>
                <a:spcPts val="1200"/>
              </a:spcBef>
              <a:spcAft>
                <a:spcPts val="0"/>
              </a:spcAft>
              <a:buSzPts val="1100"/>
              <a:buFont typeface="Arial"/>
              <a:buChar char="●"/>
            </a:pPr>
            <a:r>
              <a:rPr lang="en" sz="1100">
                <a:latin typeface="Arial"/>
                <a:ea typeface="Arial"/>
                <a:cs typeface="Arial"/>
                <a:sym typeface="Arial"/>
              </a:rPr>
              <a:t>Screenshot shows item listed in cart</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Quantity and product name are visible</a:t>
            </a:r>
            <a:endParaRPr sz="1100">
              <a:latin typeface="Arial"/>
              <a:ea typeface="Arial"/>
              <a:cs typeface="Arial"/>
              <a:sym typeface="Arial"/>
            </a:endParaRPr>
          </a:p>
          <a:p>
            <a:pPr indent="0" lvl="0" marL="457200" rtl="0" algn="l">
              <a:spcBef>
                <a:spcPts val="1200"/>
              </a:spcBef>
              <a:spcAft>
                <a:spcPts val="1200"/>
              </a:spcAft>
              <a:buNone/>
            </a:pPr>
            <a:r>
              <a:t/>
            </a:r>
            <a:endParaRPr b="1">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type="title"/>
          </p:nvPr>
        </p:nvSpPr>
        <p:spPr>
          <a:xfrm>
            <a:off x="311700" y="90301"/>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How should embedded links in model responses be handled? </a:t>
            </a:r>
            <a:endParaRPr sz="2000"/>
          </a:p>
        </p:txBody>
      </p:sp>
      <p:sp>
        <p:nvSpPr>
          <p:cNvPr id="121" name="Google Shape;121;p22"/>
          <p:cNvSpPr txBox="1"/>
          <p:nvPr>
            <p:ph idx="1" type="body"/>
          </p:nvPr>
        </p:nvSpPr>
        <p:spPr>
          <a:xfrm>
            <a:off x="450425" y="496624"/>
            <a:ext cx="8520600" cy="4354500"/>
          </a:xfrm>
          <a:prstGeom prst="rect">
            <a:avLst/>
          </a:prstGeom>
        </p:spPr>
        <p:txBody>
          <a:bodyPr anchorCtr="0" anchor="t" bIns="91425" lIns="91425" spcFirstLastPara="1" rIns="91425" wrap="square" tIns="91425">
            <a:noAutofit/>
          </a:bodyPr>
          <a:lstStyle/>
          <a:p>
            <a:pPr indent="0" lvl="0" marL="0" rtl="0" algn="l">
              <a:lnSpc>
                <a:spcPct val="100000"/>
              </a:lnSpc>
              <a:spcBef>
                <a:spcPts val="1800"/>
              </a:spcBef>
              <a:spcAft>
                <a:spcPts val="0"/>
              </a:spcAft>
              <a:buNone/>
            </a:pPr>
            <a:r>
              <a:rPr b="1" lang="en" sz="1100">
                <a:latin typeface="Arial"/>
                <a:ea typeface="Arial"/>
                <a:cs typeface="Arial"/>
                <a:sym typeface="Arial"/>
              </a:rPr>
              <a:t>Note: If the user did not ask for a link, the agent does NOT have to provide a link in the response.</a:t>
            </a:r>
            <a:endParaRPr b="1" sz="1100">
              <a:latin typeface="Arial"/>
              <a:ea typeface="Arial"/>
              <a:cs typeface="Arial"/>
              <a:sym typeface="Arial"/>
            </a:endParaRPr>
          </a:p>
          <a:p>
            <a:pPr indent="0" lvl="0" marL="0" rtl="0" algn="l">
              <a:lnSpc>
                <a:spcPct val="100000"/>
              </a:lnSpc>
              <a:spcBef>
                <a:spcPts val="1800"/>
              </a:spcBef>
              <a:spcAft>
                <a:spcPts val="0"/>
              </a:spcAft>
              <a:buNone/>
            </a:pPr>
            <a:r>
              <a:rPr b="1" lang="en" sz="1100">
                <a:latin typeface="Arial"/>
                <a:ea typeface="Arial"/>
                <a:cs typeface="Arial"/>
                <a:sym typeface="Arial"/>
              </a:rPr>
              <a:t>1. </a:t>
            </a:r>
            <a:r>
              <a:rPr b="1" lang="en" sz="1100">
                <a:latin typeface="Arial"/>
                <a:ea typeface="Arial"/>
                <a:cs typeface="Arial"/>
                <a:sym typeface="Arial"/>
              </a:rPr>
              <a:t>What is a broken link? </a:t>
            </a:r>
            <a:r>
              <a:rPr lang="en" sz="1100">
                <a:latin typeface="Arial"/>
                <a:ea typeface="Arial"/>
                <a:cs typeface="Arial"/>
                <a:sym typeface="Arial"/>
              </a:rPr>
              <a:t>A broken link is the same as an invalid link. A link is considered broken/invalid if:</a:t>
            </a:r>
            <a:endParaRPr sz="1100">
              <a:latin typeface="Arial"/>
              <a:ea typeface="Arial"/>
              <a:cs typeface="Arial"/>
              <a:sym typeface="Arial"/>
            </a:endParaRPr>
          </a:p>
          <a:p>
            <a:pPr indent="-330200" lvl="0" marL="914400" rtl="0" algn="l">
              <a:lnSpc>
                <a:spcPct val="100000"/>
              </a:lnSpc>
              <a:spcBef>
                <a:spcPts val="1800"/>
              </a:spcBef>
              <a:spcAft>
                <a:spcPts val="0"/>
              </a:spcAft>
              <a:buSzPts val="1600"/>
              <a:buFont typeface="Arial"/>
              <a:buChar char="●"/>
            </a:pPr>
            <a:r>
              <a:rPr lang="en" sz="1100">
                <a:latin typeface="Arial"/>
                <a:ea typeface="Arial"/>
                <a:cs typeface="Arial"/>
                <a:sym typeface="Arial"/>
              </a:rPr>
              <a:t>It does not load at all</a:t>
            </a:r>
            <a:endParaRPr sz="1100">
              <a:latin typeface="Arial"/>
              <a:ea typeface="Arial"/>
              <a:cs typeface="Arial"/>
              <a:sym typeface="Arial"/>
            </a:endParaRPr>
          </a:p>
          <a:p>
            <a:pPr indent="-330200" lvl="0" marL="914400" rtl="0" algn="l">
              <a:lnSpc>
                <a:spcPct val="100000"/>
              </a:lnSpc>
              <a:spcBef>
                <a:spcPts val="0"/>
              </a:spcBef>
              <a:spcAft>
                <a:spcPts val="0"/>
              </a:spcAft>
              <a:buSzPts val="1600"/>
              <a:buFont typeface="Arial"/>
              <a:buChar char="●"/>
            </a:pPr>
            <a:r>
              <a:rPr lang="en" sz="1100">
                <a:latin typeface="Arial"/>
                <a:ea typeface="Arial"/>
                <a:cs typeface="Arial"/>
                <a:sym typeface="Arial"/>
              </a:rPr>
              <a:t>It shows 404 / Page Not Found</a:t>
            </a:r>
            <a:endParaRPr sz="1100">
              <a:latin typeface="Arial"/>
              <a:ea typeface="Arial"/>
              <a:cs typeface="Arial"/>
              <a:sym typeface="Arial"/>
            </a:endParaRPr>
          </a:p>
          <a:p>
            <a:pPr indent="-330200" lvl="0" marL="914400" rtl="0" algn="l">
              <a:lnSpc>
                <a:spcPct val="100000"/>
              </a:lnSpc>
              <a:spcBef>
                <a:spcPts val="0"/>
              </a:spcBef>
              <a:spcAft>
                <a:spcPts val="0"/>
              </a:spcAft>
              <a:buSzPts val="1600"/>
              <a:buFont typeface="Arial"/>
              <a:buChar char="●"/>
            </a:pPr>
            <a:r>
              <a:rPr lang="en" sz="1100">
                <a:latin typeface="Arial"/>
                <a:ea typeface="Arial"/>
                <a:cs typeface="Arial"/>
                <a:sym typeface="Arial"/>
              </a:rPr>
              <a:t>It shows a server error or any error message that prevents the page from loading</a:t>
            </a:r>
            <a:endParaRPr sz="1100">
              <a:latin typeface="Arial"/>
              <a:ea typeface="Arial"/>
              <a:cs typeface="Arial"/>
              <a:sym typeface="Arial"/>
            </a:endParaRPr>
          </a:p>
          <a:p>
            <a:pPr indent="0" lvl="0" marL="0" rtl="0" algn="l">
              <a:lnSpc>
                <a:spcPct val="100000"/>
              </a:lnSpc>
              <a:spcBef>
                <a:spcPts val="1800"/>
              </a:spcBef>
              <a:spcAft>
                <a:spcPts val="0"/>
              </a:spcAft>
              <a:buNone/>
            </a:pPr>
            <a:r>
              <a:rPr lang="en" sz="1100">
                <a:latin typeface="Arial"/>
                <a:ea typeface="Arial"/>
                <a:cs typeface="Arial"/>
                <a:sym typeface="Arial"/>
              </a:rPr>
              <a:t>2. </a:t>
            </a:r>
            <a:r>
              <a:rPr b="1" lang="en" sz="1100">
                <a:latin typeface="Arial"/>
                <a:ea typeface="Arial"/>
                <a:cs typeface="Arial"/>
                <a:sym typeface="Arial"/>
              </a:rPr>
              <a:t>If a link opens a Google search page, is it broken?</a:t>
            </a:r>
            <a:endParaRPr b="1" sz="1100">
              <a:latin typeface="Arial"/>
              <a:ea typeface="Arial"/>
              <a:cs typeface="Arial"/>
              <a:sym typeface="Arial"/>
            </a:endParaRPr>
          </a:p>
          <a:p>
            <a:pPr indent="0" lvl="0" marL="457200" rtl="0" algn="l">
              <a:spcBef>
                <a:spcPts val="1800"/>
              </a:spcBef>
              <a:spcAft>
                <a:spcPts val="400"/>
              </a:spcAft>
              <a:buNone/>
            </a:pPr>
            <a:r>
              <a:rPr lang="en" sz="1100">
                <a:latin typeface="Arial"/>
                <a:ea typeface="Arial"/>
                <a:cs typeface="Arial"/>
                <a:sym typeface="Arial"/>
              </a:rPr>
              <a:t>No, not automatically. Here’s the exact logic: If clicking an embedded link opens a Google search page, and the actual URL appears in the search bar, then you must copy that URL and paste it directly into the browser. Example </a:t>
            </a:r>
            <a:r>
              <a:rPr lang="en" sz="1100" u="sng">
                <a:solidFill>
                  <a:schemeClr val="hlink"/>
                </a:solidFill>
                <a:latin typeface="Arial"/>
                <a:ea typeface="Arial"/>
                <a:cs typeface="Arial"/>
                <a:sym typeface="Arial"/>
                <a:hlinkClick r:id="rId3"/>
              </a:rPr>
              <a:t>link</a:t>
            </a:r>
            <a:r>
              <a:rPr lang="en" sz="1100">
                <a:latin typeface="Arial"/>
                <a:ea typeface="Arial"/>
                <a:cs typeface="Arial"/>
                <a:sym typeface="Arial"/>
              </a:rPr>
              <a:t>.</a:t>
            </a:r>
            <a:endParaRPr sz="1100">
              <a:latin typeface="Arial"/>
              <a:ea typeface="Arial"/>
              <a:cs typeface="Arial"/>
              <a:sym typeface="Arial"/>
            </a:endParaRPr>
          </a:p>
        </p:txBody>
      </p:sp>
      <p:pic>
        <p:nvPicPr>
          <p:cNvPr id="122" name="Google Shape;122;p22"/>
          <p:cNvPicPr preferRelativeResize="0"/>
          <p:nvPr/>
        </p:nvPicPr>
        <p:blipFill>
          <a:blip r:embed="rId4">
            <a:alphaModFix/>
          </a:blip>
          <a:stretch>
            <a:fillRect/>
          </a:stretch>
        </p:blipFill>
        <p:spPr>
          <a:xfrm>
            <a:off x="1024538" y="3255775"/>
            <a:ext cx="6849325" cy="17240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ph idx="1" type="body"/>
          </p:nvPr>
        </p:nvSpPr>
        <p:spPr>
          <a:xfrm>
            <a:off x="163918" y="163717"/>
            <a:ext cx="8520600" cy="4613700"/>
          </a:xfrm>
          <a:prstGeom prst="rect">
            <a:avLst/>
          </a:prstGeom>
        </p:spPr>
        <p:txBody>
          <a:bodyPr anchorCtr="0" anchor="t" bIns="91425" lIns="91425" spcFirstLastPara="1" rIns="91425" wrap="square" tIns="91425">
            <a:noAutofit/>
          </a:bodyPr>
          <a:lstStyle/>
          <a:p>
            <a:pPr indent="0" lvl="0" marL="457200" rtl="0" algn="l">
              <a:spcBef>
                <a:spcPts val="1800"/>
              </a:spcBef>
              <a:spcAft>
                <a:spcPts val="0"/>
              </a:spcAft>
              <a:buClr>
                <a:schemeClr val="dk2"/>
              </a:buClr>
              <a:buSzPts val="1100"/>
              <a:buFont typeface="Arial"/>
              <a:buNone/>
            </a:pPr>
            <a:r>
              <a:rPr lang="en" sz="1100">
                <a:latin typeface="Arial"/>
                <a:ea typeface="Arial"/>
                <a:cs typeface="Arial"/>
                <a:sym typeface="Arial"/>
              </a:rPr>
              <a:t>If that direct link:</a:t>
            </a:r>
            <a:endParaRPr sz="1100">
              <a:latin typeface="Arial"/>
              <a:ea typeface="Arial"/>
              <a:cs typeface="Arial"/>
              <a:sym typeface="Arial"/>
            </a:endParaRPr>
          </a:p>
          <a:p>
            <a:pPr indent="-330200" lvl="0" marL="914400" rtl="0" algn="l">
              <a:spcBef>
                <a:spcPts val="1800"/>
              </a:spcBef>
              <a:spcAft>
                <a:spcPts val="0"/>
              </a:spcAft>
              <a:buSzPts val="1600"/>
              <a:buFont typeface="Arial"/>
              <a:buChar char="●"/>
            </a:pPr>
            <a:r>
              <a:rPr lang="en" sz="1100">
                <a:latin typeface="Arial"/>
                <a:ea typeface="Arial"/>
                <a:cs typeface="Arial"/>
                <a:sym typeface="Arial"/>
              </a:rPr>
              <a:t>Loads successfully → the link is VALID</a:t>
            </a:r>
            <a:endParaRPr sz="1100">
              <a:latin typeface="Arial"/>
              <a:ea typeface="Arial"/>
              <a:cs typeface="Arial"/>
              <a:sym typeface="Arial"/>
            </a:endParaRPr>
          </a:p>
          <a:p>
            <a:pPr indent="-330200" lvl="0" marL="914400" rtl="0" algn="l">
              <a:spcBef>
                <a:spcPts val="0"/>
              </a:spcBef>
              <a:spcAft>
                <a:spcPts val="0"/>
              </a:spcAft>
              <a:buSzPts val="1600"/>
              <a:buFont typeface="Arial"/>
              <a:buChar char="●"/>
            </a:pPr>
            <a:r>
              <a:rPr lang="en" sz="1100">
                <a:latin typeface="Arial"/>
                <a:ea typeface="Arial"/>
                <a:cs typeface="Arial"/>
                <a:sym typeface="Arial"/>
              </a:rPr>
              <a:t>Shows 404 / error / does not load → the link is BROKEN</a:t>
            </a:r>
            <a:endParaRPr sz="1100">
              <a:latin typeface="Arial"/>
              <a:ea typeface="Arial"/>
              <a:cs typeface="Arial"/>
              <a:sym typeface="Arial"/>
            </a:endParaRPr>
          </a:p>
          <a:p>
            <a:pPr indent="457200" lvl="0" marL="0" rtl="0" algn="l">
              <a:spcBef>
                <a:spcPts val="1800"/>
              </a:spcBef>
              <a:spcAft>
                <a:spcPts val="0"/>
              </a:spcAft>
              <a:buNone/>
            </a:pPr>
            <a:r>
              <a:rPr lang="en" sz="1100">
                <a:latin typeface="Arial"/>
                <a:ea typeface="Arial"/>
                <a:cs typeface="Arial"/>
                <a:sym typeface="Arial"/>
              </a:rPr>
              <a:t>So yes, Google search result links can still be valid.</a:t>
            </a:r>
            <a:endParaRPr sz="1100">
              <a:latin typeface="Arial"/>
              <a:ea typeface="Arial"/>
              <a:cs typeface="Arial"/>
              <a:sym typeface="Arial"/>
            </a:endParaRPr>
          </a:p>
          <a:p>
            <a:pPr indent="0" lvl="0" marL="457200" rtl="0" algn="l">
              <a:spcBef>
                <a:spcPts val="1800"/>
              </a:spcBef>
              <a:spcAft>
                <a:spcPts val="0"/>
              </a:spcAft>
              <a:buNone/>
            </a:pPr>
            <a:r>
              <a:rPr b="1" lang="en" sz="1100">
                <a:latin typeface="Arial"/>
                <a:ea typeface="Arial"/>
                <a:cs typeface="Arial"/>
                <a:sym typeface="Arial"/>
              </a:rPr>
              <a:t>3. Are links that hit CAPTCHA or security pages broken</a:t>
            </a:r>
            <a:r>
              <a:rPr b="1" i="1" lang="en" sz="1100">
                <a:latin typeface="Arial"/>
                <a:ea typeface="Arial"/>
                <a:cs typeface="Arial"/>
                <a:sym typeface="Arial"/>
              </a:rPr>
              <a:t> (NOTE: This refers only to the link embedded in the model’s RESPONSE, not to screenshots showing CAPTCHA or security pages encountered by the model.)</a:t>
            </a:r>
            <a:r>
              <a:rPr b="1" lang="en" sz="1100">
                <a:latin typeface="Arial"/>
                <a:ea typeface="Arial"/>
                <a:cs typeface="Arial"/>
                <a:sym typeface="Arial"/>
              </a:rPr>
              <a:t>?</a:t>
            </a:r>
            <a:endParaRPr b="1" sz="1100">
              <a:latin typeface="Arial"/>
              <a:ea typeface="Arial"/>
              <a:cs typeface="Arial"/>
              <a:sym typeface="Arial"/>
            </a:endParaRPr>
          </a:p>
          <a:p>
            <a:pPr indent="0" lvl="0" marL="457200" rtl="0" algn="l">
              <a:spcBef>
                <a:spcPts val="1800"/>
              </a:spcBef>
              <a:spcAft>
                <a:spcPts val="0"/>
              </a:spcAft>
              <a:buNone/>
            </a:pPr>
            <a:r>
              <a:rPr lang="en" sz="1100">
                <a:latin typeface="Arial"/>
                <a:ea typeface="Arial"/>
                <a:cs typeface="Arial"/>
                <a:sym typeface="Arial"/>
              </a:rPr>
              <a:t>No. They are still considered valid. CAPTCHA or security checks are on the service provider side. If the page loads and works after solving CAPTCHA, the link is valid.</a:t>
            </a:r>
            <a:endParaRPr sz="1100">
              <a:latin typeface="Arial"/>
              <a:ea typeface="Arial"/>
              <a:cs typeface="Arial"/>
              <a:sym typeface="Arial"/>
            </a:endParaRPr>
          </a:p>
          <a:p>
            <a:pPr indent="0" lvl="0" marL="457200" rtl="0" algn="l">
              <a:spcBef>
                <a:spcPts val="1800"/>
              </a:spcBef>
              <a:spcAft>
                <a:spcPts val="0"/>
              </a:spcAft>
              <a:buNone/>
            </a:pPr>
            <a:r>
              <a:rPr lang="en" sz="1100">
                <a:latin typeface="Arial"/>
                <a:ea typeface="Arial"/>
                <a:cs typeface="Arial"/>
                <a:sym typeface="Arial"/>
              </a:rPr>
              <a:t>👉 Do NOT mark CAPTCHA/security-page links as broken or invalid</a:t>
            </a:r>
            <a:endParaRPr sz="1100">
              <a:latin typeface="Arial"/>
              <a:ea typeface="Arial"/>
              <a:cs typeface="Arial"/>
              <a:sym typeface="Arial"/>
            </a:endParaRPr>
          </a:p>
          <a:p>
            <a:pPr indent="0" lvl="0" marL="457200" rtl="0" algn="l">
              <a:spcBef>
                <a:spcPts val="1800"/>
              </a:spcBef>
              <a:spcAft>
                <a:spcPts val="0"/>
              </a:spcAft>
              <a:buNone/>
            </a:pPr>
            <a:r>
              <a:rPr lang="en" sz="1100">
                <a:latin typeface="Arial"/>
                <a:ea typeface="Arial"/>
                <a:cs typeface="Arial"/>
                <a:sym typeface="Arial"/>
              </a:rPr>
              <a:t>4. </a:t>
            </a:r>
            <a:r>
              <a:rPr b="1" lang="en" sz="1100">
                <a:solidFill>
                  <a:schemeClr val="accent1"/>
                </a:solidFill>
                <a:latin typeface="Arial"/>
                <a:ea typeface="Arial"/>
                <a:cs typeface="Arial"/>
                <a:sym typeface="Arial"/>
              </a:rPr>
              <a:t>5. </a:t>
            </a:r>
            <a:r>
              <a:rPr b="1" lang="en" sz="1100">
                <a:latin typeface="Arial"/>
                <a:ea typeface="Arial"/>
                <a:cs typeface="Arial"/>
                <a:sym typeface="Arial"/>
              </a:rPr>
              <a:t>What should you do if the response says:  </a:t>
            </a:r>
            <a:r>
              <a:rPr b="1" i="1" lang="en" sz="1100">
                <a:latin typeface="Arial"/>
                <a:ea typeface="Arial"/>
                <a:cs typeface="Arial"/>
                <a:sym typeface="Arial"/>
              </a:rPr>
              <a:t>“Note to rater: a shopping result is embedded here. Pretend the result is correctly inserted here.”</a:t>
            </a:r>
            <a:endParaRPr b="1" i="1" sz="1100">
              <a:latin typeface="Arial"/>
              <a:ea typeface="Arial"/>
              <a:cs typeface="Arial"/>
              <a:sym typeface="Arial"/>
            </a:endParaRPr>
          </a:p>
          <a:p>
            <a:pPr indent="457200" lvl="0" marL="0" rtl="0" algn="l">
              <a:spcBef>
                <a:spcPts val="1200"/>
              </a:spcBef>
              <a:spcAft>
                <a:spcPts val="1200"/>
              </a:spcAft>
              <a:buClr>
                <a:schemeClr val="dk2"/>
              </a:buClr>
              <a:buSzPts val="1100"/>
              <a:buFont typeface="Arial"/>
              <a:buNone/>
            </a:pPr>
            <a:r>
              <a:rPr lang="en" sz="1100">
                <a:latin typeface="Arial"/>
                <a:ea typeface="Arial"/>
                <a:cs typeface="Arial"/>
                <a:sym typeface="Arial"/>
              </a:rPr>
              <a:t>Assume the link is </a:t>
            </a:r>
            <a:r>
              <a:rPr b="1" lang="en" sz="1100">
                <a:latin typeface="Arial"/>
                <a:ea typeface="Arial"/>
                <a:cs typeface="Arial"/>
                <a:sym typeface="Arial"/>
              </a:rPr>
              <a:t>valid</a:t>
            </a:r>
            <a:r>
              <a:rPr lang="en" sz="1100">
                <a:latin typeface="Arial"/>
                <a:ea typeface="Arial"/>
                <a:cs typeface="Arial"/>
                <a:sym typeface="Arial"/>
              </a:rPr>
              <a:t> and continue evaluating the response as usual. This link should be marked as factually accurate.</a:t>
            </a:r>
            <a:endParaRPr sz="1100">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graphicFrame>
        <p:nvGraphicFramePr>
          <p:cNvPr id="132" name="Google Shape;132;p24"/>
          <p:cNvGraphicFramePr/>
          <p:nvPr/>
        </p:nvGraphicFramePr>
        <p:xfrm>
          <a:off x="152400" y="152400"/>
          <a:ext cx="3000000" cy="3000000"/>
        </p:xfrm>
        <a:graphic>
          <a:graphicData uri="http://schemas.openxmlformats.org/drawingml/2006/table">
            <a:tbl>
              <a:tblPr>
                <a:noFill/>
                <a:tableStyleId>{5230C135-8FFA-46E8-9505-8E11B717E18F}</a:tableStyleId>
              </a:tblPr>
              <a:tblGrid>
                <a:gridCol w="1381875"/>
                <a:gridCol w="3299350"/>
                <a:gridCol w="4059225"/>
              </a:tblGrid>
              <a:tr h="12700">
                <a:tc>
                  <a:txBody>
                    <a:bodyPr/>
                    <a:lstStyle/>
                    <a:p>
                      <a:pPr indent="0" lvl="0" marL="0" rtl="0" algn="ctr">
                        <a:lnSpc>
                          <a:spcPct val="115000"/>
                        </a:lnSpc>
                        <a:spcBef>
                          <a:spcPts val="0"/>
                        </a:spcBef>
                        <a:spcAft>
                          <a:spcPts val="0"/>
                        </a:spcAft>
                        <a:buNone/>
                      </a:pPr>
                      <a:r>
                        <a:rPr b="1" lang="en" sz="1100"/>
                        <a:t>Type of Link</a:t>
                      </a:r>
                      <a:endParaRPr sz="1100"/>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t>Definition</a:t>
                      </a:r>
                      <a:endParaRPr sz="1100"/>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100"/>
                        <a:t>Action to Take</a:t>
                      </a:r>
                      <a:endParaRPr sz="1100"/>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1193800">
                <a:tc>
                  <a:txBody>
                    <a:bodyPr/>
                    <a:lstStyle/>
                    <a:p>
                      <a:pPr indent="0" lvl="0" marL="0" rtl="0" algn="l">
                        <a:lnSpc>
                          <a:spcPct val="115000"/>
                        </a:lnSpc>
                        <a:spcBef>
                          <a:spcPts val="0"/>
                        </a:spcBef>
                        <a:spcAft>
                          <a:spcPts val="0"/>
                        </a:spcAft>
                        <a:buNone/>
                      </a:pPr>
                      <a:r>
                        <a:rPr lang="en" sz="1100"/>
                        <a:t>✅ </a:t>
                      </a:r>
                      <a:r>
                        <a:rPr b="1" lang="en" sz="1100"/>
                        <a:t>Valid Link</a:t>
                      </a:r>
                      <a:endParaRPr sz="1100"/>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t>The page loads successfully when clicked or when the embedded URL is copied and opened directly in the browser. This includes pages that show CAPTCHA or security checks that can be solved to access the content. </a:t>
                      </a:r>
                      <a:endParaRPr sz="1100"/>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t>👍 Do </a:t>
                      </a:r>
                      <a:r>
                        <a:rPr b="1" lang="en" sz="1100"/>
                        <a:t>not</a:t>
                      </a:r>
                      <a:r>
                        <a:rPr lang="en" sz="1100"/>
                        <a:t> penalize. Link is considered working and valid.</a:t>
                      </a:r>
                      <a:endParaRPr sz="1100"/>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850900">
                <a:tc>
                  <a:txBody>
                    <a:bodyPr/>
                    <a:lstStyle/>
                    <a:p>
                      <a:pPr indent="0" lvl="0" marL="0" rtl="0" algn="l">
                        <a:lnSpc>
                          <a:spcPct val="115000"/>
                        </a:lnSpc>
                        <a:spcBef>
                          <a:spcPts val="0"/>
                        </a:spcBef>
                        <a:spcAft>
                          <a:spcPts val="0"/>
                        </a:spcAft>
                        <a:buNone/>
                      </a:pPr>
                      <a:r>
                        <a:rPr lang="en" sz="1100"/>
                        <a:t>❌ </a:t>
                      </a:r>
                      <a:r>
                        <a:rPr b="1" lang="en" sz="1100"/>
                        <a:t>Broken / Invalid Link</a:t>
                      </a:r>
                      <a:endParaRPr sz="1100"/>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t>The link does not load at all or shows an error message such as </a:t>
                      </a:r>
                      <a:r>
                        <a:rPr b="1" lang="en" sz="1100"/>
                        <a:t>404 / Page Not Found</a:t>
                      </a:r>
                      <a:r>
                        <a:rPr lang="en" sz="1100"/>
                        <a:t>, server error, or any message indicating the page is unavailable.</a:t>
                      </a:r>
                      <a:endParaRPr sz="1100"/>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t>⚠️ </a:t>
                      </a:r>
                      <a:r>
                        <a:rPr b="1" lang="en" sz="1100"/>
                        <a:t>Penalize under AI Performance</a:t>
                      </a:r>
                      <a:r>
                        <a:rPr lang="en" sz="1100"/>
                        <a:t>, regardless of relevance or user intent.</a:t>
                      </a:r>
                      <a:endParaRPr sz="1100"/>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1022350">
                <a:tc>
                  <a:txBody>
                    <a:bodyPr/>
                    <a:lstStyle/>
                    <a:p>
                      <a:pPr indent="0" lvl="0" marL="0" rtl="0" algn="l">
                        <a:lnSpc>
                          <a:spcPct val="115000"/>
                        </a:lnSpc>
                        <a:spcBef>
                          <a:spcPts val="0"/>
                        </a:spcBef>
                        <a:spcAft>
                          <a:spcPts val="0"/>
                        </a:spcAft>
                        <a:buNone/>
                      </a:pPr>
                      <a:r>
                        <a:rPr lang="en" sz="1100"/>
                        <a:t>🔍 </a:t>
                      </a:r>
                      <a:r>
                        <a:rPr b="1" lang="en" sz="1100"/>
                        <a:t>Google Search Redirect Link</a:t>
                      </a:r>
                      <a:endParaRPr sz="1100"/>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t>Clicking the embedded link opens a Google search page, but the actual URL appears in the browser search bar. If that URL loads successfully when opened directly, the link is valid.</a:t>
                      </a:r>
                      <a:endParaRPr sz="1100"/>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t>📋 Copy the URL and test it directly.</a:t>
                      </a:r>
                      <a:endParaRPr sz="1100"/>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rPr lang="en" sz="1100"/>
                        <a:t>If it loads → ✅ Valid. </a:t>
                      </a:r>
                      <a:endParaRPr sz="1100"/>
                    </a:p>
                    <a:p>
                      <a:pPr indent="0" lvl="0" marL="0" rtl="0" algn="l">
                        <a:lnSpc>
                          <a:spcPct val="115000"/>
                        </a:lnSpc>
                        <a:spcBef>
                          <a:spcPts val="0"/>
                        </a:spcBef>
                        <a:spcAft>
                          <a:spcPts val="0"/>
                        </a:spcAft>
                        <a:buNone/>
                      </a:pPr>
                      <a:r>
                        <a:rPr lang="en" sz="1100"/>
                        <a:t>If it errors → ❌ Broken / Invalid.</a:t>
                      </a:r>
                      <a:endParaRPr sz="1100"/>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850900">
                <a:tc>
                  <a:txBody>
                    <a:bodyPr/>
                    <a:lstStyle/>
                    <a:p>
                      <a:pPr indent="0" lvl="0" marL="0" rtl="0" algn="l">
                        <a:lnSpc>
                          <a:spcPct val="115000"/>
                        </a:lnSpc>
                        <a:spcBef>
                          <a:spcPts val="0"/>
                        </a:spcBef>
                        <a:spcAft>
                          <a:spcPts val="0"/>
                        </a:spcAft>
                        <a:buNone/>
                      </a:pPr>
                      <a:r>
                        <a:rPr lang="en" sz="1100"/>
                        <a:t>🎯 </a:t>
                      </a:r>
                      <a:r>
                        <a:rPr b="1" lang="en" sz="1100"/>
                        <a:t>Inaccurate Link</a:t>
                      </a:r>
                      <a:endParaRPr sz="1100"/>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t>The link works but does </a:t>
                      </a:r>
                      <a:r>
                        <a:rPr b="1" lang="en" sz="1100"/>
                        <a:t>not</a:t>
                      </a:r>
                      <a:r>
                        <a:rPr lang="en" sz="1100"/>
                        <a:t> point to the correct or specific content required by the prompt (for example, linking to a homepage instead of a requested product page).</a:t>
                      </a:r>
                      <a:endParaRPr sz="1100"/>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t>🧾 </a:t>
                      </a:r>
                      <a:r>
                        <a:rPr b="1" lang="en" sz="1100"/>
                        <a:t>Penalize under Factual Accuracy</a:t>
                      </a:r>
                      <a:r>
                        <a:rPr lang="en" sz="1100"/>
                        <a:t>.</a:t>
                      </a:r>
                      <a:endParaRPr sz="1100"/>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r h="879475">
                <a:tc>
                  <a:txBody>
                    <a:bodyPr/>
                    <a:lstStyle/>
                    <a:p>
                      <a:pPr indent="0" lvl="0" marL="0" rtl="0" algn="l">
                        <a:lnSpc>
                          <a:spcPct val="115000"/>
                        </a:lnSpc>
                        <a:spcBef>
                          <a:spcPts val="0"/>
                        </a:spcBef>
                        <a:spcAft>
                          <a:spcPts val="0"/>
                        </a:spcAft>
                        <a:buNone/>
                      </a:pPr>
                      <a:r>
                        <a:rPr lang="en" sz="1100"/>
                        <a:t>🚫 </a:t>
                      </a:r>
                      <a:r>
                        <a:rPr b="1" lang="en" sz="1100"/>
                        <a:t>User -Requested Link (Broken or Inaccurate)</a:t>
                      </a:r>
                      <a:endParaRPr sz="1100"/>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t>The user explicitly asks for a link, and the provided link is either broken/invalid or inaccurate.</a:t>
                      </a:r>
                      <a:endParaRPr sz="1100"/>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t>📉 </a:t>
                      </a:r>
                      <a:r>
                        <a:rPr b="1" lang="en" sz="1100"/>
                        <a:t>Penalize under Task Completion</a:t>
                      </a:r>
                      <a:r>
                        <a:rPr lang="en" sz="1100"/>
                        <a:t>, since the user intent is not fulfilled.</a:t>
                      </a:r>
                      <a:endParaRPr sz="1100"/>
                    </a:p>
                  </a:txBody>
                  <a:tcPr marT="63500" marB="63500" marR="63500" marL="63500">
                    <a:lnL cap="flat" cmpd="sng">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5"/>
          <p:cNvSpPr txBox="1"/>
          <p:nvPr>
            <p:ph type="title"/>
          </p:nvPr>
        </p:nvSpPr>
        <p:spPr>
          <a:xfrm>
            <a:off x="265500" y="1818600"/>
            <a:ext cx="4045200" cy="1506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Claim Labels</a:t>
            </a:r>
            <a:endParaRPr/>
          </a:p>
        </p:txBody>
      </p:sp>
      <p:sp>
        <p:nvSpPr>
          <p:cNvPr id="138" name="Google Shape;138;p25"/>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42900" lvl="0" marL="457200" rtl="0" algn="l">
              <a:lnSpc>
                <a:spcPct val="200000"/>
              </a:lnSpc>
              <a:spcBef>
                <a:spcPts val="0"/>
              </a:spcBef>
              <a:spcAft>
                <a:spcPts val="0"/>
              </a:spcAft>
              <a:buSzPts val="1800"/>
              <a:buChar char="●"/>
            </a:pPr>
            <a:r>
              <a:rPr lang="en"/>
              <a:t>Inaccurate</a:t>
            </a:r>
            <a:endParaRPr/>
          </a:p>
          <a:p>
            <a:pPr indent="-342900" lvl="0" marL="457200" rtl="0" algn="l">
              <a:lnSpc>
                <a:spcPct val="200000"/>
              </a:lnSpc>
              <a:spcBef>
                <a:spcPts val="0"/>
              </a:spcBef>
              <a:spcAft>
                <a:spcPts val="0"/>
              </a:spcAft>
              <a:buSzPts val="1800"/>
              <a:buChar char="●"/>
            </a:pPr>
            <a:r>
              <a:rPr lang="en"/>
              <a:t>Unsupported</a:t>
            </a:r>
            <a:endParaRPr/>
          </a:p>
          <a:p>
            <a:pPr indent="-342900" lvl="0" marL="457200" rtl="0" algn="l">
              <a:lnSpc>
                <a:spcPct val="200000"/>
              </a:lnSpc>
              <a:spcBef>
                <a:spcPts val="0"/>
              </a:spcBef>
              <a:spcAft>
                <a:spcPts val="0"/>
              </a:spcAft>
              <a:buSzPts val="1800"/>
              <a:buChar char="●"/>
            </a:pPr>
            <a:r>
              <a:rPr lang="en"/>
              <a:t>Disputed</a:t>
            </a:r>
            <a:endParaRPr/>
          </a:p>
          <a:p>
            <a:pPr indent="-342900" lvl="0" marL="457200" rtl="0" algn="l">
              <a:lnSpc>
                <a:spcPct val="200000"/>
              </a:lnSpc>
              <a:spcBef>
                <a:spcPts val="0"/>
              </a:spcBef>
              <a:spcAft>
                <a:spcPts val="0"/>
              </a:spcAft>
              <a:buSzPts val="1800"/>
              <a:buChar char="●"/>
            </a:pPr>
            <a:r>
              <a:rPr lang="en"/>
              <a:t>Accurate</a:t>
            </a:r>
            <a:endParaRPr/>
          </a:p>
          <a:p>
            <a:pPr indent="-342900" lvl="0" marL="457200" rtl="0" algn="l">
              <a:lnSpc>
                <a:spcPct val="200000"/>
              </a:lnSpc>
              <a:spcBef>
                <a:spcPts val="0"/>
              </a:spcBef>
              <a:spcAft>
                <a:spcPts val="0"/>
              </a:spcAft>
              <a:buSzPts val="1800"/>
              <a:buChar char="●"/>
            </a:pPr>
            <a:r>
              <a:rPr lang="en"/>
              <a:t>Can't confidently assess</a:t>
            </a:r>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graphicFrame>
        <p:nvGraphicFramePr>
          <p:cNvPr id="143" name="Google Shape;143;p26"/>
          <p:cNvGraphicFramePr/>
          <p:nvPr/>
        </p:nvGraphicFramePr>
        <p:xfrm>
          <a:off x="85725" y="548075"/>
          <a:ext cx="3000000" cy="3000000"/>
        </p:xfrm>
        <a:graphic>
          <a:graphicData uri="http://schemas.openxmlformats.org/drawingml/2006/table">
            <a:tbl>
              <a:tblPr>
                <a:noFill/>
                <a:tableStyleId>{61091187-3D30-4718-AFDF-F101C7E348BA}</a:tableStyleId>
              </a:tblPr>
              <a:tblGrid>
                <a:gridCol w="1295400"/>
                <a:gridCol w="3362325"/>
                <a:gridCol w="2209800"/>
                <a:gridCol w="2190750"/>
              </a:tblGrid>
              <a:tr h="190500">
                <a:tc>
                  <a:txBody>
                    <a:bodyPr/>
                    <a:lstStyle/>
                    <a:p>
                      <a:pPr indent="0" lvl="0" marL="0" rtl="0" algn="ctr">
                        <a:lnSpc>
                          <a:spcPct val="115000"/>
                        </a:lnSpc>
                        <a:spcBef>
                          <a:spcPts val="0"/>
                        </a:spcBef>
                        <a:spcAft>
                          <a:spcPts val="0"/>
                        </a:spcAft>
                        <a:buNone/>
                      </a:pPr>
                      <a:r>
                        <a:rPr b="1" lang="en" sz="1100" u="sng"/>
                        <a:t>Claim Label</a:t>
                      </a:r>
                      <a:endParaRPr b="1" sz="1100" u="sng"/>
                    </a:p>
                  </a:txBody>
                  <a:tcPr marT="91425" marB="91425" marR="91425" marL="91425"/>
                </a:tc>
                <a:tc>
                  <a:txBody>
                    <a:bodyPr/>
                    <a:lstStyle/>
                    <a:p>
                      <a:pPr indent="0" lvl="0" marL="0" rtl="0" algn="ctr">
                        <a:lnSpc>
                          <a:spcPct val="115000"/>
                        </a:lnSpc>
                        <a:spcBef>
                          <a:spcPts val="0"/>
                        </a:spcBef>
                        <a:spcAft>
                          <a:spcPts val="0"/>
                        </a:spcAft>
                        <a:buNone/>
                      </a:pPr>
                      <a:r>
                        <a:rPr b="1" lang="en" sz="1100" u="sng"/>
                        <a:t>Definition</a:t>
                      </a:r>
                      <a:endParaRPr b="1" sz="1100" u="sng"/>
                    </a:p>
                  </a:txBody>
                  <a:tcPr marT="91425" marB="91425" marR="91425" marL="91425"/>
                </a:tc>
                <a:tc>
                  <a:txBody>
                    <a:bodyPr/>
                    <a:lstStyle/>
                    <a:p>
                      <a:pPr indent="0" lvl="0" marL="0" rtl="0" algn="ctr">
                        <a:lnSpc>
                          <a:spcPct val="115000"/>
                        </a:lnSpc>
                        <a:spcBef>
                          <a:spcPts val="0"/>
                        </a:spcBef>
                        <a:spcAft>
                          <a:spcPts val="0"/>
                        </a:spcAft>
                        <a:buNone/>
                      </a:pPr>
                      <a:r>
                        <a:rPr b="1" lang="en" sz="1100" u="sng"/>
                        <a:t>Example Claim</a:t>
                      </a:r>
                      <a:endParaRPr b="1" sz="1100" u="sng"/>
                    </a:p>
                  </a:txBody>
                  <a:tcPr marT="91425" marB="91425" marR="91425" marL="91425"/>
                </a:tc>
                <a:tc>
                  <a:txBody>
                    <a:bodyPr/>
                    <a:lstStyle/>
                    <a:p>
                      <a:pPr indent="0" lvl="0" marL="0" rtl="0" algn="ctr">
                        <a:lnSpc>
                          <a:spcPct val="115000"/>
                        </a:lnSpc>
                        <a:spcBef>
                          <a:spcPts val="0"/>
                        </a:spcBef>
                        <a:spcAft>
                          <a:spcPts val="0"/>
                        </a:spcAft>
                        <a:buNone/>
                      </a:pPr>
                      <a:r>
                        <a:rPr b="1" lang="en" sz="1100" u="sng"/>
                        <a:t>Why This Label Applies</a:t>
                      </a:r>
                      <a:endParaRPr b="1" sz="1100" u="sng"/>
                    </a:p>
                  </a:txBody>
                  <a:tcPr marT="91425" marB="91425" marR="91425" marL="91425"/>
                </a:tc>
              </a:tr>
              <a:tr h="371475">
                <a:tc>
                  <a:txBody>
                    <a:bodyPr/>
                    <a:lstStyle/>
                    <a:p>
                      <a:pPr indent="0" lvl="0" marL="0" rtl="0" algn="l">
                        <a:spcBef>
                          <a:spcPts val="0"/>
                        </a:spcBef>
                        <a:spcAft>
                          <a:spcPts val="0"/>
                        </a:spcAft>
                        <a:buNone/>
                      </a:pPr>
                      <a:r>
                        <a:rPr b="1" lang="en" sz="1100"/>
                        <a:t>Accurate</a:t>
                      </a:r>
                      <a:endParaRPr b="1" sz="1100"/>
                    </a:p>
                  </a:txBody>
                  <a:tcPr marT="91425" marB="91425" marR="91425" marL="91425"/>
                </a:tc>
                <a:tc>
                  <a:txBody>
                    <a:bodyPr/>
                    <a:lstStyle/>
                    <a:p>
                      <a:pPr indent="0" lvl="0" marL="0" rtl="0" algn="l">
                        <a:spcBef>
                          <a:spcPts val="0"/>
                        </a:spcBef>
                        <a:spcAft>
                          <a:spcPts val="0"/>
                        </a:spcAft>
                        <a:buNone/>
                      </a:pPr>
                      <a:r>
                        <a:rPr lang="en"/>
                        <a:t>Objective claim that is verifiable and supported by reputable evidence</a:t>
                      </a:r>
                      <a:endParaRPr/>
                    </a:p>
                  </a:txBody>
                  <a:tcPr marT="91425" marB="91425" marR="91425" marL="91425"/>
                </a:tc>
                <a:tc>
                  <a:txBody>
                    <a:bodyPr/>
                    <a:lstStyle/>
                    <a:p>
                      <a:pPr indent="0" lvl="0" marL="0" rtl="0" algn="l">
                        <a:spcBef>
                          <a:spcPts val="0"/>
                        </a:spcBef>
                        <a:spcAft>
                          <a:spcPts val="0"/>
                        </a:spcAft>
                        <a:buNone/>
                      </a:pPr>
                      <a:r>
                        <a:rPr lang="en"/>
                        <a:t>“Python was released in 1991.”</a:t>
                      </a:r>
                      <a:endParaRPr/>
                    </a:p>
                  </a:txBody>
                  <a:tcPr marT="91425" marB="91425" marR="91425" marL="91425"/>
                </a:tc>
                <a:tc>
                  <a:txBody>
                    <a:bodyPr/>
                    <a:lstStyle/>
                    <a:p>
                      <a:pPr indent="0" lvl="0" marL="0" rtl="0" algn="l">
                        <a:spcBef>
                          <a:spcPts val="0"/>
                        </a:spcBef>
                        <a:spcAft>
                          <a:spcPts val="0"/>
                        </a:spcAft>
                        <a:buNone/>
                      </a:pPr>
                      <a:r>
                        <a:rPr lang="en"/>
                        <a:t>Multiple authoritative sources confirm the release year</a:t>
                      </a:r>
                      <a:endParaRPr/>
                    </a:p>
                  </a:txBody>
                  <a:tcPr marT="91425" marB="91425" marR="91425" marL="91425"/>
                </a:tc>
              </a:tr>
              <a:tr h="371475">
                <a:tc>
                  <a:txBody>
                    <a:bodyPr/>
                    <a:lstStyle/>
                    <a:p>
                      <a:pPr indent="0" lvl="0" marL="0" rtl="0" algn="l">
                        <a:spcBef>
                          <a:spcPts val="0"/>
                        </a:spcBef>
                        <a:spcAft>
                          <a:spcPts val="0"/>
                        </a:spcAft>
                        <a:buNone/>
                      </a:pPr>
                      <a:r>
                        <a:rPr b="1" lang="en" sz="1100"/>
                        <a:t>Inaccurate</a:t>
                      </a:r>
                      <a:endParaRPr b="1" sz="1100"/>
                    </a:p>
                  </a:txBody>
                  <a:tcPr marT="91425" marB="91425" marR="91425" marL="91425"/>
                </a:tc>
                <a:tc>
                  <a:txBody>
                    <a:bodyPr/>
                    <a:lstStyle/>
                    <a:p>
                      <a:pPr indent="0" lvl="0" marL="0" rtl="0" algn="l">
                        <a:spcBef>
                          <a:spcPts val="0"/>
                        </a:spcBef>
                        <a:spcAft>
                          <a:spcPts val="0"/>
                        </a:spcAft>
                        <a:buNone/>
                      </a:pPr>
                      <a:r>
                        <a:rPr lang="en"/>
                        <a:t>Objective claim that is verifiable and proven false by reliable evidence</a:t>
                      </a:r>
                      <a:endParaRPr/>
                    </a:p>
                  </a:txBody>
                  <a:tcPr marT="91425" marB="91425" marR="91425" marL="91425"/>
                </a:tc>
                <a:tc>
                  <a:txBody>
                    <a:bodyPr/>
                    <a:lstStyle/>
                    <a:p>
                      <a:pPr indent="0" lvl="0" marL="0" rtl="0" algn="l">
                        <a:spcBef>
                          <a:spcPts val="0"/>
                        </a:spcBef>
                        <a:spcAft>
                          <a:spcPts val="0"/>
                        </a:spcAft>
                        <a:buNone/>
                      </a:pPr>
                      <a:r>
                        <a:rPr lang="en"/>
                        <a:t>“Python was released in 2005.”</a:t>
                      </a:r>
                      <a:endParaRPr/>
                    </a:p>
                  </a:txBody>
                  <a:tcPr marT="91425" marB="91425" marR="91425" marL="91425"/>
                </a:tc>
                <a:tc>
                  <a:txBody>
                    <a:bodyPr/>
                    <a:lstStyle/>
                    <a:p>
                      <a:pPr indent="0" lvl="0" marL="0" rtl="0" algn="l">
                        <a:spcBef>
                          <a:spcPts val="0"/>
                        </a:spcBef>
                        <a:spcAft>
                          <a:spcPts val="0"/>
                        </a:spcAft>
                        <a:buNone/>
                      </a:pPr>
                      <a:r>
                        <a:rPr lang="en"/>
                        <a:t>Credible sources show the release year is 1991</a:t>
                      </a:r>
                      <a:endParaRPr/>
                    </a:p>
                  </a:txBody>
                  <a:tcPr marT="91425" marB="91425" marR="91425" marL="91425"/>
                </a:tc>
              </a:tr>
              <a:tr h="371475">
                <a:tc>
                  <a:txBody>
                    <a:bodyPr/>
                    <a:lstStyle/>
                    <a:p>
                      <a:pPr indent="0" lvl="0" marL="0" rtl="0" algn="l">
                        <a:spcBef>
                          <a:spcPts val="0"/>
                        </a:spcBef>
                        <a:spcAft>
                          <a:spcPts val="0"/>
                        </a:spcAft>
                        <a:buNone/>
                      </a:pPr>
                      <a:r>
                        <a:rPr b="1" lang="en" sz="1100"/>
                        <a:t>Disputed</a:t>
                      </a:r>
                      <a:endParaRPr b="1" sz="1100"/>
                    </a:p>
                  </a:txBody>
                  <a:tcPr marT="91425" marB="91425" marR="91425" marL="91425"/>
                </a:tc>
                <a:tc>
                  <a:txBody>
                    <a:bodyPr/>
                    <a:lstStyle/>
                    <a:p>
                      <a:pPr indent="0" lvl="0" marL="0" rtl="0" algn="l">
                        <a:spcBef>
                          <a:spcPts val="0"/>
                        </a:spcBef>
                        <a:spcAft>
                          <a:spcPts val="0"/>
                        </a:spcAft>
                        <a:buNone/>
                      </a:pPr>
                      <a:r>
                        <a:rPr lang="en"/>
                        <a:t>Objective claim where reputable sources disagree and no single accepted truth exists</a:t>
                      </a:r>
                      <a:endParaRPr/>
                    </a:p>
                  </a:txBody>
                  <a:tcPr marT="91425" marB="91425" marR="91425" marL="91425"/>
                </a:tc>
                <a:tc>
                  <a:txBody>
                    <a:bodyPr/>
                    <a:lstStyle/>
                    <a:p>
                      <a:pPr indent="0" lvl="0" marL="0" rtl="0" algn="l">
                        <a:spcBef>
                          <a:spcPts val="0"/>
                        </a:spcBef>
                        <a:spcAft>
                          <a:spcPts val="0"/>
                        </a:spcAft>
                        <a:buNone/>
                      </a:pPr>
                      <a:r>
                        <a:rPr lang="en"/>
                        <a:t>“The Amazon River is the longest river in the world.”</a:t>
                      </a:r>
                      <a:endParaRPr/>
                    </a:p>
                  </a:txBody>
                  <a:tcPr marT="91425" marB="91425" marR="91425" marL="91425"/>
                </a:tc>
                <a:tc>
                  <a:txBody>
                    <a:bodyPr/>
                    <a:lstStyle/>
                    <a:p>
                      <a:pPr indent="0" lvl="0" marL="0" rtl="0" algn="l">
                        <a:spcBef>
                          <a:spcPts val="0"/>
                        </a:spcBef>
                        <a:spcAft>
                          <a:spcPts val="0"/>
                        </a:spcAft>
                        <a:buNone/>
                      </a:pPr>
                      <a:r>
                        <a:rPr lang="en"/>
                        <a:t>Different sources rank the Amazon or Nile as longest</a:t>
                      </a:r>
                      <a:endParaRPr/>
                    </a:p>
                  </a:txBody>
                  <a:tcPr marT="91425" marB="91425" marR="91425" marL="91425"/>
                </a:tc>
              </a:tr>
              <a:tr h="371475">
                <a:tc>
                  <a:txBody>
                    <a:bodyPr/>
                    <a:lstStyle/>
                    <a:p>
                      <a:pPr indent="0" lvl="0" marL="0" rtl="0" algn="l">
                        <a:spcBef>
                          <a:spcPts val="0"/>
                        </a:spcBef>
                        <a:spcAft>
                          <a:spcPts val="0"/>
                        </a:spcAft>
                        <a:buNone/>
                      </a:pPr>
                      <a:r>
                        <a:rPr b="1" lang="en" sz="1100"/>
                        <a:t>Unsupported</a:t>
                      </a:r>
                      <a:endParaRPr b="1" sz="1100"/>
                    </a:p>
                  </a:txBody>
                  <a:tcPr marT="91425" marB="91425" marR="91425" marL="91425"/>
                </a:tc>
                <a:tc>
                  <a:txBody>
                    <a:bodyPr/>
                    <a:lstStyle/>
                    <a:p>
                      <a:pPr indent="0" lvl="0" marL="0" rtl="0" algn="l">
                        <a:spcBef>
                          <a:spcPts val="0"/>
                        </a:spcBef>
                        <a:spcAft>
                          <a:spcPts val="0"/>
                        </a:spcAft>
                        <a:buNone/>
                      </a:pPr>
                      <a:r>
                        <a:rPr lang="en"/>
                        <a:t>Objective claim that could be verified, but no reliable evidence supports it</a:t>
                      </a:r>
                      <a:endParaRPr/>
                    </a:p>
                  </a:txBody>
                  <a:tcPr marT="91425" marB="91425" marR="91425" marL="91425"/>
                </a:tc>
                <a:tc>
                  <a:txBody>
                    <a:bodyPr/>
                    <a:lstStyle/>
                    <a:p>
                      <a:pPr indent="0" lvl="0" marL="0" rtl="0" algn="l">
                        <a:spcBef>
                          <a:spcPts val="0"/>
                        </a:spcBef>
                        <a:spcAft>
                          <a:spcPts val="0"/>
                        </a:spcAft>
                        <a:buNone/>
                      </a:pPr>
                      <a:r>
                        <a:rPr lang="en"/>
                        <a:t>“The update reduced system errors by 40%.”</a:t>
                      </a:r>
                      <a:endParaRPr/>
                    </a:p>
                  </a:txBody>
                  <a:tcPr marT="91425" marB="91425" marR="91425" marL="91425"/>
                </a:tc>
                <a:tc>
                  <a:txBody>
                    <a:bodyPr/>
                    <a:lstStyle/>
                    <a:p>
                      <a:pPr indent="0" lvl="0" marL="0" rtl="0" algn="l">
                        <a:spcBef>
                          <a:spcPts val="0"/>
                        </a:spcBef>
                        <a:spcAft>
                          <a:spcPts val="0"/>
                        </a:spcAft>
                        <a:buNone/>
                      </a:pPr>
                      <a:r>
                        <a:rPr lang="en"/>
                        <a:t>No data or credible sources back the percentage</a:t>
                      </a:r>
                      <a:endParaRPr/>
                    </a:p>
                  </a:txBody>
                  <a:tcPr marT="91425" marB="91425" marR="91425" marL="91425"/>
                </a:tc>
              </a:tr>
              <a:tr h="371475">
                <a:tc>
                  <a:txBody>
                    <a:bodyPr/>
                    <a:lstStyle/>
                    <a:p>
                      <a:pPr indent="0" lvl="0" marL="0" rtl="0" algn="l">
                        <a:spcBef>
                          <a:spcPts val="0"/>
                        </a:spcBef>
                        <a:spcAft>
                          <a:spcPts val="0"/>
                        </a:spcAft>
                        <a:buNone/>
                      </a:pPr>
                      <a:r>
                        <a:rPr b="1" lang="en" sz="1100"/>
                        <a:t>Can’t Confidently Assess</a:t>
                      </a:r>
                      <a:endParaRPr b="1" sz="1100"/>
                    </a:p>
                  </a:txBody>
                  <a:tcPr marT="91425" marB="91425" marR="91425" marL="91425"/>
                </a:tc>
                <a:tc>
                  <a:txBody>
                    <a:bodyPr/>
                    <a:lstStyle/>
                    <a:p>
                      <a:pPr indent="0" lvl="0" marL="0" rtl="0" algn="l">
                        <a:spcBef>
                          <a:spcPts val="0"/>
                        </a:spcBef>
                        <a:spcAft>
                          <a:spcPts val="0"/>
                        </a:spcAft>
                        <a:buNone/>
                      </a:pPr>
                      <a:r>
                        <a:rPr lang="en"/>
                        <a:t>Claim cannot be independently verified due to private, inaccessible, or missing evidence</a:t>
                      </a:r>
                      <a:endParaRPr/>
                    </a:p>
                  </a:txBody>
                  <a:tcPr marT="91425" marB="91425" marR="91425" marL="91425"/>
                </a:tc>
                <a:tc>
                  <a:txBody>
                    <a:bodyPr/>
                    <a:lstStyle/>
                    <a:p>
                      <a:pPr indent="0" lvl="0" marL="0" rtl="0" algn="l">
                        <a:spcBef>
                          <a:spcPts val="0"/>
                        </a:spcBef>
                        <a:spcAft>
                          <a:spcPts val="0"/>
                        </a:spcAft>
                        <a:buNone/>
                      </a:pPr>
                      <a:r>
                        <a:rPr lang="en"/>
                        <a:t>“My private dashboard shows the task was completed.”</a:t>
                      </a:r>
                      <a:endParaRPr/>
                    </a:p>
                  </a:txBody>
                  <a:tcPr marT="91425" marB="91425" marR="91425" marL="91425"/>
                </a:tc>
                <a:tc>
                  <a:txBody>
                    <a:bodyPr/>
                    <a:lstStyle/>
                    <a:p>
                      <a:pPr indent="0" lvl="0" marL="0" rtl="0" algn="l">
                        <a:spcBef>
                          <a:spcPts val="0"/>
                        </a:spcBef>
                        <a:spcAft>
                          <a:spcPts val="0"/>
                        </a:spcAft>
                        <a:buNone/>
                      </a:pPr>
                      <a:r>
                        <a:rPr lang="en"/>
                        <a:t>Evidence exists but is not accessible to the evaluator</a:t>
                      </a:r>
                      <a:endParaRPr/>
                    </a:p>
                  </a:txBody>
                  <a:tcPr marT="91425" marB="91425" marR="91425" marL="91425"/>
                </a:tc>
              </a:tr>
            </a:tbl>
          </a:graphicData>
        </a:graphic>
      </p:graphicFrame>
      <p:sp>
        <p:nvSpPr>
          <p:cNvPr id="144" name="Google Shape;144;p26"/>
          <p:cNvSpPr txBox="1"/>
          <p:nvPr/>
        </p:nvSpPr>
        <p:spPr>
          <a:xfrm>
            <a:off x="3237657" y="14787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highlight>
                  <a:srgbClr val="FFD966"/>
                </a:highlight>
              </a:rPr>
              <a:t>Claim Labels and Definitions</a:t>
            </a:r>
            <a:endParaRPr b="1">
              <a:highlight>
                <a:srgbClr val="FFD966"/>
              </a:high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7"/>
          <p:cNvSpPr txBox="1"/>
          <p:nvPr>
            <p:ph type="title"/>
          </p:nvPr>
        </p:nvSpPr>
        <p:spPr>
          <a:xfrm>
            <a:off x="311700" y="63014"/>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Edge Cases: Cannot </a:t>
            </a:r>
            <a:r>
              <a:rPr lang="en" sz="2000"/>
              <a:t>Confidently</a:t>
            </a:r>
            <a:r>
              <a:rPr lang="en" sz="2000"/>
              <a:t> Assess</a:t>
            </a:r>
            <a:endParaRPr sz="2000"/>
          </a:p>
        </p:txBody>
      </p:sp>
      <p:pic>
        <p:nvPicPr>
          <p:cNvPr id="150" name="Google Shape;150;p27"/>
          <p:cNvPicPr preferRelativeResize="0"/>
          <p:nvPr/>
        </p:nvPicPr>
        <p:blipFill>
          <a:blip r:embed="rId3">
            <a:alphaModFix/>
          </a:blip>
          <a:stretch>
            <a:fillRect/>
          </a:stretch>
        </p:blipFill>
        <p:spPr>
          <a:xfrm>
            <a:off x="6838875" y="3305575"/>
            <a:ext cx="2076525" cy="1609324"/>
          </a:xfrm>
          <a:prstGeom prst="rect">
            <a:avLst/>
          </a:prstGeom>
          <a:noFill/>
          <a:ln>
            <a:noFill/>
          </a:ln>
        </p:spPr>
      </p:pic>
      <p:sp>
        <p:nvSpPr>
          <p:cNvPr id="151" name="Google Shape;151;p27"/>
          <p:cNvSpPr txBox="1"/>
          <p:nvPr>
            <p:ph idx="1" type="body"/>
          </p:nvPr>
        </p:nvSpPr>
        <p:spPr>
          <a:xfrm>
            <a:off x="450439" y="540218"/>
            <a:ext cx="8520600" cy="41472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2"/>
              </a:buClr>
              <a:buSzPts val="1100"/>
              <a:buFont typeface="Arial"/>
              <a:buNone/>
            </a:pPr>
            <a:r>
              <a:rPr b="1" lang="en" sz="1300">
                <a:latin typeface="Arial"/>
                <a:ea typeface="Arial"/>
                <a:cs typeface="Arial"/>
                <a:sym typeface="Arial"/>
              </a:rPr>
              <a:t>1. Subjective-Only Responses</a:t>
            </a:r>
            <a:endParaRPr b="1" sz="1300">
              <a:latin typeface="Arial"/>
              <a:ea typeface="Arial"/>
              <a:cs typeface="Arial"/>
              <a:sym typeface="Arial"/>
            </a:endParaRPr>
          </a:p>
          <a:p>
            <a:pPr indent="0" lvl="0" marL="0" rtl="0" algn="l">
              <a:spcBef>
                <a:spcPts val="1200"/>
              </a:spcBef>
              <a:spcAft>
                <a:spcPts val="0"/>
              </a:spcAft>
              <a:buClr>
                <a:schemeClr val="dk2"/>
              </a:buClr>
              <a:buSzPts val="1100"/>
              <a:buFont typeface="Arial"/>
              <a:buNone/>
            </a:pPr>
            <a:r>
              <a:rPr b="1" lang="en" sz="1100">
                <a:latin typeface="Arial"/>
                <a:ea typeface="Arial"/>
                <a:cs typeface="Arial"/>
                <a:sym typeface="Arial"/>
              </a:rPr>
              <a:t>Why : </a:t>
            </a:r>
            <a:r>
              <a:rPr lang="en" sz="1100">
                <a:latin typeface="Arial"/>
                <a:ea typeface="Arial"/>
                <a:cs typeface="Arial"/>
                <a:sym typeface="Arial"/>
              </a:rPr>
              <a:t>The response contains no objective, verifiable claims.</a:t>
            </a:r>
            <a:br>
              <a:rPr lang="en" sz="1100">
                <a:latin typeface="Arial"/>
                <a:ea typeface="Arial"/>
                <a:cs typeface="Arial"/>
                <a:sym typeface="Arial"/>
              </a:rPr>
            </a:br>
            <a:r>
              <a:rPr b="1" lang="en" sz="1100">
                <a:latin typeface="Arial"/>
                <a:ea typeface="Arial"/>
                <a:cs typeface="Arial"/>
                <a:sym typeface="Arial"/>
              </a:rPr>
              <a:t>Example</a:t>
            </a:r>
            <a:endParaRPr b="1" sz="1100">
              <a:latin typeface="Arial"/>
              <a:ea typeface="Arial"/>
              <a:cs typeface="Arial"/>
              <a:sym typeface="Arial"/>
            </a:endParaRPr>
          </a:p>
          <a:p>
            <a:pPr indent="0" lvl="0" marL="381000" marR="381000" rtl="0" algn="l">
              <a:spcBef>
                <a:spcPts val="1200"/>
              </a:spcBef>
              <a:spcAft>
                <a:spcPts val="0"/>
              </a:spcAft>
              <a:buClr>
                <a:schemeClr val="dk2"/>
              </a:buClr>
              <a:buSzPts val="1100"/>
              <a:buFont typeface="Arial"/>
              <a:buNone/>
            </a:pPr>
            <a:r>
              <a:rPr lang="en" sz="1100">
                <a:latin typeface="Arial"/>
                <a:ea typeface="Arial"/>
                <a:cs typeface="Arial"/>
                <a:sym typeface="Arial"/>
              </a:rPr>
              <a:t>“This tutorial is very easy to follow.”</a:t>
            </a:r>
            <a:endParaRPr sz="1100">
              <a:latin typeface="Arial"/>
              <a:ea typeface="Arial"/>
              <a:cs typeface="Arial"/>
              <a:sym typeface="Arial"/>
            </a:endParaRPr>
          </a:p>
          <a:p>
            <a:pPr indent="0" lvl="0" marL="0" rtl="0" algn="l">
              <a:spcBef>
                <a:spcPts val="1400"/>
              </a:spcBef>
              <a:spcAft>
                <a:spcPts val="0"/>
              </a:spcAft>
              <a:buClr>
                <a:schemeClr val="dk2"/>
              </a:buClr>
              <a:buSzPts val="1100"/>
              <a:buFont typeface="Arial"/>
              <a:buNone/>
            </a:pPr>
            <a:r>
              <a:rPr b="1" lang="en" sz="1300">
                <a:latin typeface="Arial"/>
                <a:ea typeface="Arial"/>
                <a:cs typeface="Arial"/>
                <a:sym typeface="Arial"/>
              </a:rPr>
              <a:t>2. Private, Missing, or Inaccessible Information</a:t>
            </a:r>
            <a:endParaRPr b="1" sz="1300">
              <a:latin typeface="Arial"/>
              <a:ea typeface="Arial"/>
              <a:cs typeface="Arial"/>
              <a:sym typeface="Arial"/>
            </a:endParaRPr>
          </a:p>
          <a:p>
            <a:pPr indent="0" lvl="0" marL="0" rtl="0" algn="l">
              <a:spcBef>
                <a:spcPts val="1200"/>
              </a:spcBef>
              <a:spcAft>
                <a:spcPts val="0"/>
              </a:spcAft>
              <a:buClr>
                <a:schemeClr val="dk2"/>
              </a:buClr>
              <a:buSzPts val="1100"/>
              <a:buFont typeface="Arial"/>
              <a:buNone/>
            </a:pPr>
            <a:r>
              <a:rPr b="1" lang="en" sz="1100">
                <a:latin typeface="Arial"/>
                <a:ea typeface="Arial"/>
                <a:cs typeface="Arial"/>
                <a:sym typeface="Arial"/>
              </a:rPr>
              <a:t>Why: </a:t>
            </a:r>
            <a:r>
              <a:rPr lang="en" sz="1100">
                <a:latin typeface="Arial"/>
                <a:ea typeface="Arial"/>
                <a:cs typeface="Arial"/>
                <a:sym typeface="Arial"/>
              </a:rPr>
              <a:t>Evidence may exist but cannot be accessed by the evaluator.</a:t>
            </a:r>
            <a:br>
              <a:rPr lang="en" sz="1100">
                <a:latin typeface="Arial"/>
                <a:ea typeface="Arial"/>
                <a:cs typeface="Arial"/>
                <a:sym typeface="Arial"/>
              </a:rPr>
            </a:br>
            <a:r>
              <a:rPr b="1" lang="en" sz="1100">
                <a:latin typeface="Arial"/>
                <a:ea typeface="Arial"/>
                <a:cs typeface="Arial"/>
                <a:sym typeface="Arial"/>
              </a:rPr>
              <a:t>Examples</a:t>
            </a:r>
            <a:endParaRPr b="1" sz="1100">
              <a:latin typeface="Arial"/>
              <a:ea typeface="Arial"/>
              <a:cs typeface="Arial"/>
              <a:sym typeface="Arial"/>
            </a:endParaRPr>
          </a:p>
          <a:p>
            <a:pPr indent="-298450" lvl="0" marL="457200" rtl="0" algn="l">
              <a:spcBef>
                <a:spcPts val="1200"/>
              </a:spcBef>
              <a:spcAft>
                <a:spcPts val="0"/>
              </a:spcAft>
              <a:buSzPts val="1100"/>
              <a:buFont typeface="Arial"/>
              <a:buChar char="●"/>
            </a:pPr>
            <a:r>
              <a:rPr lang="en" sz="1100">
                <a:latin typeface="Arial"/>
                <a:ea typeface="Arial"/>
                <a:cs typeface="Arial"/>
                <a:sym typeface="Arial"/>
              </a:rPr>
              <a:t>“According to my private Google Calendar, the meeting is at 3 PM.”</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“The email confirms the update.” (email not provided)</a:t>
            </a:r>
            <a:endParaRPr sz="1100">
              <a:latin typeface="Arial"/>
              <a:ea typeface="Arial"/>
              <a:cs typeface="Arial"/>
              <a:sym typeface="Arial"/>
            </a:endParaRPr>
          </a:p>
          <a:p>
            <a:pPr indent="0" lvl="0" marL="0" rtl="0" algn="l">
              <a:spcBef>
                <a:spcPts val="1400"/>
              </a:spcBef>
              <a:spcAft>
                <a:spcPts val="0"/>
              </a:spcAft>
              <a:buClr>
                <a:schemeClr val="dk2"/>
              </a:buClr>
              <a:buSzPts val="1100"/>
              <a:buFont typeface="Arial"/>
              <a:buNone/>
            </a:pPr>
            <a:r>
              <a:rPr b="1" lang="en" sz="1300">
                <a:latin typeface="Arial"/>
                <a:ea typeface="Arial"/>
                <a:cs typeface="Arial"/>
                <a:sym typeface="Arial"/>
              </a:rPr>
              <a:t>3. Broken Links or Blocked Content</a:t>
            </a:r>
            <a:endParaRPr b="1" sz="1300">
              <a:latin typeface="Arial"/>
              <a:ea typeface="Arial"/>
              <a:cs typeface="Arial"/>
              <a:sym typeface="Arial"/>
            </a:endParaRPr>
          </a:p>
          <a:p>
            <a:pPr indent="0" lvl="0" marL="0" rtl="0" algn="l">
              <a:spcBef>
                <a:spcPts val="1200"/>
              </a:spcBef>
              <a:spcAft>
                <a:spcPts val="0"/>
              </a:spcAft>
              <a:buClr>
                <a:schemeClr val="dk2"/>
              </a:buClr>
              <a:buSzPts val="1100"/>
              <a:buFont typeface="Arial"/>
              <a:buNone/>
            </a:pPr>
            <a:r>
              <a:rPr b="1" lang="en" sz="1100">
                <a:latin typeface="Arial"/>
                <a:ea typeface="Arial"/>
                <a:cs typeface="Arial"/>
                <a:sym typeface="Arial"/>
              </a:rPr>
              <a:t>Why: </a:t>
            </a:r>
            <a:r>
              <a:rPr lang="en" sz="1100">
                <a:latin typeface="Arial"/>
                <a:ea typeface="Arial"/>
                <a:cs typeface="Arial"/>
                <a:sym typeface="Arial"/>
              </a:rPr>
              <a:t>Verification is prevented by technical restrictions.</a:t>
            </a:r>
            <a:br>
              <a:rPr lang="en" sz="1100">
                <a:latin typeface="Arial"/>
                <a:ea typeface="Arial"/>
                <a:cs typeface="Arial"/>
                <a:sym typeface="Arial"/>
              </a:rPr>
            </a:br>
            <a:r>
              <a:rPr b="1" lang="en" sz="1100">
                <a:latin typeface="Arial"/>
                <a:ea typeface="Arial"/>
                <a:cs typeface="Arial"/>
                <a:sym typeface="Arial"/>
              </a:rPr>
              <a:t>Examples</a:t>
            </a:r>
            <a:endParaRPr b="1" sz="1100">
              <a:latin typeface="Arial"/>
              <a:ea typeface="Arial"/>
              <a:cs typeface="Arial"/>
              <a:sym typeface="Arial"/>
            </a:endParaRPr>
          </a:p>
          <a:p>
            <a:pPr indent="-298450" lvl="0" marL="457200" rtl="0" algn="l">
              <a:spcBef>
                <a:spcPts val="1200"/>
              </a:spcBef>
              <a:spcAft>
                <a:spcPts val="0"/>
              </a:spcAft>
              <a:buSzPts val="1100"/>
              <a:buFont typeface="Arial"/>
              <a:buChar char="●"/>
            </a:pPr>
            <a:r>
              <a:rPr lang="en" sz="1100">
                <a:latin typeface="Arial"/>
                <a:ea typeface="Arial"/>
                <a:cs typeface="Arial"/>
                <a:sym typeface="Arial"/>
              </a:rPr>
              <a:t>Links that return 404 errors</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Pages blocked by CAPTCHA or login walls</a:t>
            </a:r>
            <a:br>
              <a:rPr lang="en" sz="1100">
                <a:latin typeface="Arial"/>
                <a:ea typeface="Arial"/>
                <a:cs typeface="Arial"/>
                <a:sym typeface="Arial"/>
              </a:rPr>
            </a:br>
            <a:endParaRPr sz="1100">
              <a:latin typeface="Arial"/>
              <a:ea typeface="Arial"/>
              <a:cs typeface="Arial"/>
              <a:sym typeface="Arial"/>
            </a:endParaRPr>
          </a:p>
          <a:p>
            <a:pPr indent="0" lvl="0" marL="0" rtl="0" algn="l">
              <a:spcBef>
                <a:spcPts val="1200"/>
              </a:spcBef>
              <a:spcAft>
                <a:spcPts val="1200"/>
              </a:spcAft>
              <a:buNone/>
            </a:pPr>
            <a:r>
              <a:t/>
            </a:r>
            <a:endParaRPr b="1" sz="3500">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8"/>
          <p:cNvSpPr txBox="1"/>
          <p:nvPr>
            <p:ph type="title"/>
          </p:nvPr>
        </p:nvSpPr>
        <p:spPr>
          <a:xfrm>
            <a:off x="311700" y="63014"/>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Edge Cases: Cannot Confidently Assess</a:t>
            </a:r>
            <a:endParaRPr sz="2000"/>
          </a:p>
        </p:txBody>
      </p:sp>
      <p:pic>
        <p:nvPicPr>
          <p:cNvPr id="157" name="Google Shape;157;p28"/>
          <p:cNvPicPr preferRelativeResize="0"/>
          <p:nvPr/>
        </p:nvPicPr>
        <p:blipFill>
          <a:blip r:embed="rId3">
            <a:alphaModFix/>
          </a:blip>
          <a:stretch>
            <a:fillRect/>
          </a:stretch>
        </p:blipFill>
        <p:spPr>
          <a:xfrm>
            <a:off x="6838875" y="3305575"/>
            <a:ext cx="2076525" cy="1609324"/>
          </a:xfrm>
          <a:prstGeom prst="rect">
            <a:avLst/>
          </a:prstGeom>
          <a:noFill/>
          <a:ln>
            <a:noFill/>
          </a:ln>
        </p:spPr>
      </p:pic>
      <p:sp>
        <p:nvSpPr>
          <p:cNvPr id="158" name="Google Shape;158;p28"/>
          <p:cNvSpPr txBox="1"/>
          <p:nvPr>
            <p:ph idx="1" type="body"/>
          </p:nvPr>
        </p:nvSpPr>
        <p:spPr>
          <a:xfrm>
            <a:off x="473775" y="248650"/>
            <a:ext cx="8520600" cy="47712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2"/>
              </a:buClr>
              <a:buSzPts val="1100"/>
              <a:buFont typeface="Arial"/>
              <a:buNone/>
            </a:pPr>
            <a:r>
              <a:t/>
            </a:r>
            <a:endParaRPr b="1" sz="1300">
              <a:latin typeface="Arial"/>
              <a:ea typeface="Arial"/>
              <a:cs typeface="Arial"/>
              <a:sym typeface="Arial"/>
            </a:endParaRPr>
          </a:p>
          <a:p>
            <a:pPr indent="0" lvl="0" marL="0" rtl="0" algn="l">
              <a:spcBef>
                <a:spcPts val="1400"/>
              </a:spcBef>
              <a:spcAft>
                <a:spcPts val="0"/>
              </a:spcAft>
              <a:buClr>
                <a:schemeClr val="dk2"/>
              </a:buClr>
              <a:buSzPts val="1100"/>
              <a:buFont typeface="Arial"/>
              <a:buNone/>
            </a:pPr>
            <a:r>
              <a:rPr b="1" lang="en" sz="1300">
                <a:latin typeface="Arial"/>
                <a:ea typeface="Arial"/>
                <a:cs typeface="Arial"/>
                <a:sym typeface="Arial"/>
              </a:rPr>
              <a:t>4. Past Itinerary Planning or Personal History</a:t>
            </a:r>
            <a:endParaRPr b="1" sz="1300">
              <a:latin typeface="Arial"/>
              <a:ea typeface="Arial"/>
              <a:cs typeface="Arial"/>
              <a:sym typeface="Arial"/>
            </a:endParaRPr>
          </a:p>
          <a:p>
            <a:pPr indent="0" lvl="0" marL="0" rtl="0" algn="l">
              <a:spcBef>
                <a:spcPts val="1200"/>
              </a:spcBef>
              <a:spcAft>
                <a:spcPts val="0"/>
              </a:spcAft>
              <a:buClr>
                <a:schemeClr val="dk2"/>
              </a:buClr>
              <a:buSzPts val="1100"/>
              <a:buFont typeface="Arial"/>
              <a:buNone/>
            </a:pPr>
            <a:r>
              <a:rPr b="1" lang="en" sz="1100">
                <a:latin typeface="Arial"/>
                <a:ea typeface="Arial"/>
                <a:cs typeface="Arial"/>
                <a:sym typeface="Arial"/>
              </a:rPr>
              <a:t>Why: </a:t>
            </a:r>
            <a:r>
              <a:rPr lang="en" sz="1100">
                <a:latin typeface="Arial"/>
                <a:ea typeface="Arial"/>
                <a:cs typeface="Arial"/>
                <a:sym typeface="Arial"/>
              </a:rPr>
              <a:t>Past travel or personal events cannot be independently verified.</a:t>
            </a:r>
            <a:br>
              <a:rPr lang="en" sz="1100">
                <a:latin typeface="Arial"/>
                <a:ea typeface="Arial"/>
                <a:cs typeface="Arial"/>
                <a:sym typeface="Arial"/>
              </a:rPr>
            </a:br>
            <a:r>
              <a:rPr b="1" lang="en" sz="1100">
                <a:latin typeface="Arial"/>
                <a:ea typeface="Arial"/>
                <a:cs typeface="Arial"/>
                <a:sym typeface="Arial"/>
              </a:rPr>
              <a:t>Examples</a:t>
            </a:r>
            <a:endParaRPr b="1" sz="1100">
              <a:latin typeface="Arial"/>
              <a:ea typeface="Arial"/>
              <a:cs typeface="Arial"/>
              <a:sym typeface="Arial"/>
            </a:endParaRPr>
          </a:p>
          <a:p>
            <a:pPr indent="-298450" lvl="0" marL="457200" rtl="0" algn="l">
              <a:spcBef>
                <a:spcPts val="1200"/>
              </a:spcBef>
              <a:spcAft>
                <a:spcPts val="0"/>
              </a:spcAft>
              <a:buSzPts val="1100"/>
              <a:buFont typeface="Arial"/>
              <a:buChar char="●"/>
            </a:pPr>
            <a:r>
              <a:rPr lang="en" sz="1100">
                <a:latin typeface="Arial"/>
                <a:ea typeface="Arial"/>
                <a:cs typeface="Arial"/>
                <a:sym typeface="Arial"/>
              </a:rPr>
              <a:t>“I stayed near Times Square during my trip last year. What was the price of the hotel?”</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“We took a train from Rome to Florence last summer. For May 23 and 24, what hotels were </a:t>
            </a:r>
            <a:r>
              <a:rPr lang="en" sz="1100">
                <a:latin typeface="Arial"/>
                <a:ea typeface="Arial"/>
                <a:cs typeface="Arial"/>
                <a:sym typeface="Arial"/>
              </a:rPr>
              <a:t>available</a:t>
            </a:r>
            <a:r>
              <a:rPr lang="en" sz="1100">
                <a:latin typeface="Arial"/>
                <a:ea typeface="Arial"/>
                <a:cs typeface="Arial"/>
                <a:sym typeface="Arial"/>
              </a:rPr>
              <a:t> in Florence?”</a:t>
            </a:r>
            <a:endParaRPr sz="1100">
              <a:latin typeface="Arial"/>
              <a:ea typeface="Arial"/>
              <a:cs typeface="Arial"/>
              <a:sym typeface="Arial"/>
            </a:endParaRPr>
          </a:p>
          <a:p>
            <a:pPr indent="0" lvl="0" marL="0" rtl="0" algn="l">
              <a:spcBef>
                <a:spcPts val="1400"/>
              </a:spcBef>
              <a:spcAft>
                <a:spcPts val="0"/>
              </a:spcAft>
              <a:buClr>
                <a:schemeClr val="dk2"/>
              </a:buClr>
              <a:buSzPts val="1100"/>
              <a:buFont typeface="Arial"/>
              <a:buNone/>
            </a:pPr>
            <a:r>
              <a:rPr b="1" lang="en" sz="1300">
                <a:latin typeface="Arial"/>
                <a:ea typeface="Arial"/>
                <a:cs typeface="Arial"/>
                <a:sym typeface="Arial"/>
              </a:rPr>
              <a:t>5. Agent Action Claims Without Verifiable Evidence</a:t>
            </a:r>
            <a:endParaRPr b="1" sz="1300">
              <a:latin typeface="Arial"/>
              <a:ea typeface="Arial"/>
              <a:cs typeface="Arial"/>
              <a:sym typeface="Arial"/>
            </a:endParaRPr>
          </a:p>
          <a:p>
            <a:pPr indent="0" lvl="0" marL="0" rtl="0" algn="l">
              <a:spcBef>
                <a:spcPts val="1200"/>
              </a:spcBef>
              <a:spcAft>
                <a:spcPts val="0"/>
              </a:spcAft>
              <a:buClr>
                <a:schemeClr val="dk2"/>
              </a:buClr>
              <a:buSzPts val="1100"/>
              <a:buFont typeface="Arial"/>
              <a:buNone/>
            </a:pPr>
            <a:r>
              <a:rPr b="1" lang="en" sz="1100">
                <a:latin typeface="Arial"/>
                <a:ea typeface="Arial"/>
                <a:cs typeface="Arial"/>
                <a:sym typeface="Arial"/>
              </a:rPr>
              <a:t>Why: </a:t>
            </a:r>
            <a:r>
              <a:rPr lang="en" sz="1100">
                <a:latin typeface="Arial"/>
                <a:ea typeface="Arial"/>
                <a:cs typeface="Arial"/>
                <a:sym typeface="Arial"/>
              </a:rPr>
              <a:t>The response claims an action occurred, but no proof is available.</a:t>
            </a:r>
            <a:br>
              <a:rPr lang="en" sz="1100">
                <a:latin typeface="Arial"/>
                <a:ea typeface="Arial"/>
                <a:cs typeface="Arial"/>
                <a:sym typeface="Arial"/>
              </a:rPr>
            </a:br>
            <a:r>
              <a:rPr b="1" lang="en" sz="1100">
                <a:latin typeface="Arial"/>
                <a:ea typeface="Arial"/>
                <a:cs typeface="Arial"/>
                <a:sym typeface="Arial"/>
              </a:rPr>
              <a:t>Examples</a:t>
            </a:r>
            <a:endParaRPr b="1" sz="1100">
              <a:latin typeface="Arial"/>
              <a:ea typeface="Arial"/>
              <a:cs typeface="Arial"/>
              <a:sym typeface="Arial"/>
            </a:endParaRPr>
          </a:p>
          <a:p>
            <a:pPr indent="-298450" lvl="0" marL="457200" rtl="0" algn="l">
              <a:spcBef>
                <a:spcPts val="1200"/>
              </a:spcBef>
              <a:spcAft>
                <a:spcPts val="0"/>
              </a:spcAft>
              <a:buSzPts val="1100"/>
              <a:buFont typeface="Arial"/>
              <a:buChar char="●"/>
            </a:pPr>
            <a:r>
              <a:rPr lang="en" sz="1100">
                <a:latin typeface="Arial"/>
                <a:ea typeface="Arial"/>
                <a:cs typeface="Arial"/>
                <a:sym typeface="Arial"/>
              </a:rPr>
              <a:t>“The item was added to the cart.” (no screenshot or confirmation)</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“The form was successfully submitted.” (no visible evidence)</a:t>
            </a:r>
            <a:endParaRPr sz="1100">
              <a:latin typeface="Arial"/>
              <a:ea typeface="Arial"/>
              <a:cs typeface="Arial"/>
              <a:sym typeface="Arial"/>
            </a:endParaRPr>
          </a:p>
          <a:p>
            <a:pPr indent="0" lvl="0" marL="0" rtl="0" algn="l">
              <a:spcBef>
                <a:spcPts val="1400"/>
              </a:spcBef>
              <a:spcAft>
                <a:spcPts val="0"/>
              </a:spcAft>
              <a:buNone/>
            </a:pPr>
            <a:r>
              <a:rPr b="1" lang="en" sz="1300">
                <a:latin typeface="Arial"/>
                <a:ea typeface="Arial"/>
                <a:cs typeface="Arial"/>
                <a:sym typeface="Arial"/>
              </a:rPr>
              <a:t>6</a:t>
            </a:r>
            <a:r>
              <a:rPr b="1" lang="en" sz="1300">
                <a:latin typeface="Arial"/>
                <a:ea typeface="Arial"/>
                <a:cs typeface="Arial"/>
                <a:sym typeface="Arial"/>
              </a:rPr>
              <a:t>. Image Prompts</a:t>
            </a:r>
            <a:endParaRPr b="1" sz="1300">
              <a:latin typeface="Arial"/>
              <a:ea typeface="Arial"/>
              <a:cs typeface="Arial"/>
              <a:sym typeface="Arial"/>
            </a:endParaRPr>
          </a:p>
          <a:p>
            <a:pPr indent="0" lvl="0" marL="0" rtl="0" algn="l">
              <a:spcBef>
                <a:spcPts val="1200"/>
              </a:spcBef>
              <a:spcAft>
                <a:spcPts val="0"/>
              </a:spcAft>
              <a:buNone/>
            </a:pPr>
            <a:r>
              <a:rPr b="1" lang="en" sz="1100">
                <a:latin typeface="Arial"/>
                <a:ea typeface="Arial"/>
                <a:cs typeface="Arial"/>
                <a:sym typeface="Arial"/>
              </a:rPr>
              <a:t>Why: </a:t>
            </a:r>
            <a:r>
              <a:rPr lang="en" sz="1100">
                <a:latin typeface="Arial"/>
                <a:ea typeface="Arial"/>
                <a:cs typeface="Arial"/>
                <a:sym typeface="Arial"/>
              </a:rPr>
              <a:t>The links in the response do not work</a:t>
            </a:r>
            <a:br>
              <a:rPr lang="en" sz="1100">
                <a:latin typeface="Arial"/>
                <a:ea typeface="Arial"/>
                <a:cs typeface="Arial"/>
                <a:sym typeface="Arial"/>
              </a:rPr>
            </a:br>
            <a:r>
              <a:rPr b="1" lang="en" sz="1100">
                <a:latin typeface="Arial"/>
                <a:ea typeface="Arial"/>
                <a:cs typeface="Arial"/>
                <a:sym typeface="Arial"/>
              </a:rPr>
              <a:t>Examples</a:t>
            </a:r>
            <a:endParaRPr b="1" sz="1100">
              <a:latin typeface="Arial"/>
              <a:ea typeface="Arial"/>
              <a:cs typeface="Arial"/>
              <a:sym typeface="Arial"/>
            </a:endParaRPr>
          </a:p>
          <a:p>
            <a:pPr indent="-298450" lvl="0" marL="457200" rtl="0" algn="l">
              <a:spcBef>
                <a:spcPts val="1200"/>
              </a:spcBef>
              <a:spcAft>
                <a:spcPts val="0"/>
              </a:spcAft>
              <a:buSzPts val="1100"/>
              <a:buFont typeface="Arial"/>
              <a:buChar char="●"/>
            </a:pPr>
            <a:r>
              <a:rPr lang="en" sz="1100">
                <a:latin typeface="Arial"/>
                <a:ea typeface="Arial"/>
                <a:cs typeface="Arial"/>
                <a:sym typeface="Arial"/>
              </a:rPr>
              <a:t>“Here is the image you requested.” (The provided link does not work)</a:t>
            </a:r>
            <a:endParaRPr b="1" sz="1100">
              <a:latin typeface="Arial"/>
              <a:ea typeface="Arial"/>
              <a:cs typeface="Arial"/>
              <a:sym typeface="Arial"/>
            </a:endParaRPr>
          </a:p>
          <a:p>
            <a:pPr indent="0" lvl="0" marL="0" rtl="0" algn="l">
              <a:spcBef>
                <a:spcPts val="1200"/>
              </a:spcBef>
              <a:spcAft>
                <a:spcPts val="0"/>
              </a:spcAft>
              <a:buClr>
                <a:schemeClr val="dk2"/>
              </a:buClr>
              <a:buSzPts val="1100"/>
              <a:buFont typeface="Arial"/>
              <a:buNone/>
            </a:pPr>
            <a:r>
              <a:t/>
            </a:r>
            <a:endParaRPr b="1"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a:p>
            <a:pPr indent="0" lvl="0" marL="0" rtl="0" algn="l">
              <a:spcBef>
                <a:spcPts val="1400"/>
              </a:spcBef>
              <a:spcAft>
                <a:spcPts val="0"/>
              </a:spcAft>
              <a:buClr>
                <a:schemeClr val="dk2"/>
              </a:buClr>
              <a:buSzPts val="1100"/>
              <a:buFont typeface="Arial"/>
              <a:buNone/>
            </a:pPr>
            <a:r>
              <a:t/>
            </a:r>
            <a:endParaRPr sz="1100">
              <a:latin typeface="Arial"/>
              <a:ea typeface="Arial"/>
              <a:cs typeface="Arial"/>
              <a:sym typeface="Arial"/>
            </a:endParaRPr>
          </a:p>
          <a:p>
            <a:pPr indent="0" lvl="0" marL="0" rtl="0" algn="l">
              <a:spcBef>
                <a:spcPts val="1200"/>
              </a:spcBef>
              <a:spcAft>
                <a:spcPts val="1200"/>
              </a:spcAft>
              <a:buNone/>
            </a:pPr>
            <a:r>
              <a:t/>
            </a:r>
            <a:endParaRPr b="1" sz="1300">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9"/>
          <p:cNvSpPr txBox="1"/>
          <p:nvPr>
            <p:ph type="title"/>
          </p:nvPr>
        </p:nvSpPr>
        <p:spPr>
          <a:xfrm>
            <a:off x="311700" y="63014"/>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Edge Cases: Cannot Confidently Assess (Refusals)</a:t>
            </a:r>
            <a:endParaRPr sz="2000"/>
          </a:p>
        </p:txBody>
      </p:sp>
      <p:pic>
        <p:nvPicPr>
          <p:cNvPr id="164" name="Google Shape;164;p29"/>
          <p:cNvPicPr preferRelativeResize="0"/>
          <p:nvPr/>
        </p:nvPicPr>
        <p:blipFill>
          <a:blip r:embed="rId3">
            <a:alphaModFix/>
          </a:blip>
          <a:stretch>
            <a:fillRect/>
          </a:stretch>
        </p:blipFill>
        <p:spPr>
          <a:xfrm>
            <a:off x="6838875" y="3305575"/>
            <a:ext cx="2076525" cy="1609324"/>
          </a:xfrm>
          <a:prstGeom prst="rect">
            <a:avLst/>
          </a:prstGeom>
          <a:noFill/>
          <a:ln>
            <a:noFill/>
          </a:ln>
        </p:spPr>
      </p:pic>
      <p:sp>
        <p:nvSpPr>
          <p:cNvPr id="165" name="Google Shape;165;p29"/>
          <p:cNvSpPr txBox="1"/>
          <p:nvPr>
            <p:ph idx="1" type="body"/>
          </p:nvPr>
        </p:nvSpPr>
        <p:spPr>
          <a:xfrm>
            <a:off x="438775" y="808484"/>
            <a:ext cx="8520600" cy="4147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2"/>
              </a:buClr>
              <a:buSzPts val="1100"/>
              <a:buFont typeface="Arial"/>
              <a:buNone/>
            </a:pPr>
            <a:r>
              <a:rPr lang="en" sz="1100">
                <a:latin typeface="Arial"/>
                <a:ea typeface="Arial"/>
                <a:cs typeface="Arial"/>
                <a:sym typeface="Arial"/>
              </a:rPr>
              <a:t>Agent refusal scenarios fall into the following categories and should be evaluated accordingly:</a:t>
            </a:r>
            <a:endParaRPr sz="1100">
              <a:latin typeface="Arial"/>
              <a:ea typeface="Arial"/>
              <a:cs typeface="Arial"/>
              <a:sym typeface="Arial"/>
            </a:endParaRPr>
          </a:p>
          <a:p>
            <a:pPr indent="0" lvl="0" marL="0" rtl="0" algn="l">
              <a:spcBef>
                <a:spcPts val="1200"/>
              </a:spcBef>
              <a:spcAft>
                <a:spcPts val="0"/>
              </a:spcAft>
              <a:buClr>
                <a:schemeClr val="dk2"/>
              </a:buClr>
              <a:buSzPts val="1100"/>
              <a:buFont typeface="Arial"/>
              <a:buNone/>
            </a:pPr>
            <a:r>
              <a:rPr b="1" lang="en" sz="1100">
                <a:latin typeface="Arial"/>
                <a:ea typeface="Arial"/>
                <a:cs typeface="Arial"/>
                <a:sym typeface="Arial"/>
              </a:rPr>
              <a:t>1. Invalid refusal</a:t>
            </a:r>
            <a:br>
              <a:rPr b="1" lang="en" sz="1100">
                <a:latin typeface="Arial"/>
                <a:ea typeface="Arial"/>
                <a:cs typeface="Arial"/>
                <a:sym typeface="Arial"/>
              </a:rPr>
            </a:br>
            <a:r>
              <a:rPr i="1" lang="en" sz="1100">
                <a:latin typeface="Arial"/>
                <a:ea typeface="Arial"/>
                <a:cs typeface="Arial"/>
                <a:sym typeface="Arial"/>
              </a:rPr>
              <a:t>Definition:</a:t>
            </a:r>
            <a:r>
              <a:rPr lang="en" sz="1100">
                <a:latin typeface="Arial"/>
                <a:ea typeface="Arial"/>
                <a:cs typeface="Arial"/>
                <a:sym typeface="Arial"/>
              </a:rPr>
              <a:t> The agent refuses to perform the task even though it is capable of completing it and provides no valid reason for the refusal.</a:t>
            </a:r>
            <a:br>
              <a:rPr lang="en" sz="1100">
                <a:latin typeface="Arial"/>
                <a:ea typeface="Arial"/>
                <a:cs typeface="Arial"/>
                <a:sym typeface="Arial"/>
              </a:rPr>
            </a:br>
            <a:endParaRPr sz="1100">
              <a:latin typeface="Arial"/>
              <a:ea typeface="Arial"/>
              <a:cs typeface="Arial"/>
              <a:sym typeface="Arial"/>
            </a:endParaRPr>
          </a:p>
          <a:p>
            <a:pPr indent="0" lvl="0" marL="0" rtl="0" algn="l">
              <a:spcBef>
                <a:spcPts val="1200"/>
              </a:spcBef>
              <a:spcAft>
                <a:spcPts val="0"/>
              </a:spcAft>
              <a:buNone/>
            </a:pPr>
            <a:r>
              <a:rPr b="1" lang="en" sz="1100">
                <a:latin typeface="Arial"/>
                <a:ea typeface="Arial"/>
                <a:cs typeface="Arial"/>
                <a:sym typeface="Arial"/>
              </a:rPr>
              <a:t>Prompt: Go to firtnine.ca and put Stream II Helmet into the cart.</a:t>
            </a:r>
            <a:endParaRPr b="1" sz="1100">
              <a:latin typeface="Arial"/>
              <a:ea typeface="Arial"/>
              <a:cs typeface="Arial"/>
              <a:sym typeface="Arial"/>
            </a:endParaRPr>
          </a:p>
          <a:p>
            <a:pPr indent="0" lvl="0" marL="0" rtl="0" algn="l">
              <a:spcBef>
                <a:spcPts val="1200"/>
              </a:spcBef>
              <a:spcAft>
                <a:spcPts val="0"/>
              </a:spcAft>
              <a:buNone/>
            </a:pPr>
            <a:r>
              <a:rPr b="1" lang="en" sz="1100">
                <a:latin typeface="Arial"/>
                <a:ea typeface="Arial"/>
                <a:cs typeface="Arial"/>
                <a:sym typeface="Arial"/>
              </a:rPr>
              <a:t>Respone B:</a:t>
            </a:r>
            <a:r>
              <a:rPr lang="en" sz="1100">
                <a:latin typeface="Arial"/>
                <a:ea typeface="Arial"/>
                <a:cs typeface="Arial"/>
                <a:sym typeface="Arial"/>
              </a:rPr>
              <a:t> Let's talk about something else. That's not the type of thing I can help you with.</a:t>
            </a:r>
            <a:endParaRPr sz="1100">
              <a:latin typeface="Arial"/>
              <a:ea typeface="Arial"/>
              <a:cs typeface="Arial"/>
              <a:sym typeface="Arial"/>
            </a:endParaRPr>
          </a:p>
          <a:p>
            <a:pPr indent="0" lvl="0" marL="0" rtl="0" algn="l">
              <a:spcBef>
                <a:spcPts val="1200"/>
              </a:spcBef>
              <a:spcAft>
                <a:spcPts val="0"/>
              </a:spcAft>
              <a:buNone/>
            </a:pPr>
            <a:r>
              <a:rPr i="1" lang="en" sz="1100">
                <a:latin typeface="Arial"/>
                <a:ea typeface="Arial"/>
                <a:cs typeface="Arial"/>
                <a:sym typeface="Arial"/>
              </a:rPr>
              <a:t>Evaluation:</a:t>
            </a:r>
            <a:endParaRPr i="1" sz="1100">
              <a:latin typeface="Arial"/>
              <a:ea typeface="Arial"/>
              <a:cs typeface="Arial"/>
              <a:sym typeface="Arial"/>
            </a:endParaRPr>
          </a:p>
          <a:p>
            <a:pPr indent="0" lvl="0" marL="0" rtl="0" algn="l">
              <a:spcBef>
                <a:spcPts val="1200"/>
              </a:spcBef>
              <a:spcAft>
                <a:spcPts val="0"/>
              </a:spcAft>
              <a:buNone/>
            </a:pPr>
            <a:r>
              <a:rPr lang="en" sz="1100">
                <a:latin typeface="Arial"/>
                <a:ea typeface="Arial"/>
                <a:cs typeface="Arial"/>
                <a:sym typeface="Arial"/>
              </a:rPr>
              <a:t>The agent declines to perform the action despite being able to complete it.</a:t>
            </a:r>
            <a:endParaRPr sz="1100">
              <a:latin typeface="Arial"/>
              <a:ea typeface="Arial"/>
              <a:cs typeface="Arial"/>
              <a:sym typeface="Arial"/>
            </a:endParaRPr>
          </a:p>
          <a:p>
            <a:pPr indent="0" lvl="0" marL="0" rtl="0" algn="l">
              <a:spcBef>
                <a:spcPts val="1200"/>
              </a:spcBef>
              <a:spcAft>
                <a:spcPts val="1200"/>
              </a:spcAft>
              <a:buClr>
                <a:schemeClr val="dk2"/>
              </a:buClr>
              <a:buSzPts val="1100"/>
              <a:buFont typeface="Arial"/>
              <a:buNone/>
            </a:pPr>
            <a:r>
              <a:rPr lang="en" sz="1100">
                <a:latin typeface="Arial"/>
                <a:ea typeface="Arial"/>
                <a:cs typeface="Arial"/>
                <a:sym typeface="Arial"/>
              </a:rPr>
              <a:t> • </a:t>
            </a:r>
            <a:r>
              <a:rPr b="1" lang="en" sz="1100">
                <a:latin typeface="Arial"/>
                <a:ea typeface="Arial"/>
                <a:cs typeface="Arial"/>
                <a:sym typeface="Arial"/>
              </a:rPr>
              <a:t>Task Completion:</a:t>
            </a:r>
            <a:r>
              <a:rPr lang="en" sz="1100">
                <a:latin typeface="Arial"/>
                <a:ea typeface="Arial"/>
                <a:cs typeface="Arial"/>
                <a:sym typeface="Arial"/>
              </a:rPr>
              <a:t> 1 (Not at all Complete)</a:t>
            </a:r>
            <a:br>
              <a:rPr lang="en" sz="1100">
                <a:latin typeface="Arial"/>
                <a:ea typeface="Arial"/>
                <a:cs typeface="Arial"/>
                <a:sym typeface="Arial"/>
              </a:rPr>
            </a:br>
            <a:r>
              <a:rPr lang="en" sz="1100">
                <a:latin typeface="Arial"/>
                <a:ea typeface="Arial"/>
                <a:cs typeface="Arial"/>
                <a:sym typeface="Arial"/>
              </a:rPr>
              <a:t> • </a:t>
            </a:r>
            <a:r>
              <a:rPr b="1" lang="en" sz="1100">
                <a:latin typeface="Arial"/>
                <a:ea typeface="Arial"/>
                <a:cs typeface="Arial"/>
                <a:sym typeface="Arial"/>
              </a:rPr>
              <a:t>Factual Accuracy:</a:t>
            </a:r>
            <a:r>
              <a:rPr lang="en" sz="1100">
                <a:latin typeface="Arial"/>
                <a:ea typeface="Arial"/>
                <a:cs typeface="Arial"/>
                <a:sym typeface="Arial"/>
              </a:rPr>
              <a:t> 0 (Cannot Confidently Assess)</a:t>
            </a:r>
            <a:br>
              <a:rPr lang="en" sz="1100">
                <a:latin typeface="Arial"/>
                <a:ea typeface="Arial"/>
                <a:cs typeface="Arial"/>
                <a:sym typeface="Arial"/>
              </a:rPr>
            </a:br>
            <a:r>
              <a:rPr lang="en" sz="1100">
                <a:latin typeface="Arial"/>
                <a:ea typeface="Arial"/>
                <a:cs typeface="Arial"/>
                <a:sym typeface="Arial"/>
              </a:rPr>
              <a:t> • </a:t>
            </a:r>
            <a:r>
              <a:rPr b="1" lang="en" sz="1100">
                <a:latin typeface="Arial"/>
                <a:ea typeface="Arial"/>
                <a:cs typeface="Arial"/>
                <a:sym typeface="Arial"/>
              </a:rPr>
              <a:t>AI Performance:</a:t>
            </a:r>
            <a:r>
              <a:rPr lang="en" sz="1100">
                <a:latin typeface="Arial"/>
                <a:ea typeface="Arial"/>
                <a:cs typeface="Arial"/>
                <a:sym typeface="Arial"/>
              </a:rPr>
              <a:t> 1 (Unacceptable, broken, or nonsensical)</a:t>
            </a:r>
            <a:endParaRPr b="1" sz="1100">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0"/>
          <p:cNvSpPr txBox="1"/>
          <p:nvPr>
            <p:ph type="title"/>
          </p:nvPr>
        </p:nvSpPr>
        <p:spPr>
          <a:xfrm>
            <a:off x="311700" y="63014"/>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Edge Cases: Cannot Confidently Assess (Refusals)</a:t>
            </a:r>
            <a:endParaRPr sz="2000"/>
          </a:p>
        </p:txBody>
      </p:sp>
      <p:pic>
        <p:nvPicPr>
          <p:cNvPr id="171" name="Google Shape;171;p30"/>
          <p:cNvPicPr preferRelativeResize="0"/>
          <p:nvPr/>
        </p:nvPicPr>
        <p:blipFill>
          <a:blip r:embed="rId3">
            <a:alphaModFix/>
          </a:blip>
          <a:stretch>
            <a:fillRect/>
          </a:stretch>
        </p:blipFill>
        <p:spPr>
          <a:xfrm>
            <a:off x="6838875" y="3305575"/>
            <a:ext cx="2076525" cy="1609324"/>
          </a:xfrm>
          <a:prstGeom prst="rect">
            <a:avLst/>
          </a:prstGeom>
          <a:noFill/>
          <a:ln>
            <a:noFill/>
          </a:ln>
        </p:spPr>
      </p:pic>
      <p:sp>
        <p:nvSpPr>
          <p:cNvPr id="172" name="Google Shape;172;p30"/>
          <p:cNvSpPr txBox="1"/>
          <p:nvPr>
            <p:ph idx="1" type="body"/>
          </p:nvPr>
        </p:nvSpPr>
        <p:spPr>
          <a:xfrm>
            <a:off x="450450" y="540226"/>
            <a:ext cx="8520600" cy="46905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100">
                <a:latin typeface="Arial"/>
                <a:ea typeface="Arial"/>
                <a:cs typeface="Arial"/>
                <a:sym typeface="Arial"/>
              </a:rPr>
              <a:t>2. Valid but not helpful refusal</a:t>
            </a:r>
            <a:br>
              <a:rPr b="1" lang="en" sz="1100">
                <a:latin typeface="Arial"/>
                <a:ea typeface="Arial"/>
                <a:cs typeface="Arial"/>
                <a:sym typeface="Arial"/>
              </a:rPr>
            </a:br>
            <a:r>
              <a:rPr i="1" lang="en" sz="1100">
                <a:latin typeface="Arial"/>
                <a:ea typeface="Arial"/>
                <a:cs typeface="Arial"/>
                <a:sym typeface="Arial"/>
              </a:rPr>
              <a:t>Definition:</a:t>
            </a:r>
            <a:r>
              <a:rPr lang="en" sz="1100">
                <a:latin typeface="Arial"/>
                <a:ea typeface="Arial"/>
                <a:cs typeface="Arial"/>
                <a:sym typeface="Arial"/>
              </a:rPr>
              <a:t> The agent cannot perform the task for legitimate reasons but provides little to no explanation, no useful guidance or next steps, and offers minimal user support.</a:t>
            </a:r>
            <a:endParaRPr sz="1100">
              <a:latin typeface="Arial"/>
              <a:ea typeface="Arial"/>
              <a:cs typeface="Arial"/>
              <a:sym typeface="Arial"/>
            </a:endParaRPr>
          </a:p>
          <a:p>
            <a:pPr indent="0" lvl="0" marL="0" rtl="0" algn="l">
              <a:spcBef>
                <a:spcPts val="1200"/>
              </a:spcBef>
              <a:spcAft>
                <a:spcPts val="0"/>
              </a:spcAft>
              <a:buNone/>
            </a:pPr>
            <a:r>
              <a:rPr lang="en" sz="1100">
                <a:latin typeface="Arial"/>
                <a:ea typeface="Arial"/>
                <a:cs typeface="Arial"/>
                <a:sym typeface="Arial"/>
              </a:rPr>
              <a:t>Prompt: Put a Women's Black &amp; White Skeleton Print Halloween Dress into the cart</a:t>
            </a:r>
            <a:endParaRPr sz="1100">
              <a:latin typeface="Arial"/>
              <a:ea typeface="Arial"/>
              <a:cs typeface="Arial"/>
              <a:sym typeface="Arial"/>
            </a:endParaRPr>
          </a:p>
          <a:p>
            <a:pPr indent="0" lvl="0" marL="0" rtl="0" algn="l">
              <a:spcBef>
                <a:spcPts val="1200"/>
              </a:spcBef>
              <a:spcAft>
                <a:spcPts val="0"/>
              </a:spcAft>
              <a:buNone/>
            </a:pPr>
            <a:r>
              <a:rPr lang="en" sz="1100">
                <a:latin typeface="Arial"/>
                <a:ea typeface="Arial"/>
                <a:cs typeface="Arial"/>
                <a:sym typeface="Arial"/>
              </a:rPr>
              <a:t>Response A: I am sorry, I am not able to complete the task.</a:t>
            </a:r>
            <a:endParaRPr sz="1100">
              <a:latin typeface="Arial"/>
              <a:ea typeface="Arial"/>
              <a:cs typeface="Arial"/>
              <a:sym typeface="Arial"/>
            </a:endParaRPr>
          </a:p>
          <a:p>
            <a:pPr indent="0" lvl="0" marL="0" rtl="0" algn="l">
              <a:spcBef>
                <a:spcPts val="1200"/>
              </a:spcBef>
              <a:spcAft>
                <a:spcPts val="0"/>
              </a:spcAft>
              <a:buNone/>
            </a:pPr>
            <a:r>
              <a:rPr i="1" lang="en" sz="1100">
                <a:latin typeface="Arial"/>
                <a:ea typeface="Arial"/>
                <a:cs typeface="Arial"/>
                <a:sym typeface="Arial"/>
              </a:rPr>
              <a:t>Evaluation:</a:t>
            </a:r>
            <a:endParaRPr i="1" sz="1100">
              <a:latin typeface="Arial"/>
              <a:ea typeface="Arial"/>
              <a:cs typeface="Arial"/>
              <a:sym typeface="Arial"/>
            </a:endParaRPr>
          </a:p>
          <a:p>
            <a:pPr indent="0" lvl="0" marL="0" rtl="0" algn="l">
              <a:spcBef>
                <a:spcPts val="1200"/>
              </a:spcBef>
              <a:spcAft>
                <a:spcPts val="0"/>
              </a:spcAft>
              <a:buNone/>
            </a:pPr>
            <a:r>
              <a:rPr lang="en" sz="1100">
                <a:latin typeface="Arial"/>
                <a:ea typeface="Arial"/>
                <a:cs typeface="Arial"/>
                <a:sym typeface="Arial"/>
              </a:rPr>
              <a:t>The agent was unable to complete the task because the dress was available in multiple colors and sizes, and the user did not provide those details. However, instead of asking clarifying questions, the agent simply refused the request.</a:t>
            </a:r>
            <a:endParaRPr i="1" sz="1100">
              <a:latin typeface="Arial"/>
              <a:ea typeface="Arial"/>
              <a:cs typeface="Arial"/>
              <a:sym typeface="Arial"/>
            </a:endParaRPr>
          </a:p>
          <a:p>
            <a:pPr indent="0" lvl="0" marL="0" rtl="0" algn="l">
              <a:spcBef>
                <a:spcPts val="1200"/>
              </a:spcBef>
              <a:spcAft>
                <a:spcPts val="0"/>
              </a:spcAft>
              <a:buNone/>
            </a:pPr>
            <a:r>
              <a:rPr lang="en" sz="1100">
                <a:latin typeface="Arial"/>
                <a:ea typeface="Arial"/>
                <a:cs typeface="Arial"/>
                <a:sym typeface="Arial"/>
              </a:rPr>
              <a:t> • </a:t>
            </a:r>
            <a:r>
              <a:rPr b="1" lang="en" sz="1100">
                <a:latin typeface="Arial"/>
                <a:ea typeface="Arial"/>
                <a:cs typeface="Arial"/>
                <a:sym typeface="Arial"/>
              </a:rPr>
              <a:t>Task Completion:</a:t>
            </a:r>
            <a:r>
              <a:rPr lang="en" sz="1100">
                <a:latin typeface="Arial"/>
                <a:ea typeface="Arial"/>
                <a:cs typeface="Arial"/>
                <a:sym typeface="Arial"/>
              </a:rPr>
              <a:t> 1 (Not at all Complete)</a:t>
            </a:r>
            <a:br>
              <a:rPr lang="en" sz="1100">
                <a:latin typeface="Arial"/>
                <a:ea typeface="Arial"/>
                <a:cs typeface="Arial"/>
                <a:sym typeface="Arial"/>
              </a:rPr>
            </a:br>
            <a:r>
              <a:rPr lang="en" sz="1100">
                <a:latin typeface="Arial"/>
                <a:ea typeface="Arial"/>
                <a:cs typeface="Arial"/>
                <a:sym typeface="Arial"/>
              </a:rPr>
              <a:t> • </a:t>
            </a:r>
            <a:r>
              <a:rPr b="1" lang="en" sz="1100">
                <a:latin typeface="Arial"/>
                <a:ea typeface="Arial"/>
                <a:cs typeface="Arial"/>
                <a:sym typeface="Arial"/>
              </a:rPr>
              <a:t>Factual Accuracy:</a:t>
            </a:r>
            <a:r>
              <a:rPr lang="en" sz="1100">
                <a:latin typeface="Arial"/>
                <a:ea typeface="Arial"/>
                <a:cs typeface="Arial"/>
                <a:sym typeface="Arial"/>
              </a:rPr>
              <a:t> 0 (Cannot Confidently Assess)</a:t>
            </a:r>
            <a:br>
              <a:rPr lang="en" sz="1100">
                <a:latin typeface="Arial"/>
                <a:ea typeface="Arial"/>
                <a:cs typeface="Arial"/>
                <a:sym typeface="Arial"/>
              </a:rPr>
            </a:br>
            <a:r>
              <a:rPr lang="en" sz="1100">
                <a:latin typeface="Arial"/>
                <a:ea typeface="Arial"/>
                <a:cs typeface="Arial"/>
                <a:sym typeface="Arial"/>
              </a:rPr>
              <a:t> • </a:t>
            </a:r>
            <a:r>
              <a:rPr b="1" lang="en" sz="1100">
                <a:latin typeface="Arial"/>
                <a:ea typeface="Arial"/>
                <a:cs typeface="Arial"/>
                <a:sym typeface="Arial"/>
              </a:rPr>
              <a:t>AI Performance:</a:t>
            </a:r>
            <a:r>
              <a:rPr lang="en" sz="1100">
                <a:latin typeface="Arial"/>
                <a:ea typeface="Arial"/>
                <a:cs typeface="Arial"/>
                <a:sym typeface="Arial"/>
              </a:rPr>
              <a:t> 1 (Unacceptable, broken, or nonsensical)</a:t>
            </a:r>
            <a:endParaRPr sz="1100">
              <a:latin typeface="Arial"/>
              <a:ea typeface="Arial"/>
              <a:cs typeface="Arial"/>
              <a:sym typeface="Arial"/>
            </a:endParaRPr>
          </a:p>
          <a:p>
            <a:pPr indent="0" lvl="0" marL="0" rtl="0" algn="l">
              <a:spcBef>
                <a:spcPts val="1200"/>
              </a:spcBef>
              <a:spcAft>
                <a:spcPts val="0"/>
              </a:spcAft>
              <a:buNone/>
            </a:pPr>
            <a:r>
              <a:rPr b="1" lang="en" sz="1100">
                <a:latin typeface="Arial"/>
                <a:ea typeface="Arial"/>
                <a:cs typeface="Arial"/>
                <a:sym typeface="Arial"/>
              </a:rPr>
              <a:t>3. Blank/ No response</a:t>
            </a:r>
            <a:br>
              <a:rPr b="1" lang="en" sz="1100">
                <a:solidFill>
                  <a:schemeClr val="accent1"/>
                </a:solidFill>
                <a:latin typeface="Arial"/>
                <a:ea typeface="Arial"/>
                <a:cs typeface="Arial"/>
                <a:sym typeface="Arial"/>
              </a:rPr>
            </a:br>
            <a:r>
              <a:rPr lang="en" sz="1100">
                <a:solidFill>
                  <a:schemeClr val="accent1"/>
                </a:solidFill>
                <a:latin typeface="Arial"/>
                <a:ea typeface="Arial"/>
                <a:cs typeface="Arial"/>
                <a:sym typeface="Arial"/>
              </a:rPr>
              <a:t> </a:t>
            </a:r>
            <a:r>
              <a:rPr i="1" lang="en" sz="1100">
                <a:latin typeface="Arial"/>
                <a:ea typeface="Arial"/>
                <a:cs typeface="Arial"/>
                <a:sym typeface="Arial"/>
              </a:rPr>
              <a:t>Definition:</a:t>
            </a:r>
            <a:r>
              <a:rPr lang="en" sz="1100">
                <a:latin typeface="Arial"/>
                <a:ea typeface="Arial"/>
                <a:cs typeface="Arial"/>
                <a:sym typeface="Arial"/>
              </a:rPr>
              <a:t> The agent does not generate a response for the task.</a:t>
            </a:r>
            <a:endParaRPr sz="1100">
              <a:latin typeface="Arial"/>
              <a:ea typeface="Arial"/>
              <a:cs typeface="Arial"/>
              <a:sym typeface="Arial"/>
            </a:endParaRPr>
          </a:p>
          <a:p>
            <a:pPr indent="0" lvl="0" marL="0" rtl="0" algn="l">
              <a:spcBef>
                <a:spcPts val="1200"/>
              </a:spcBef>
              <a:spcAft>
                <a:spcPts val="0"/>
              </a:spcAft>
              <a:buNone/>
            </a:pPr>
            <a:r>
              <a:rPr i="1" lang="en" sz="1100">
                <a:latin typeface="Arial"/>
                <a:ea typeface="Arial"/>
                <a:cs typeface="Arial"/>
                <a:sym typeface="Arial"/>
              </a:rPr>
              <a:t>Evaluation:</a:t>
            </a:r>
            <a:br>
              <a:rPr i="1" lang="en" sz="1100">
                <a:latin typeface="Arial"/>
                <a:ea typeface="Arial"/>
                <a:cs typeface="Arial"/>
                <a:sym typeface="Arial"/>
              </a:rPr>
            </a:br>
            <a:r>
              <a:rPr lang="en" sz="1100">
                <a:latin typeface="Arial"/>
                <a:ea typeface="Arial"/>
                <a:cs typeface="Arial"/>
                <a:sym typeface="Arial"/>
              </a:rPr>
              <a:t> • </a:t>
            </a:r>
            <a:r>
              <a:rPr b="1" lang="en" sz="1100">
                <a:latin typeface="Arial"/>
                <a:ea typeface="Arial"/>
                <a:cs typeface="Arial"/>
                <a:sym typeface="Arial"/>
              </a:rPr>
              <a:t>Task Completion:</a:t>
            </a:r>
            <a:r>
              <a:rPr lang="en" sz="1100">
                <a:latin typeface="Arial"/>
                <a:ea typeface="Arial"/>
                <a:cs typeface="Arial"/>
                <a:sym typeface="Arial"/>
              </a:rPr>
              <a:t> 1 (Not at all Complete)</a:t>
            </a:r>
            <a:br>
              <a:rPr lang="en" sz="1100">
                <a:latin typeface="Arial"/>
                <a:ea typeface="Arial"/>
                <a:cs typeface="Arial"/>
                <a:sym typeface="Arial"/>
              </a:rPr>
            </a:br>
            <a:r>
              <a:rPr lang="en" sz="1100">
                <a:latin typeface="Arial"/>
                <a:ea typeface="Arial"/>
                <a:cs typeface="Arial"/>
                <a:sym typeface="Arial"/>
              </a:rPr>
              <a:t> • </a:t>
            </a:r>
            <a:r>
              <a:rPr b="1" lang="en" sz="1100">
                <a:latin typeface="Arial"/>
                <a:ea typeface="Arial"/>
                <a:cs typeface="Arial"/>
                <a:sym typeface="Arial"/>
              </a:rPr>
              <a:t>Factual Accuracy:</a:t>
            </a:r>
            <a:r>
              <a:rPr lang="en" sz="1100">
                <a:latin typeface="Arial"/>
                <a:ea typeface="Arial"/>
                <a:cs typeface="Arial"/>
                <a:sym typeface="Arial"/>
              </a:rPr>
              <a:t> 0 (Cannot Confidently Assess)</a:t>
            </a:r>
            <a:br>
              <a:rPr lang="en" sz="1100">
                <a:latin typeface="Arial"/>
                <a:ea typeface="Arial"/>
                <a:cs typeface="Arial"/>
                <a:sym typeface="Arial"/>
              </a:rPr>
            </a:br>
            <a:r>
              <a:rPr lang="en" sz="1100">
                <a:latin typeface="Arial"/>
                <a:ea typeface="Arial"/>
                <a:cs typeface="Arial"/>
                <a:sym typeface="Arial"/>
              </a:rPr>
              <a:t> • </a:t>
            </a:r>
            <a:r>
              <a:rPr b="1" lang="en" sz="1100">
                <a:latin typeface="Arial"/>
                <a:ea typeface="Arial"/>
                <a:cs typeface="Arial"/>
                <a:sym typeface="Arial"/>
              </a:rPr>
              <a:t>AI Performance:</a:t>
            </a:r>
            <a:r>
              <a:rPr lang="en" sz="1100">
                <a:latin typeface="Arial"/>
                <a:ea typeface="Arial"/>
                <a:cs typeface="Arial"/>
                <a:sym typeface="Arial"/>
              </a:rPr>
              <a:t> 1 (Unacceptable, broken, or nonsensical)</a:t>
            </a:r>
            <a:endParaRPr sz="1100">
              <a:latin typeface="Arial"/>
              <a:ea typeface="Arial"/>
              <a:cs typeface="Arial"/>
              <a:sym typeface="Arial"/>
            </a:endParaRPr>
          </a:p>
          <a:p>
            <a:pPr indent="0" lvl="0" marL="0" rtl="0" algn="l">
              <a:spcBef>
                <a:spcPts val="1200"/>
              </a:spcBef>
              <a:spcAft>
                <a:spcPts val="1200"/>
              </a:spcAft>
              <a:buNone/>
            </a:pPr>
            <a:r>
              <a:t/>
            </a:r>
            <a:endParaRPr sz="1100">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1"/>
          <p:cNvSpPr txBox="1"/>
          <p:nvPr>
            <p:ph type="title"/>
          </p:nvPr>
        </p:nvSpPr>
        <p:spPr>
          <a:xfrm>
            <a:off x="311700" y="63014"/>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Edge Cases: Cannot Confidently Assess (Refusals)</a:t>
            </a:r>
            <a:endParaRPr sz="2000"/>
          </a:p>
        </p:txBody>
      </p:sp>
      <p:pic>
        <p:nvPicPr>
          <p:cNvPr id="178" name="Google Shape;178;p31"/>
          <p:cNvPicPr preferRelativeResize="0"/>
          <p:nvPr/>
        </p:nvPicPr>
        <p:blipFill>
          <a:blip r:embed="rId3">
            <a:alphaModFix/>
          </a:blip>
          <a:stretch>
            <a:fillRect/>
          </a:stretch>
        </p:blipFill>
        <p:spPr>
          <a:xfrm>
            <a:off x="6838875" y="3305575"/>
            <a:ext cx="2076525" cy="1609324"/>
          </a:xfrm>
          <a:prstGeom prst="rect">
            <a:avLst/>
          </a:prstGeom>
          <a:noFill/>
          <a:ln>
            <a:noFill/>
          </a:ln>
        </p:spPr>
      </p:pic>
      <p:sp>
        <p:nvSpPr>
          <p:cNvPr id="179" name="Google Shape;179;p31"/>
          <p:cNvSpPr txBox="1"/>
          <p:nvPr>
            <p:ph idx="1" type="body"/>
          </p:nvPr>
        </p:nvSpPr>
        <p:spPr>
          <a:xfrm>
            <a:off x="450450" y="540225"/>
            <a:ext cx="8520600" cy="49116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100">
                <a:latin typeface="Arial"/>
                <a:ea typeface="Arial"/>
                <a:cs typeface="Arial"/>
                <a:sym typeface="Arial"/>
              </a:rPr>
              <a:t>4. Valid and helpful refusal</a:t>
            </a:r>
            <a:br>
              <a:rPr b="1" lang="en" sz="1100">
                <a:latin typeface="Arial"/>
                <a:ea typeface="Arial"/>
                <a:cs typeface="Arial"/>
                <a:sym typeface="Arial"/>
              </a:rPr>
            </a:br>
            <a:r>
              <a:rPr i="1" lang="en" sz="1100">
                <a:latin typeface="Arial"/>
                <a:ea typeface="Arial"/>
                <a:cs typeface="Arial"/>
                <a:sym typeface="Arial"/>
              </a:rPr>
              <a:t>Definition:</a:t>
            </a:r>
            <a:r>
              <a:rPr lang="en" sz="1100">
                <a:latin typeface="Arial"/>
                <a:ea typeface="Arial"/>
                <a:cs typeface="Arial"/>
                <a:sym typeface="Arial"/>
              </a:rPr>
              <a:t> The agent is unable to complete the task due to legitimate reasons such as safety constraints or insufficient information. It clearly explains why it cannot proceed and provides guidance, alternatives, or appropriate clarifying questions.</a:t>
            </a:r>
            <a:endParaRPr sz="1100">
              <a:latin typeface="Arial"/>
              <a:ea typeface="Arial"/>
              <a:cs typeface="Arial"/>
              <a:sym typeface="Arial"/>
            </a:endParaRPr>
          </a:p>
          <a:p>
            <a:pPr indent="0" lvl="0" marL="0" rtl="0" algn="l">
              <a:spcBef>
                <a:spcPts val="1200"/>
              </a:spcBef>
              <a:spcAft>
                <a:spcPts val="0"/>
              </a:spcAft>
              <a:buNone/>
            </a:pPr>
            <a:r>
              <a:rPr lang="en" sz="1100">
                <a:latin typeface="Arial"/>
                <a:ea typeface="Arial"/>
                <a:cs typeface="Arial"/>
                <a:sym typeface="Arial"/>
              </a:rPr>
              <a:t>Prompt: Go to myeyebb.com and put Cyber Pink Prescription Cosplay Contacts into the cart.</a:t>
            </a:r>
            <a:endParaRPr sz="1100">
              <a:latin typeface="Arial"/>
              <a:ea typeface="Arial"/>
              <a:cs typeface="Arial"/>
              <a:sym typeface="Arial"/>
            </a:endParaRPr>
          </a:p>
          <a:p>
            <a:pPr indent="0" lvl="0" marL="0" rtl="0" algn="l">
              <a:spcBef>
                <a:spcPts val="1200"/>
              </a:spcBef>
              <a:spcAft>
                <a:spcPts val="0"/>
              </a:spcAft>
              <a:buNone/>
            </a:pPr>
            <a:r>
              <a:t/>
            </a:r>
            <a:endParaRPr b="1" sz="1100">
              <a:latin typeface="Arial"/>
              <a:ea typeface="Arial"/>
              <a:cs typeface="Arial"/>
              <a:sym typeface="Arial"/>
            </a:endParaRPr>
          </a:p>
          <a:p>
            <a:pPr indent="0" lvl="0" marL="0" rtl="0" algn="l">
              <a:spcBef>
                <a:spcPts val="1200"/>
              </a:spcBef>
              <a:spcAft>
                <a:spcPts val="0"/>
              </a:spcAft>
              <a:buNone/>
            </a:pPr>
            <a:r>
              <a:t/>
            </a:r>
            <a:endParaRPr b="1" sz="1100">
              <a:latin typeface="Arial"/>
              <a:ea typeface="Arial"/>
              <a:cs typeface="Arial"/>
              <a:sym typeface="Arial"/>
            </a:endParaRPr>
          </a:p>
          <a:p>
            <a:pPr indent="0" lvl="0" marL="0" rtl="0" algn="l">
              <a:spcBef>
                <a:spcPts val="1200"/>
              </a:spcBef>
              <a:spcAft>
                <a:spcPts val="0"/>
              </a:spcAft>
              <a:buNone/>
            </a:pPr>
            <a:r>
              <a:t/>
            </a:r>
            <a:endParaRPr b="1" sz="1100">
              <a:latin typeface="Arial"/>
              <a:ea typeface="Arial"/>
              <a:cs typeface="Arial"/>
              <a:sym typeface="Arial"/>
            </a:endParaRPr>
          </a:p>
          <a:p>
            <a:pPr indent="0" lvl="0" marL="0" rtl="0" algn="l">
              <a:spcBef>
                <a:spcPts val="1200"/>
              </a:spcBef>
              <a:spcAft>
                <a:spcPts val="0"/>
              </a:spcAft>
              <a:buNone/>
            </a:pPr>
            <a:r>
              <a:t/>
            </a:r>
            <a:endParaRPr b="1" sz="1100">
              <a:latin typeface="Arial"/>
              <a:ea typeface="Arial"/>
              <a:cs typeface="Arial"/>
              <a:sym typeface="Arial"/>
            </a:endParaRPr>
          </a:p>
          <a:p>
            <a:pPr indent="0" lvl="0" marL="0" rtl="0" algn="l">
              <a:spcBef>
                <a:spcPts val="1200"/>
              </a:spcBef>
              <a:spcAft>
                <a:spcPts val="0"/>
              </a:spcAft>
              <a:buNone/>
            </a:pPr>
            <a:r>
              <a:t/>
            </a:r>
            <a:endParaRPr b="1" sz="1100">
              <a:latin typeface="Arial"/>
              <a:ea typeface="Arial"/>
              <a:cs typeface="Arial"/>
              <a:sym typeface="Arial"/>
            </a:endParaRPr>
          </a:p>
          <a:p>
            <a:pPr indent="0" lvl="0" marL="0" rtl="0" algn="l">
              <a:spcBef>
                <a:spcPts val="1200"/>
              </a:spcBef>
              <a:spcAft>
                <a:spcPts val="0"/>
              </a:spcAft>
              <a:buNone/>
            </a:pPr>
            <a:r>
              <a:rPr i="1" lang="en" sz="1100">
                <a:latin typeface="Arial"/>
                <a:ea typeface="Arial"/>
                <a:cs typeface="Arial"/>
                <a:sym typeface="Arial"/>
              </a:rPr>
              <a:t>Evaluation:</a:t>
            </a:r>
            <a:endParaRPr i="1" sz="1100">
              <a:latin typeface="Arial"/>
              <a:ea typeface="Arial"/>
              <a:cs typeface="Arial"/>
              <a:sym typeface="Arial"/>
            </a:endParaRPr>
          </a:p>
          <a:p>
            <a:pPr indent="0" lvl="0" marL="0" rtl="0" algn="l">
              <a:spcBef>
                <a:spcPts val="1200"/>
              </a:spcBef>
              <a:spcAft>
                <a:spcPts val="0"/>
              </a:spcAft>
              <a:buNone/>
            </a:pPr>
            <a:r>
              <a:rPr lang="en" sz="1100">
                <a:latin typeface="Arial"/>
                <a:ea typeface="Arial"/>
                <a:cs typeface="Arial"/>
                <a:sym typeface="Arial"/>
              </a:rPr>
              <a:t>The agent explains that the user’s request involves a safety concern and suggests consulting a professional before purchasing the product. While the task is not completed, the agent provides a clear reason and helpful guidance on the next steps.</a:t>
            </a:r>
            <a:endParaRPr sz="1100">
              <a:latin typeface="Arial"/>
              <a:ea typeface="Arial"/>
              <a:cs typeface="Arial"/>
              <a:sym typeface="Arial"/>
            </a:endParaRPr>
          </a:p>
          <a:p>
            <a:pPr indent="0" lvl="0" marL="0" rtl="0" algn="l">
              <a:spcBef>
                <a:spcPts val="1200"/>
              </a:spcBef>
              <a:spcAft>
                <a:spcPts val="0"/>
              </a:spcAft>
              <a:buNone/>
            </a:pPr>
            <a:r>
              <a:rPr lang="en" sz="1100">
                <a:latin typeface="Arial"/>
                <a:ea typeface="Arial"/>
                <a:cs typeface="Arial"/>
                <a:sym typeface="Arial"/>
              </a:rPr>
              <a:t> • </a:t>
            </a:r>
            <a:r>
              <a:rPr b="1" lang="en" sz="1100">
                <a:latin typeface="Arial"/>
                <a:ea typeface="Arial"/>
                <a:cs typeface="Arial"/>
                <a:sym typeface="Arial"/>
              </a:rPr>
              <a:t>Task Completion:</a:t>
            </a:r>
            <a:r>
              <a:rPr lang="en" sz="1100">
                <a:latin typeface="Arial"/>
                <a:ea typeface="Arial"/>
                <a:cs typeface="Arial"/>
                <a:sym typeface="Arial"/>
              </a:rPr>
              <a:t> 5 (Fully Complete)</a:t>
            </a:r>
            <a:br>
              <a:rPr lang="en" sz="1100">
                <a:latin typeface="Arial"/>
                <a:ea typeface="Arial"/>
                <a:cs typeface="Arial"/>
                <a:sym typeface="Arial"/>
              </a:rPr>
            </a:br>
            <a:r>
              <a:rPr lang="en" sz="1100">
                <a:latin typeface="Arial"/>
                <a:ea typeface="Arial"/>
                <a:cs typeface="Arial"/>
                <a:sym typeface="Arial"/>
              </a:rPr>
              <a:t> • </a:t>
            </a:r>
            <a:r>
              <a:rPr b="1" lang="en" sz="1100">
                <a:latin typeface="Arial"/>
                <a:ea typeface="Arial"/>
                <a:cs typeface="Arial"/>
                <a:sym typeface="Arial"/>
              </a:rPr>
              <a:t>Factual Accuracy:</a:t>
            </a:r>
            <a:r>
              <a:rPr lang="en" sz="1100">
                <a:latin typeface="Arial"/>
                <a:ea typeface="Arial"/>
                <a:cs typeface="Arial"/>
                <a:sym typeface="Arial"/>
              </a:rPr>
              <a:t> 5 (Completely Accurate)</a:t>
            </a:r>
            <a:br>
              <a:rPr lang="en" sz="1100">
                <a:latin typeface="Arial"/>
                <a:ea typeface="Arial"/>
                <a:cs typeface="Arial"/>
                <a:sym typeface="Arial"/>
              </a:rPr>
            </a:br>
            <a:r>
              <a:rPr lang="en" sz="1100">
                <a:latin typeface="Arial"/>
                <a:ea typeface="Arial"/>
                <a:cs typeface="Arial"/>
                <a:sym typeface="Arial"/>
              </a:rPr>
              <a:t> • </a:t>
            </a:r>
            <a:r>
              <a:rPr b="1" lang="en" sz="1100">
                <a:latin typeface="Arial"/>
                <a:ea typeface="Arial"/>
                <a:cs typeface="Arial"/>
                <a:sym typeface="Arial"/>
              </a:rPr>
              <a:t>AI Performance:</a:t>
            </a:r>
            <a:r>
              <a:rPr lang="en" sz="1100">
                <a:latin typeface="Arial"/>
                <a:ea typeface="Arial"/>
                <a:cs typeface="Arial"/>
                <a:sym typeface="Arial"/>
              </a:rPr>
              <a:t> 5 (Excellent expert and optimal)</a:t>
            </a:r>
            <a:endParaRPr sz="1100">
              <a:latin typeface="Arial"/>
              <a:ea typeface="Arial"/>
              <a:cs typeface="Arial"/>
              <a:sym typeface="Arial"/>
            </a:endParaRPr>
          </a:p>
          <a:p>
            <a:pPr indent="0" lvl="0" marL="0" rtl="0" algn="l">
              <a:spcBef>
                <a:spcPts val="1200"/>
              </a:spcBef>
              <a:spcAft>
                <a:spcPts val="1200"/>
              </a:spcAft>
              <a:buNone/>
            </a:pPr>
            <a:r>
              <a:t/>
            </a:r>
            <a:endParaRPr b="1" sz="1100">
              <a:latin typeface="Arial"/>
              <a:ea typeface="Arial"/>
              <a:cs typeface="Arial"/>
              <a:sym typeface="Arial"/>
            </a:endParaRPr>
          </a:p>
        </p:txBody>
      </p:sp>
      <p:pic>
        <p:nvPicPr>
          <p:cNvPr id="180" name="Google Shape;180;p31"/>
          <p:cNvPicPr preferRelativeResize="0"/>
          <p:nvPr/>
        </p:nvPicPr>
        <p:blipFill>
          <a:blip r:embed="rId4">
            <a:alphaModFix/>
          </a:blip>
          <a:stretch>
            <a:fillRect/>
          </a:stretch>
        </p:blipFill>
        <p:spPr>
          <a:xfrm>
            <a:off x="1704725" y="1664960"/>
            <a:ext cx="4455799" cy="20058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2"/>
          <p:cNvSpPr txBox="1"/>
          <p:nvPr>
            <p:ph type="title"/>
          </p:nvPr>
        </p:nvSpPr>
        <p:spPr>
          <a:xfrm>
            <a:off x="311700" y="63014"/>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What Happens to Task Completion When FA is Cannot Confidently Assess?</a:t>
            </a:r>
            <a:endParaRPr sz="2000"/>
          </a:p>
        </p:txBody>
      </p:sp>
      <p:pic>
        <p:nvPicPr>
          <p:cNvPr id="186" name="Google Shape;186;p32"/>
          <p:cNvPicPr preferRelativeResize="0"/>
          <p:nvPr/>
        </p:nvPicPr>
        <p:blipFill>
          <a:blip r:embed="rId3">
            <a:alphaModFix/>
          </a:blip>
          <a:stretch>
            <a:fillRect/>
          </a:stretch>
        </p:blipFill>
        <p:spPr>
          <a:xfrm>
            <a:off x="6838875" y="3305575"/>
            <a:ext cx="2076525" cy="1609324"/>
          </a:xfrm>
          <a:prstGeom prst="rect">
            <a:avLst/>
          </a:prstGeom>
          <a:noFill/>
          <a:ln>
            <a:noFill/>
          </a:ln>
        </p:spPr>
      </p:pic>
      <p:sp>
        <p:nvSpPr>
          <p:cNvPr id="187" name="Google Shape;187;p32"/>
          <p:cNvSpPr txBox="1"/>
          <p:nvPr>
            <p:ph idx="1" type="body"/>
          </p:nvPr>
        </p:nvSpPr>
        <p:spPr>
          <a:xfrm>
            <a:off x="450450" y="645195"/>
            <a:ext cx="8520600" cy="46905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400">
                <a:latin typeface="Arial"/>
                <a:ea typeface="Arial"/>
                <a:cs typeface="Arial"/>
                <a:sym typeface="Arial"/>
              </a:rPr>
              <a:t>Do </a:t>
            </a:r>
            <a:r>
              <a:rPr b="1" lang="en" sz="1400">
                <a:latin typeface="Arial"/>
                <a:ea typeface="Arial"/>
                <a:cs typeface="Arial"/>
                <a:sym typeface="Arial"/>
              </a:rPr>
              <a:t>not</a:t>
            </a:r>
            <a:r>
              <a:rPr lang="en" sz="1400">
                <a:latin typeface="Arial"/>
                <a:ea typeface="Arial"/>
                <a:cs typeface="Arial"/>
                <a:sym typeface="Arial"/>
              </a:rPr>
              <a:t> assign Fully Complete (5)</a:t>
            </a:r>
            <a:endParaRPr sz="1400">
              <a:latin typeface="Arial"/>
              <a:ea typeface="Arial"/>
              <a:cs typeface="Arial"/>
              <a:sym typeface="Arial"/>
            </a:endParaRPr>
          </a:p>
          <a:p>
            <a:pPr indent="0" lvl="0" marL="0" rtl="0" algn="l">
              <a:spcBef>
                <a:spcPts val="1200"/>
              </a:spcBef>
              <a:spcAft>
                <a:spcPts val="0"/>
              </a:spcAft>
              <a:buNone/>
            </a:pPr>
            <a:r>
              <a:t/>
            </a:r>
            <a:endParaRPr sz="1400">
              <a:latin typeface="Arial"/>
              <a:ea typeface="Arial"/>
              <a:cs typeface="Arial"/>
              <a:sym typeface="Arial"/>
            </a:endParaRPr>
          </a:p>
          <a:p>
            <a:pPr indent="0" lvl="0" marL="0" rtl="0" algn="l">
              <a:spcBef>
                <a:spcPts val="1200"/>
              </a:spcBef>
              <a:spcAft>
                <a:spcPts val="0"/>
              </a:spcAft>
              <a:buNone/>
            </a:pPr>
            <a:r>
              <a:rPr lang="en" sz="1400">
                <a:latin typeface="Arial"/>
                <a:ea typeface="Arial"/>
                <a:cs typeface="Arial"/>
                <a:sym typeface="Arial"/>
              </a:rPr>
              <a:t>🔑 </a:t>
            </a:r>
            <a:r>
              <a:rPr b="1" lang="en" sz="1400">
                <a:latin typeface="Arial"/>
                <a:ea typeface="Arial"/>
                <a:cs typeface="Arial"/>
                <a:sym typeface="Arial"/>
              </a:rPr>
              <a:t>Core Rule:</a:t>
            </a:r>
            <a:endParaRPr b="1" sz="1400">
              <a:latin typeface="Arial"/>
              <a:ea typeface="Arial"/>
              <a:cs typeface="Arial"/>
              <a:sym typeface="Arial"/>
            </a:endParaRPr>
          </a:p>
          <a:p>
            <a:pPr indent="0" lvl="0" marL="0" rtl="0" algn="l">
              <a:spcBef>
                <a:spcPts val="1200"/>
              </a:spcBef>
              <a:spcAft>
                <a:spcPts val="0"/>
              </a:spcAft>
              <a:buNone/>
            </a:pPr>
            <a:r>
              <a:rPr lang="en" sz="1400">
                <a:latin typeface="Arial"/>
                <a:ea typeface="Arial"/>
                <a:cs typeface="Arial"/>
                <a:sym typeface="Arial"/>
              </a:rPr>
              <a:t>If Factual Accuracy is rated as Cannot Confidently Assess for a critical claim, Task Completion cannot be Fully Complete.</a:t>
            </a:r>
            <a:endParaRPr sz="1400">
              <a:latin typeface="Arial"/>
              <a:ea typeface="Arial"/>
              <a:cs typeface="Arial"/>
              <a:sym typeface="Arial"/>
            </a:endParaRPr>
          </a:p>
          <a:p>
            <a:pPr indent="0" lvl="0" marL="0" rtl="0" algn="l">
              <a:spcBef>
                <a:spcPts val="1200"/>
              </a:spcBef>
              <a:spcAft>
                <a:spcPts val="1200"/>
              </a:spcAft>
              <a:buNone/>
            </a:pPr>
            <a:r>
              <a:t/>
            </a:r>
            <a:endParaRPr sz="1400">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3"/>
          <p:cNvSpPr txBox="1"/>
          <p:nvPr>
            <p:ph type="title"/>
          </p:nvPr>
        </p:nvSpPr>
        <p:spPr>
          <a:xfrm>
            <a:off x="311700" y="63014"/>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Factual Accuracy and Task Completion Alignment for Evidence-Based Tasks</a:t>
            </a:r>
            <a:endParaRPr sz="2000"/>
          </a:p>
        </p:txBody>
      </p:sp>
      <p:pic>
        <p:nvPicPr>
          <p:cNvPr id="193" name="Google Shape;193;p33"/>
          <p:cNvPicPr preferRelativeResize="0"/>
          <p:nvPr/>
        </p:nvPicPr>
        <p:blipFill>
          <a:blip r:embed="rId3">
            <a:alphaModFix/>
          </a:blip>
          <a:stretch>
            <a:fillRect/>
          </a:stretch>
        </p:blipFill>
        <p:spPr>
          <a:xfrm>
            <a:off x="6838875" y="3305575"/>
            <a:ext cx="2076525" cy="1609324"/>
          </a:xfrm>
          <a:prstGeom prst="rect">
            <a:avLst/>
          </a:prstGeom>
          <a:noFill/>
          <a:ln>
            <a:noFill/>
          </a:ln>
        </p:spPr>
      </p:pic>
      <p:sp>
        <p:nvSpPr>
          <p:cNvPr id="194" name="Google Shape;194;p33"/>
          <p:cNvSpPr txBox="1"/>
          <p:nvPr>
            <p:ph idx="1" type="body"/>
          </p:nvPr>
        </p:nvSpPr>
        <p:spPr>
          <a:xfrm>
            <a:off x="403797" y="516899"/>
            <a:ext cx="8520600" cy="4690500"/>
          </a:xfrm>
          <a:prstGeom prst="rect">
            <a:avLst/>
          </a:prstGeom>
        </p:spPr>
        <p:txBody>
          <a:bodyPr anchorCtr="0" anchor="t" bIns="91425" lIns="91425" spcFirstLastPara="1" rIns="91425" wrap="square" tIns="91425">
            <a:noAutofit/>
          </a:bodyPr>
          <a:lstStyle/>
          <a:p>
            <a:pPr indent="0" lvl="0" marL="0" rtl="0" algn="l">
              <a:spcBef>
                <a:spcPts val="1800"/>
              </a:spcBef>
              <a:spcAft>
                <a:spcPts val="0"/>
              </a:spcAft>
              <a:buNone/>
            </a:pPr>
            <a:r>
              <a:rPr b="1" lang="en" sz="1500">
                <a:latin typeface="Arial"/>
                <a:ea typeface="Arial"/>
                <a:cs typeface="Arial"/>
                <a:sym typeface="Arial"/>
              </a:rPr>
              <a:t>✅ Case 1: Valid Evidence Provided (Screenshot or Link)</a:t>
            </a:r>
            <a:endParaRPr b="1" sz="1500">
              <a:latin typeface="Arial"/>
              <a:ea typeface="Arial"/>
              <a:cs typeface="Arial"/>
              <a:sym typeface="Arial"/>
            </a:endParaRPr>
          </a:p>
          <a:p>
            <a:pPr indent="0" lvl="0" marL="0" rtl="0" algn="l">
              <a:spcBef>
                <a:spcPts val="1200"/>
              </a:spcBef>
              <a:spcAft>
                <a:spcPts val="0"/>
              </a:spcAft>
              <a:buNone/>
            </a:pPr>
            <a:r>
              <a:rPr b="1" lang="en" sz="1300">
                <a:latin typeface="Arial"/>
                <a:ea typeface="Arial"/>
                <a:cs typeface="Arial"/>
                <a:sym typeface="Arial"/>
              </a:rPr>
              <a:t>Example:</a:t>
            </a:r>
            <a:br>
              <a:rPr b="1" lang="en" sz="1300">
                <a:latin typeface="Arial"/>
                <a:ea typeface="Arial"/>
                <a:cs typeface="Arial"/>
                <a:sym typeface="Arial"/>
              </a:rPr>
            </a:br>
            <a:r>
              <a:rPr lang="en" sz="1300">
                <a:latin typeface="Arial"/>
                <a:ea typeface="Arial"/>
                <a:cs typeface="Arial"/>
                <a:sym typeface="Arial"/>
              </a:rPr>
              <a:t> “I have added the Palm Golf Co. Icon Snapback Hat to your cart on palmgolfco.com.”</a:t>
            </a:r>
            <a:endParaRPr sz="1300">
              <a:latin typeface="Arial"/>
              <a:ea typeface="Arial"/>
              <a:cs typeface="Arial"/>
              <a:sym typeface="Arial"/>
            </a:endParaRPr>
          </a:p>
          <a:p>
            <a:pPr indent="0" lvl="0" marL="0" rtl="0" algn="l">
              <a:spcBef>
                <a:spcPts val="1200"/>
              </a:spcBef>
              <a:spcAft>
                <a:spcPts val="0"/>
              </a:spcAft>
              <a:buNone/>
            </a:pPr>
            <a:r>
              <a:rPr lang="en" sz="1300">
                <a:latin typeface="Arial"/>
                <a:ea typeface="Arial"/>
                <a:cs typeface="Arial"/>
                <a:sym typeface="Arial"/>
              </a:rPr>
              <a:t>If a valid screenshot or link clearly verifies the action:</a:t>
            </a:r>
            <a:endParaRPr sz="1300">
              <a:latin typeface="Arial"/>
              <a:ea typeface="Arial"/>
              <a:cs typeface="Arial"/>
              <a:sym typeface="Arial"/>
            </a:endParaRPr>
          </a:p>
          <a:p>
            <a:pPr indent="-311150" lvl="0" marL="457200" rtl="0" algn="l">
              <a:spcBef>
                <a:spcPts val="1200"/>
              </a:spcBef>
              <a:spcAft>
                <a:spcPts val="0"/>
              </a:spcAft>
              <a:buSzPts val="1300"/>
              <a:buFont typeface="Arial"/>
              <a:buChar char="●"/>
            </a:pPr>
            <a:r>
              <a:rPr b="1" lang="en" sz="1300">
                <a:latin typeface="Arial"/>
                <a:ea typeface="Arial"/>
                <a:cs typeface="Arial"/>
                <a:sym typeface="Arial"/>
              </a:rPr>
              <a:t>Factual Accuracy:</a:t>
            </a:r>
            <a:r>
              <a:rPr lang="en" sz="1300">
                <a:latin typeface="Arial"/>
                <a:ea typeface="Arial"/>
                <a:cs typeface="Arial"/>
                <a:sym typeface="Arial"/>
              </a:rPr>
              <a:t> Fully Accurate</a:t>
            </a: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b="1" lang="en" sz="1300">
                <a:latin typeface="Arial"/>
                <a:ea typeface="Arial"/>
                <a:cs typeface="Arial"/>
                <a:sym typeface="Arial"/>
              </a:rPr>
              <a:t>Task Completion:</a:t>
            </a:r>
            <a:r>
              <a:rPr lang="en" sz="1300">
                <a:latin typeface="Arial"/>
                <a:ea typeface="Arial"/>
                <a:cs typeface="Arial"/>
                <a:sym typeface="Arial"/>
              </a:rPr>
              <a:t> Fully Complete</a:t>
            </a:r>
            <a:endParaRPr sz="1300">
              <a:latin typeface="Arial"/>
              <a:ea typeface="Arial"/>
              <a:cs typeface="Arial"/>
              <a:sym typeface="Arial"/>
            </a:endParaRPr>
          </a:p>
          <a:p>
            <a:pPr indent="0" lvl="0" marL="0" rtl="0" algn="l">
              <a:spcBef>
                <a:spcPts val="1800"/>
              </a:spcBef>
              <a:spcAft>
                <a:spcPts val="0"/>
              </a:spcAft>
              <a:buNone/>
            </a:pPr>
            <a:r>
              <a:rPr b="1" lang="en" sz="1500">
                <a:latin typeface="Arial"/>
                <a:ea typeface="Arial"/>
                <a:cs typeface="Arial"/>
                <a:sym typeface="Arial"/>
              </a:rPr>
              <a:t>⚖ Case 2: Evidence Partially Verifies the Claim</a:t>
            </a:r>
            <a:endParaRPr b="1" sz="1500">
              <a:latin typeface="Arial"/>
              <a:ea typeface="Arial"/>
              <a:cs typeface="Arial"/>
              <a:sym typeface="Arial"/>
            </a:endParaRPr>
          </a:p>
          <a:p>
            <a:pPr indent="0" lvl="0" marL="0" rtl="0" algn="l">
              <a:spcBef>
                <a:spcPts val="1200"/>
              </a:spcBef>
              <a:spcAft>
                <a:spcPts val="0"/>
              </a:spcAft>
              <a:buNone/>
            </a:pPr>
            <a:r>
              <a:rPr lang="en" sz="1300">
                <a:latin typeface="Arial"/>
                <a:ea typeface="Arial"/>
                <a:cs typeface="Arial"/>
                <a:sym typeface="Arial"/>
              </a:rPr>
              <a:t>If the screenshot or link does not fully confirm completion, penalize proportionally based on the weight of the claim.</a:t>
            </a:r>
            <a:endParaRPr sz="1300">
              <a:latin typeface="Arial"/>
              <a:ea typeface="Arial"/>
              <a:cs typeface="Arial"/>
              <a:sym typeface="Arial"/>
            </a:endParaRPr>
          </a:p>
          <a:p>
            <a:pPr indent="0" lvl="0" marL="0" rtl="0" algn="l">
              <a:spcBef>
                <a:spcPts val="1200"/>
              </a:spcBef>
              <a:spcAft>
                <a:spcPts val="0"/>
              </a:spcAft>
              <a:buNone/>
            </a:pPr>
            <a:r>
              <a:rPr b="1" lang="en" sz="1300">
                <a:latin typeface="Arial"/>
                <a:ea typeface="Arial"/>
                <a:cs typeface="Arial"/>
                <a:sym typeface="Arial"/>
              </a:rPr>
              <a:t>Example:</a:t>
            </a:r>
            <a:br>
              <a:rPr b="1" lang="en" sz="1300">
                <a:latin typeface="Arial"/>
                <a:ea typeface="Arial"/>
                <a:cs typeface="Arial"/>
                <a:sym typeface="Arial"/>
              </a:rPr>
            </a:br>
            <a:r>
              <a:rPr lang="en" sz="1300">
                <a:latin typeface="Arial"/>
                <a:ea typeface="Arial"/>
                <a:cs typeface="Arial"/>
                <a:sym typeface="Arial"/>
              </a:rPr>
              <a:t> </a:t>
            </a:r>
            <a:r>
              <a:rPr b="1" lang="en" sz="1300">
                <a:latin typeface="Arial"/>
                <a:ea typeface="Arial"/>
                <a:cs typeface="Arial"/>
                <a:sym typeface="Arial"/>
              </a:rPr>
              <a:t>Prompt:</a:t>
            </a:r>
            <a:r>
              <a:rPr lang="en" sz="1300">
                <a:latin typeface="Arial"/>
                <a:ea typeface="Arial"/>
                <a:cs typeface="Arial"/>
                <a:sym typeface="Arial"/>
              </a:rPr>
              <a:t> Find the product and add it to the cart</a:t>
            </a:r>
            <a:br>
              <a:rPr lang="en" sz="1300">
                <a:latin typeface="Arial"/>
                <a:ea typeface="Arial"/>
                <a:cs typeface="Arial"/>
                <a:sym typeface="Arial"/>
              </a:rPr>
            </a:br>
            <a:r>
              <a:rPr lang="en" sz="1300">
                <a:latin typeface="Arial"/>
                <a:ea typeface="Arial"/>
                <a:cs typeface="Arial"/>
                <a:sym typeface="Arial"/>
              </a:rPr>
              <a:t> </a:t>
            </a:r>
            <a:r>
              <a:rPr b="1" lang="en" sz="1300">
                <a:latin typeface="Arial"/>
                <a:ea typeface="Arial"/>
                <a:cs typeface="Arial"/>
                <a:sym typeface="Arial"/>
              </a:rPr>
              <a:t>Response:</a:t>
            </a:r>
            <a:r>
              <a:rPr lang="en" sz="1300">
                <a:latin typeface="Arial"/>
                <a:ea typeface="Arial"/>
                <a:cs typeface="Arial"/>
                <a:sym typeface="Arial"/>
              </a:rPr>
              <a:t> Shows a screenshot of the product, but it is not added to the cart</a:t>
            </a:r>
            <a:endParaRPr sz="1300">
              <a:latin typeface="Arial"/>
              <a:ea typeface="Arial"/>
              <a:cs typeface="Arial"/>
              <a:sym typeface="Arial"/>
            </a:endParaRPr>
          </a:p>
          <a:p>
            <a:pPr indent="-311150" lvl="0" marL="457200" rtl="0" algn="l">
              <a:spcBef>
                <a:spcPts val="1200"/>
              </a:spcBef>
              <a:spcAft>
                <a:spcPts val="0"/>
              </a:spcAft>
              <a:buSzPts val="1300"/>
              <a:buFont typeface="Arial"/>
              <a:buChar char="●"/>
            </a:pPr>
            <a:r>
              <a:rPr b="1" lang="en" sz="1300">
                <a:latin typeface="Arial"/>
                <a:ea typeface="Arial"/>
                <a:cs typeface="Arial"/>
                <a:sym typeface="Arial"/>
              </a:rPr>
              <a:t>Factual Accuracy:</a:t>
            </a:r>
            <a:r>
              <a:rPr lang="en" sz="1300">
                <a:latin typeface="Arial"/>
                <a:ea typeface="Arial"/>
                <a:cs typeface="Arial"/>
                <a:sym typeface="Arial"/>
              </a:rPr>
              <a:t> Cannot Confidently Assess</a:t>
            </a: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b="1" lang="en" sz="1300">
                <a:latin typeface="Arial"/>
                <a:ea typeface="Arial"/>
                <a:cs typeface="Arial"/>
                <a:sym typeface="Arial"/>
              </a:rPr>
              <a:t>Task Completion:</a:t>
            </a:r>
            <a:r>
              <a:rPr lang="en" sz="1300">
                <a:latin typeface="Arial"/>
                <a:ea typeface="Arial"/>
                <a:cs typeface="Arial"/>
                <a:sym typeface="Arial"/>
              </a:rPr>
              <a:t> Partially Complete</a:t>
            </a:r>
            <a:endParaRPr sz="1300">
              <a:latin typeface="Arial"/>
              <a:ea typeface="Arial"/>
              <a:cs typeface="Arial"/>
              <a:sym typeface="Arial"/>
            </a:endParaRPr>
          </a:p>
          <a:p>
            <a:pPr indent="0" lvl="0" marL="0" rtl="0" algn="l">
              <a:spcBef>
                <a:spcPts val="1200"/>
              </a:spcBef>
              <a:spcAft>
                <a:spcPts val="1200"/>
              </a:spcAft>
              <a:buNone/>
            </a:pPr>
            <a:r>
              <a:t/>
            </a:r>
            <a:endParaRPr sz="1400">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4"/>
          <p:cNvSpPr txBox="1"/>
          <p:nvPr>
            <p:ph type="title"/>
          </p:nvPr>
        </p:nvSpPr>
        <p:spPr>
          <a:xfrm>
            <a:off x="311700" y="63014"/>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Factual Accuracy and Task Completion Alignment for Evidence-Based Tasks</a:t>
            </a:r>
            <a:endParaRPr sz="2000"/>
          </a:p>
        </p:txBody>
      </p:sp>
      <p:pic>
        <p:nvPicPr>
          <p:cNvPr id="200" name="Google Shape;200;p34"/>
          <p:cNvPicPr preferRelativeResize="0"/>
          <p:nvPr/>
        </p:nvPicPr>
        <p:blipFill>
          <a:blip r:embed="rId3">
            <a:alphaModFix/>
          </a:blip>
          <a:stretch>
            <a:fillRect/>
          </a:stretch>
        </p:blipFill>
        <p:spPr>
          <a:xfrm>
            <a:off x="6838875" y="3305575"/>
            <a:ext cx="2076525" cy="1609324"/>
          </a:xfrm>
          <a:prstGeom prst="rect">
            <a:avLst/>
          </a:prstGeom>
          <a:noFill/>
          <a:ln>
            <a:noFill/>
          </a:ln>
        </p:spPr>
      </p:pic>
      <p:sp>
        <p:nvSpPr>
          <p:cNvPr id="201" name="Google Shape;201;p34"/>
          <p:cNvSpPr txBox="1"/>
          <p:nvPr>
            <p:ph idx="1" type="body"/>
          </p:nvPr>
        </p:nvSpPr>
        <p:spPr>
          <a:xfrm>
            <a:off x="403800" y="516900"/>
            <a:ext cx="8520600" cy="4561200"/>
          </a:xfrm>
          <a:prstGeom prst="rect">
            <a:avLst/>
          </a:prstGeom>
        </p:spPr>
        <p:txBody>
          <a:bodyPr anchorCtr="0" anchor="t" bIns="91425" lIns="91425" spcFirstLastPara="1" rIns="91425" wrap="square" tIns="91425">
            <a:noAutofit/>
          </a:bodyPr>
          <a:lstStyle/>
          <a:p>
            <a:pPr indent="0" lvl="0" marL="0" rtl="0" algn="l">
              <a:spcBef>
                <a:spcPts val="1800"/>
              </a:spcBef>
              <a:spcAft>
                <a:spcPts val="0"/>
              </a:spcAft>
              <a:buNone/>
            </a:pPr>
            <a:r>
              <a:rPr b="1" lang="en" sz="1500">
                <a:latin typeface="Arial"/>
                <a:ea typeface="Arial"/>
                <a:cs typeface="Arial"/>
                <a:sym typeface="Arial"/>
              </a:rPr>
              <a:t>❌ Case 3: No Evidence Provided (Only AI Claim)</a:t>
            </a:r>
            <a:endParaRPr b="1" sz="1500">
              <a:latin typeface="Arial"/>
              <a:ea typeface="Arial"/>
              <a:cs typeface="Arial"/>
              <a:sym typeface="Arial"/>
            </a:endParaRPr>
          </a:p>
          <a:p>
            <a:pPr indent="0" lvl="0" marL="0" rtl="0" algn="l">
              <a:spcBef>
                <a:spcPts val="1200"/>
              </a:spcBef>
              <a:spcAft>
                <a:spcPts val="0"/>
              </a:spcAft>
              <a:buNone/>
            </a:pPr>
            <a:r>
              <a:rPr lang="en" sz="1100">
                <a:latin typeface="Arial"/>
                <a:ea typeface="Arial"/>
                <a:cs typeface="Arial"/>
                <a:sym typeface="Arial"/>
              </a:rPr>
              <a:t>If the response claims completion but provides no screenshot, link, or verifiable proof:</a:t>
            </a:r>
            <a:endParaRPr sz="1100">
              <a:latin typeface="Arial"/>
              <a:ea typeface="Arial"/>
              <a:cs typeface="Arial"/>
              <a:sym typeface="Arial"/>
            </a:endParaRPr>
          </a:p>
          <a:p>
            <a:pPr indent="-298450" lvl="0" marL="457200" rtl="0" algn="l">
              <a:spcBef>
                <a:spcPts val="1200"/>
              </a:spcBef>
              <a:spcAft>
                <a:spcPts val="0"/>
              </a:spcAft>
              <a:buSzPts val="1100"/>
              <a:buFont typeface="Arial"/>
              <a:buChar char="●"/>
            </a:pPr>
            <a:r>
              <a:rPr b="1" lang="en" sz="1100">
                <a:latin typeface="Arial"/>
                <a:ea typeface="Arial"/>
                <a:cs typeface="Arial"/>
                <a:sym typeface="Arial"/>
              </a:rPr>
              <a:t>Factual Accuracy:</a:t>
            </a:r>
            <a:r>
              <a:rPr lang="en" sz="1100">
                <a:latin typeface="Arial"/>
                <a:ea typeface="Arial"/>
                <a:cs typeface="Arial"/>
                <a:sym typeface="Arial"/>
              </a:rPr>
              <a:t> Cannot Confidently Assess (for the unverifiable claim)</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b="1" lang="en" sz="1100">
                <a:latin typeface="Arial"/>
                <a:ea typeface="Arial"/>
                <a:cs typeface="Arial"/>
                <a:sym typeface="Arial"/>
              </a:rPr>
              <a:t>Task Completion:</a:t>
            </a:r>
            <a:r>
              <a:rPr lang="en" sz="1100">
                <a:latin typeface="Arial"/>
                <a:ea typeface="Arial"/>
                <a:cs typeface="Arial"/>
                <a:sym typeface="Arial"/>
              </a:rPr>
              <a:t> 3–4 (Partially or Mostly Complete)</a:t>
            </a:r>
            <a:endParaRPr sz="1100">
              <a:latin typeface="Arial"/>
              <a:ea typeface="Arial"/>
              <a:cs typeface="Arial"/>
              <a:sym typeface="Arial"/>
            </a:endParaRPr>
          </a:p>
          <a:p>
            <a:pPr indent="0" lvl="0" marL="0" rtl="0" algn="l">
              <a:spcBef>
                <a:spcPts val="1800"/>
              </a:spcBef>
              <a:spcAft>
                <a:spcPts val="0"/>
              </a:spcAft>
              <a:buNone/>
            </a:pPr>
            <a:r>
              <a:rPr b="1" lang="en" sz="1500">
                <a:latin typeface="Arial"/>
                <a:ea typeface="Arial"/>
                <a:cs typeface="Arial"/>
                <a:sym typeface="Arial"/>
              </a:rPr>
              <a:t>🚫 Case 4: Screenshot Is Irrelevant to the Task</a:t>
            </a:r>
            <a:endParaRPr b="1" sz="1500">
              <a:latin typeface="Arial"/>
              <a:ea typeface="Arial"/>
              <a:cs typeface="Arial"/>
              <a:sym typeface="Arial"/>
            </a:endParaRPr>
          </a:p>
          <a:p>
            <a:pPr indent="0" lvl="0" marL="0" rtl="0" algn="l">
              <a:spcBef>
                <a:spcPts val="1200"/>
              </a:spcBef>
              <a:spcAft>
                <a:spcPts val="0"/>
              </a:spcAft>
              <a:buNone/>
            </a:pPr>
            <a:r>
              <a:rPr lang="en" sz="1100">
                <a:latin typeface="Arial"/>
                <a:ea typeface="Arial"/>
                <a:cs typeface="Arial"/>
                <a:sym typeface="Arial"/>
              </a:rPr>
              <a:t>If the provided screenshot does not relate to the claimed action:</a:t>
            </a:r>
            <a:endParaRPr sz="1100">
              <a:latin typeface="Arial"/>
              <a:ea typeface="Arial"/>
              <a:cs typeface="Arial"/>
              <a:sym typeface="Arial"/>
            </a:endParaRPr>
          </a:p>
          <a:p>
            <a:pPr indent="-298450" lvl="0" marL="457200" rtl="0" algn="l">
              <a:spcBef>
                <a:spcPts val="1200"/>
              </a:spcBef>
              <a:spcAft>
                <a:spcPts val="0"/>
              </a:spcAft>
              <a:buSzPts val="1100"/>
              <a:buFont typeface="Arial"/>
              <a:buChar char="●"/>
            </a:pPr>
            <a:r>
              <a:rPr b="1" lang="en" sz="1100">
                <a:latin typeface="Arial"/>
                <a:ea typeface="Arial"/>
                <a:cs typeface="Arial"/>
                <a:sym typeface="Arial"/>
              </a:rPr>
              <a:t>Factual Accuracy:</a:t>
            </a:r>
            <a:r>
              <a:rPr lang="en" sz="1100">
                <a:latin typeface="Arial"/>
                <a:ea typeface="Arial"/>
                <a:cs typeface="Arial"/>
                <a:sym typeface="Arial"/>
              </a:rPr>
              <a:t> Cannot Confidently Assess</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b="1" lang="en" sz="1100">
                <a:latin typeface="Arial"/>
                <a:ea typeface="Arial"/>
                <a:cs typeface="Arial"/>
                <a:sym typeface="Arial"/>
              </a:rPr>
              <a:t>Task Completion:</a:t>
            </a:r>
            <a:r>
              <a:rPr lang="en" sz="1100">
                <a:latin typeface="Arial"/>
                <a:ea typeface="Arial"/>
                <a:cs typeface="Arial"/>
                <a:sym typeface="Arial"/>
              </a:rPr>
              <a:t> Not at All Complete</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Overall performance reflects poor verification and execution.</a:t>
            </a:r>
            <a:endParaRPr sz="1100">
              <a:latin typeface="Arial"/>
              <a:ea typeface="Arial"/>
              <a:cs typeface="Arial"/>
              <a:sym typeface="Arial"/>
            </a:endParaRPr>
          </a:p>
          <a:p>
            <a:pPr indent="0" lvl="0" marL="0" rtl="0" algn="l">
              <a:spcBef>
                <a:spcPts val="1800"/>
              </a:spcBef>
              <a:spcAft>
                <a:spcPts val="0"/>
              </a:spcAft>
              <a:buNone/>
            </a:pPr>
            <a:r>
              <a:rPr b="1" lang="en" sz="1700">
                <a:latin typeface="Arial"/>
                <a:ea typeface="Arial"/>
                <a:cs typeface="Arial"/>
                <a:sym typeface="Arial"/>
              </a:rPr>
              <a:t>📌 Applies To:</a:t>
            </a:r>
            <a:endParaRPr b="1" sz="1700">
              <a:latin typeface="Arial"/>
              <a:ea typeface="Arial"/>
              <a:cs typeface="Arial"/>
              <a:sym typeface="Arial"/>
            </a:endParaRPr>
          </a:p>
          <a:p>
            <a:pPr indent="-298450" lvl="0" marL="457200" rtl="0" algn="l">
              <a:spcBef>
                <a:spcPts val="1200"/>
              </a:spcBef>
              <a:spcAft>
                <a:spcPts val="0"/>
              </a:spcAft>
              <a:buSzPts val="1100"/>
              <a:buFont typeface="Arial"/>
              <a:buChar char="●"/>
            </a:pPr>
            <a:r>
              <a:rPr lang="en" sz="1100">
                <a:latin typeface="Arial"/>
                <a:ea typeface="Arial"/>
                <a:cs typeface="Arial"/>
                <a:sym typeface="Arial"/>
              </a:rPr>
              <a:t>Add-to-cart actions</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Email sent claims</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Calendar event creation</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Dynamic prices or availability</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Any external action that cannot be verified</a:t>
            </a:r>
            <a:br>
              <a:rPr lang="en" sz="1100">
                <a:latin typeface="Arial"/>
                <a:ea typeface="Arial"/>
                <a:cs typeface="Arial"/>
                <a:sym typeface="Arial"/>
              </a:rPr>
            </a:br>
            <a:endParaRPr sz="1100">
              <a:latin typeface="Arial"/>
              <a:ea typeface="Arial"/>
              <a:cs typeface="Arial"/>
              <a:sym typeface="Arial"/>
            </a:endParaRPr>
          </a:p>
          <a:p>
            <a:pPr indent="0" lvl="0" marL="0" rtl="0" algn="l">
              <a:spcBef>
                <a:spcPts val="1200"/>
              </a:spcBef>
              <a:spcAft>
                <a:spcPts val="0"/>
              </a:spcAft>
              <a:buNone/>
            </a:pPr>
            <a:r>
              <a:t/>
            </a:r>
            <a:endParaRPr sz="1300">
              <a:latin typeface="Arial"/>
              <a:ea typeface="Arial"/>
              <a:cs typeface="Arial"/>
              <a:sym typeface="Arial"/>
            </a:endParaRPr>
          </a:p>
          <a:p>
            <a:pPr indent="0" lvl="0" marL="0" rtl="0" algn="l">
              <a:spcBef>
                <a:spcPts val="1200"/>
              </a:spcBef>
              <a:spcAft>
                <a:spcPts val="1200"/>
              </a:spcAft>
              <a:buNone/>
            </a:pPr>
            <a:r>
              <a:t/>
            </a:r>
            <a:endParaRPr sz="1400">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5"/>
          <p:cNvSpPr txBox="1"/>
          <p:nvPr>
            <p:ph type="title"/>
          </p:nvPr>
        </p:nvSpPr>
        <p:spPr>
          <a:xfrm>
            <a:off x="311700" y="63014"/>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Assessing Overall Factual Accuracy</a:t>
            </a:r>
            <a:endParaRPr sz="2000"/>
          </a:p>
        </p:txBody>
      </p:sp>
      <p:pic>
        <p:nvPicPr>
          <p:cNvPr id="207" name="Google Shape;207;p35"/>
          <p:cNvPicPr preferRelativeResize="0"/>
          <p:nvPr/>
        </p:nvPicPr>
        <p:blipFill>
          <a:blip r:embed="rId3">
            <a:alphaModFix/>
          </a:blip>
          <a:stretch>
            <a:fillRect/>
          </a:stretch>
        </p:blipFill>
        <p:spPr>
          <a:xfrm>
            <a:off x="6838875" y="3305575"/>
            <a:ext cx="2076525" cy="1609324"/>
          </a:xfrm>
          <a:prstGeom prst="rect">
            <a:avLst/>
          </a:prstGeom>
          <a:noFill/>
          <a:ln>
            <a:noFill/>
          </a:ln>
        </p:spPr>
      </p:pic>
      <p:sp>
        <p:nvSpPr>
          <p:cNvPr id="208" name="Google Shape;208;p35"/>
          <p:cNvSpPr txBox="1"/>
          <p:nvPr>
            <p:ph idx="1" type="body"/>
          </p:nvPr>
        </p:nvSpPr>
        <p:spPr>
          <a:xfrm>
            <a:off x="450450" y="645194"/>
            <a:ext cx="8520600" cy="43746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300">
                <a:latin typeface="Arial"/>
                <a:ea typeface="Arial"/>
                <a:cs typeface="Arial"/>
                <a:sym typeface="Arial"/>
              </a:rPr>
              <a:t>When evaluating overall accuracy across multiple claims:</a:t>
            </a:r>
            <a:endParaRPr sz="1300">
              <a:latin typeface="Arial"/>
              <a:ea typeface="Arial"/>
              <a:cs typeface="Arial"/>
              <a:sym typeface="Arial"/>
            </a:endParaRPr>
          </a:p>
          <a:p>
            <a:pPr indent="-311150" lvl="0" marL="457200" rtl="0" algn="l">
              <a:spcBef>
                <a:spcPts val="1200"/>
              </a:spcBef>
              <a:spcAft>
                <a:spcPts val="0"/>
              </a:spcAft>
              <a:buSzPts val="1300"/>
              <a:buFont typeface="Arial"/>
              <a:buChar char="●"/>
            </a:pPr>
            <a:r>
              <a:rPr lang="en" sz="1300">
                <a:latin typeface="Arial"/>
                <a:ea typeface="Arial"/>
                <a:cs typeface="Arial"/>
                <a:sym typeface="Arial"/>
              </a:rPr>
              <a:t>If there is an equal split (for example, </a:t>
            </a:r>
            <a:r>
              <a:rPr b="1" lang="en" sz="1300">
                <a:latin typeface="Arial"/>
                <a:ea typeface="Arial"/>
                <a:cs typeface="Arial"/>
                <a:sym typeface="Arial"/>
              </a:rPr>
              <a:t>4 Accurate claims and 4 Cannot Confidently Assess claims</a:t>
            </a:r>
            <a:r>
              <a:rPr lang="en" sz="1300">
                <a:latin typeface="Arial"/>
                <a:ea typeface="Arial"/>
                <a:cs typeface="Arial"/>
                <a:sym typeface="Arial"/>
              </a:rPr>
              <a:t>), the rating should reflect </a:t>
            </a:r>
            <a:r>
              <a:rPr b="1" lang="en" sz="1300">
                <a:latin typeface="Arial"/>
                <a:ea typeface="Arial"/>
                <a:cs typeface="Arial"/>
                <a:sym typeface="Arial"/>
              </a:rPr>
              <a:t>Mixed Accuracy</a:t>
            </a:r>
            <a:r>
              <a:rPr lang="en" sz="1300">
                <a:latin typeface="Arial"/>
                <a:ea typeface="Arial"/>
                <a:cs typeface="Arial"/>
                <a:sym typeface="Arial"/>
              </a:rPr>
              <a:t>.</a:t>
            </a:r>
            <a:endParaRPr sz="1300">
              <a:latin typeface="Arial"/>
              <a:ea typeface="Arial"/>
              <a:cs typeface="Arial"/>
              <a:sym typeface="Arial"/>
            </a:endParaRPr>
          </a:p>
          <a:p>
            <a:pPr indent="0" lvl="0" marL="0" rtl="0" algn="l">
              <a:spcBef>
                <a:spcPts val="1400"/>
              </a:spcBef>
              <a:spcAft>
                <a:spcPts val="0"/>
              </a:spcAft>
              <a:buNone/>
            </a:pPr>
            <a:r>
              <a:rPr b="1" lang="en" sz="1500">
                <a:latin typeface="Arial"/>
                <a:ea typeface="Arial"/>
                <a:cs typeface="Arial"/>
                <a:sym typeface="Arial"/>
              </a:rPr>
              <a:t>General Rule for Mixed Claims:</a:t>
            </a:r>
            <a:endParaRPr b="1" sz="1500">
              <a:latin typeface="Arial"/>
              <a:ea typeface="Arial"/>
              <a:cs typeface="Arial"/>
              <a:sym typeface="Arial"/>
            </a:endParaRPr>
          </a:p>
          <a:p>
            <a:pPr indent="-311150" lvl="0" marL="457200" rtl="0" algn="l">
              <a:spcBef>
                <a:spcPts val="1200"/>
              </a:spcBef>
              <a:spcAft>
                <a:spcPts val="0"/>
              </a:spcAft>
              <a:buSzPts val="1300"/>
              <a:buFont typeface="Arial"/>
              <a:buChar char="●"/>
            </a:pPr>
            <a:r>
              <a:rPr lang="en" sz="1300">
                <a:latin typeface="Arial"/>
                <a:ea typeface="Arial"/>
                <a:cs typeface="Arial"/>
                <a:sym typeface="Arial"/>
              </a:rPr>
              <a:t>If most claims are </a:t>
            </a:r>
            <a:r>
              <a:rPr b="1" lang="en" sz="1300">
                <a:latin typeface="Arial"/>
                <a:ea typeface="Arial"/>
                <a:cs typeface="Arial"/>
                <a:sym typeface="Arial"/>
              </a:rPr>
              <a:t>Accurate</a:t>
            </a:r>
            <a:r>
              <a:rPr lang="en" sz="1300">
                <a:latin typeface="Arial"/>
                <a:ea typeface="Arial"/>
                <a:cs typeface="Arial"/>
                <a:sym typeface="Arial"/>
              </a:rPr>
              <a:t>, rate as </a:t>
            </a:r>
            <a:r>
              <a:rPr b="1" lang="en" sz="1300">
                <a:latin typeface="Arial"/>
                <a:ea typeface="Arial"/>
                <a:cs typeface="Arial"/>
                <a:sym typeface="Arial"/>
              </a:rPr>
              <a:t>Mostly Accurate</a:t>
            </a:r>
            <a:r>
              <a:rPr lang="en" sz="1300">
                <a:latin typeface="Arial"/>
                <a:ea typeface="Arial"/>
                <a:cs typeface="Arial"/>
                <a:sym typeface="Arial"/>
              </a:rPr>
              <a:t>.</a:t>
            </a: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lang="en" sz="1300">
                <a:latin typeface="Arial"/>
                <a:ea typeface="Arial"/>
                <a:cs typeface="Arial"/>
                <a:sym typeface="Arial"/>
              </a:rPr>
              <a:t>If most claims are </a:t>
            </a:r>
            <a:r>
              <a:rPr b="1" lang="en" sz="1300">
                <a:latin typeface="Arial"/>
                <a:ea typeface="Arial"/>
                <a:cs typeface="Arial"/>
                <a:sym typeface="Arial"/>
              </a:rPr>
              <a:t>Inaccurate</a:t>
            </a:r>
            <a:r>
              <a:rPr lang="en" sz="1300">
                <a:latin typeface="Arial"/>
                <a:ea typeface="Arial"/>
                <a:cs typeface="Arial"/>
                <a:sym typeface="Arial"/>
              </a:rPr>
              <a:t>, rate as </a:t>
            </a:r>
            <a:r>
              <a:rPr b="1" lang="en" sz="1300">
                <a:latin typeface="Arial"/>
                <a:ea typeface="Arial"/>
                <a:cs typeface="Arial"/>
                <a:sym typeface="Arial"/>
              </a:rPr>
              <a:t>Mostly Inaccurate</a:t>
            </a:r>
            <a:r>
              <a:rPr lang="en" sz="1300">
                <a:latin typeface="Arial"/>
                <a:ea typeface="Arial"/>
                <a:cs typeface="Arial"/>
                <a:sym typeface="Arial"/>
              </a:rPr>
              <a:t>.</a:t>
            </a: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lang="en" sz="1300">
                <a:latin typeface="Arial"/>
                <a:ea typeface="Arial"/>
                <a:cs typeface="Arial"/>
                <a:sym typeface="Arial"/>
              </a:rPr>
              <a:t>If there is an equal balance between Accurate and Cannot Confidently Assess, rate as </a:t>
            </a:r>
            <a:r>
              <a:rPr b="1" lang="en" sz="1300">
                <a:latin typeface="Arial"/>
                <a:ea typeface="Arial"/>
                <a:cs typeface="Arial"/>
                <a:sym typeface="Arial"/>
              </a:rPr>
              <a:t>Mixed Accuracy</a:t>
            </a:r>
            <a:r>
              <a:rPr lang="en" sz="1300">
                <a:latin typeface="Arial"/>
                <a:ea typeface="Arial"/>
                <a:cs typeface="Arial"/>
                <a:sym typeface="Arial"/>
              </a:rPr>
              <a:t>.</a:t>
            </a: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lang="en" sz="1300">
                <a:latin typeface="Arial"/>
                <a:ea typeface="Arial"/>
                <a:cs typeface="Arial"/>
                <a:sym typeface="Arial"/>
              </a:rPr>
              <a:t>If the majority of major or critical claims are Cannot Confidently Assess, lean toward the level closest to Cannot Confidently Assess based on claim weight.</a:t>
            </a:r>
            <a:endParaRPr sz="1300">
              <a:latin typeface="Arial"/>
              <a:ea typeface="Arial"/>
              <a:cs typeface="Arial"/>
              <a:sym typeface="Arial"/>
            </a:endParaRPr>
          </a:p>
          <a:p>
            <a:pPr indent="0" lvl="0" marL="0" rtl="0" algn="l">
              <a:spcBef>
                <a:spcPts val="1200"/>
              </a:spcBef>
              <a:spcAft>
                <a:spcPts val="0"/>
              </a:spcAft>
              <a:buNone/>
            </a:pPr>
            <a:r>
              <a:rPr lang="en" sz="1300">
                <a:latin typeface="Arial"/>
                <a:ea typeface="Arial"/>
                <a:cs typeface="Arial"/>
                <a:sym typeface="Arial"/>
              </a:rPr>
              <a:t>⚖ Important: Always consider the </a:t>
            </a:r>
            <a:r>
              <a:rPr b="1" lang="en" sz="1300">
                <a:latin typeface="Arial"/>
                <a:ea typeface="Arial"/>
                <a:cs typeface="Arial"/>
                <a:sym typeface="Arial"/>
              </a:rPr>
              <a:t>weight and importance of the claims</a:t>
            </a:r>
            <a:r>
              <a:rPr lang="en" sz="1300">
                <a:latin typeface="Arial"/>
                <a:ea typeface="Arial"/>
                <a:cs typeface="Arial"/>
                <a:sym typeface="Arial"/>
              </a:rPr>
              <a:t>, not just the count. A single critical claim can outweigh multiple minor ones.</a:t>
            </a:r>
            <a:endParaRPr sz="1300">
              <a:latin typeface="Arial"/>
              <a:ea typeface="Arial"/>
              <a:cs typeface="Arial"/>
              <a:sym typeface="Arial"/>
            </a:endParaRPr>
          </a:p>
          <a:p>
            <a:pPr indent="0" lvl="0" marL="0" rtl="0" algn="l">
              <a:spcBef>
                <a:spcPts val="1200"/>
              </a:spcBef>
              <a:spcAft>
                <a:spcPts val="1200"/>
              </a:spcAft>
              <a:buNone/>
            </a:pPr>
            <a:r>
              <a:t/>
            </a:r>
            <a:endParaRPr sz="1100">
              <a:latin typeface="Arial"/>
              <a:ea typeface="Arial"/>
              <a:cs typeface="Arial"/>
              <a:sym typeface="Arial"/>
            </a:endParaRPr>
          </a:p>
        </p:txBody>
      </p:sp>
      <p:pic>
        <p:nvPicPr>
          <p:cNvPr id="209" name="Google Shape;209;p35"/>
          <p:cNvPicPr preferRelativeResize="0"/>
          <p:nvPr/>
        </p:nvPicPr>
        <p:blipFill>
          <a:blip r:embed="rId4">
            <a:alphaModFix/>
          </a:blip>
          <a:stretch>
            <a:fillRect/>
          </a:stretch>
        </p:blipFill>
        <p:spPr>
          <a:xfrm>
            <a:off x="2278000" y="3933625"/>
            <a:ext cx="3975825" cy="8646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6"/>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42900" lvl="0" marL="457200" rtl="0" algn="l">
              <a:spcBef>
                <a:spcPts val="0"/>
              </a:spcBef>
              <a:spcAft>
                <a:spcPts val="0"/>
              </a:spcAft>
              <a:buSzPts val="1800"/>
              <a:buChar char="-"/>
            </a:pPr>
            <a:r>
              <a:rPr lang="en"/>
              <a:t>Justification Builder</a:t>
            </a:r>
            <a:endParaRPr/>
          </a:p>
          <a:p>
            <a:pPr indent="-342900" lvl="0" marL="457200" rtl="0" algn="l">
              <a:spcBef>
                <a:spcPts val="0"/>
              </a:spcBef>
              <a:spcAft>
                <a:spcPts val="0"/>
              </a:spcAft>
              <a:buSzPts val="1800"/>
              <a:buChar char="-"/>
            </a:pPr>
            <a:r>
              <a:rPr lang="en"/>
              <a:t>Factual Accuracy Justification Template</a:t>
            </a:r>
            <a:endParaRPr/>
          </a:p>
        </p:txBody>
      </p:sp>
      <p:sp>
        <p:nvSpPr>
          <p:cNvPr id="215" name="Google Shape;215;p36"/>
          <p:cNvSpPr txBox="1"/>
          <p:nvPr>
            <p:ph type="title"/>
          </p:nvPr>
        </p:nvSpPr>
        <p:spPr>
          <a:xfrm>
            <a:off x="265500" y="1818600"/>
            <a:ext cx="4045200" cy="15063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Factual Accuracy Template</a:t>
            </a:r>
            <a:endParaRPr/>
          </a:p>
          <a:p>
            <a:pPr indent="0" lvl="0" marL="0" rtl="0" algn="ctr">
              <a:spcBef>
                <a:spcPts val="0"/>
              </a:spcBef>
              <a:spcAft>
                <a:spcPts val="0"/>
              </a:spcAft>
              <a:buNone/>
            </a:pPr>
            <a:r>
              <a:rPr i="1" lang="en" sz="2422" u="sng"/>
              <a:t>(Very important! Gives you -20 if you get it wrong)</a:t>
            </a:r>
            <a:endParaRPr i="1" sz="2422" u="sng"/>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7"/>
          <p:cNvSpPr txBox="1"/>
          <p:nvPr>
            <p:ph type="title"/>
          </p:nvPr>
        </p:nvSpPr>
        <p:spPr>
          <a:xfrm>
            <a:off x="311700" y="240376"/>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Justification Builder</a:t>
            </a:r>
            <a:endParaRPr sz="2000"/>
          </a:p>
        </p:txBody>
      </p:sp>
      <p:pic>
        <p:nvPicPr>
          <p:cNvPr id="221" name="Google Shape;221;p37"/>
          <p:cNvPicPr preferRelativeResize="0"/>
          <p:nvPr/>
        </p:nvPicPr>
        <p:blipFill>
          <a:blip r:embed="rId3">
            <a:alphaModFix/>
          </a:blip>
          <a:stretch>
            <a:fillRect/>
          </a:stretch>
        </p:blipFill>
        <p:spPr>
          <a:xfrm>
            <a:off x="6838875" y="3305575"/>
            <a:ext cx="2076525" cy="1609324"/>
          </a:xfrm>
          <a:prstGeom prst="rect">
            <a:avLst/>
          </a:prstGeom>
          <a:noFill/>
          <a:ln>
            <a:noFill/>
          </a:ln>
        </p:spPr>
      </p:pic>
      <p:sp>
        <p:nvSpPr>
          <p:cNvPr id="222" name="Google Shape;222;p37"/>
          <p:cNvSpPr txBox="1"/>
          <p:nvPr>
            <p:ph idx="1" type="body"/>
          </p:nvPr>
        </p:nvSpPr>
        <p:spPr>
          <a:xfrm>
            <a:off x="491368" y="818950"/>
            <a:ext cx="8520600" cy="4147200"/>
          </a:xfrm>
          <a:prstGeom prst="rect">
            <a:avLst/>
          </a:prstGeom>
        </p:spPr>
        <p:txBody>
          <a:bodyPr anchorCtr="0" anchor="t" bIns="91425" lIns="91425" spcFirstLastPara="1" rIns="91425" wrap="square" tIns="91425">
            <a:noAutofit/>
          </a:bodyPr>
          <a:lstStyle/>
          <a:p>
            <a:pPr indent="-323850" lvl="0" marL="457200" rtl="0" algn="l">
              <a:spcBef>
                <a:spcPts val="1200"/>
              </a:spcBef>
              <a:spcAft>
                <a:spcPts val="0"/>
              </a:spcAft>
              <a:buSzPts val="1500"/>
              <a:buFont typeface="Arial"/>
              <a:buChar char="-"/>
            </a:pPr>
            <a:r>
              <a:rPr lang="en" sz="1500">
                <a:latin typeface="Arial"/>
                <a:ea typeface="Arial"/>
                <a:cs typeface="Arial"/>
                <a:sym typeface="Arial"/>
              </a:rPr>
              <a:t>It is </a:t>
            </a:r>
            <a:r>
              <a:rPr b="1" lang="en" sz="1500">
                <a:latin typeface="Arial"/>
                <a:ea typeface="Arial"/>
                <a:cs typeface="Arial"/>
                <a:sym typeface="Arial"/>
              </a:rPr>
              <a:t>mandatory</a:t>
            </a:r>
            <a:r>
              <a:rPr lang="en" sz="1500">
                <a:latin typeface="Arial"/>
                <a:ea typeface="Arial"/>
                <a:cs typeface="Arial"/>
                <a:sym typeface="Arial"/>
              </a:rPr>
              <a:t> to use either the </a:t>
            </a:r>
            <a:r>
              <a:rPr b="1" lang="en" sz="1500">
                <a:latin typeface="Arial"/>
                <a:ea typeface="Arial"/>
                <a:cs typeface="Arial"/>
                <a:sym typeface="Arial"/>
              </a:rPr>
              <a:t>Justification Builder</a:t>
            </a:r>
            <a:r>
              <a:rPr lang="en" sz="1500">
                <a:latin typeface="Arial"/>
                <a:ea typeface="Arial"/>
                <a:cs typeface="Arial"/>
                <a:sym typeface="Arial"/>
              </a:rPr>
              <a:t> or the </a:t>
            </a:r>
            <a:r>
              <a:rPr b="1" lang="en" sz="1500">
                <a:latin typeface="Arial"/>
                <a:ea typeface="Arial"/>
                <a:cs typeface="Arial"/>
                <a:sym typeface="Arial"/>
              </a:rPr>
              <a:t>Factual Accuracy Justification Template</a:t>
            </a:r>
            <a:r>
              <a:rPr lang="en" sz="1500">
                <a:latin typeface="Arial"/>
                <a:ea typeface="Arial"/>
                <a:cs typeface="Arial"/>
                <a:sym typeface="Arial"/>
              </a:rPr>
              <a:t> when writing justifications for Factual Accuracy.</a:t>
            </a:r>
            <a:br>
              <a:rPr lang="en" sz="1500">
                <a:latin typeface="Arial"/>
                <a:ea typeface="Arial"/>
                <a:cs typeface="Arial"/>
                <a:sym typeface="Arial"/>
              </a:rPr>
            </a:br>
            <a:endParaRPr sz="1500">
              <a:latin typeface="Arial"/>
              <a:ea typeface="Arial"/>
              <a:cs typeface="Arial"/>
              <a:sym typeface="Arial"/>
            </a:endParaRPr>
          </a:p>
          <a:p>
            <a:pPr indent="-323850" lvl="0" marL="457200" rtl="0" algn="l">
              <a:spcBef>
                <a:spcPts val="0"/>
              </a:spcBef>
              <a:spcAft>
                <a:spcPts val="0"/>
              </a:spcAft>
              <a:buSzPts val="1500"/>
              <a:buFont typeface="Arial"/>
              <a:buChar char="-"/>
            </a:pPr>
            <a:r>
              <a:rPr lang="en" sz="1500">
                <a:latin typeface="Arial"/>
                <a:ea typeface="Arial"/>
                <a:cs typeface="Arial"/>
                <a:sym typeface="Arial"/>
              </a:rPr>
              <a:t>Step-by-step instructions for using the </a:t>
            </a:r>
            <a:r>
              <a:rPr b="1" lang="en" sz="1500">
                <a:latin typeface="Arial"/>
                <a:ea typeface="Arial"/>
                <a:cs typeface="Arial"/>
                <a:sym typeface="Arial"/>
              </a:rPr>
              <a:t>Justification Builder</a:t>
            </a:r>
            <a:r>
              <a:rPr lang="en" sz="1500">
                <a:latin typeface="Arial"/>
                <a:ea typeface="Arial"/>
                <a:cs typeface="Arial"/>
                <a:sym typeface="Arial"/>
              </a:rPr>
              <a:t> are available in the </a:t>
            </a:r>
            <a:r>
              <a:rPr b="1" lang="en" sz="1500">
                <a:latin typeface="Arial"/>
                <a:ea typeface="Arial"/>
                <a:cs typeface="Arial"/>
                <a:sym typeface="Arial"/>
              </a:rPr>
              <a:t>Step-by-Step Instructions</a:t>
            </a:r>
            <a:r>
              <a:rPr lang="en" sz="1500">
                <a:latin typeface="Arial"/>
                <a:ea typeface="Arial"/>
                <a:cs typeface="Arial"/>
                <a:sym typeface="Arial"/>
              </a:rPr>
              <a:t> document.</a:t>
            </a:r>
            <a:br>
              <a:rPr lang="en" sz="1500">
                <a:latin typeface="Arial"/>
                <a:ea typeface="Arial"/>
                <a:cs typeface="Arial"/>
                <a:sym typeface="Arial"/>
              </a:rPr>
            </a:br>
            <a:endParaRPr sz="1500">
              <a:latin typeface="Arial"/>
              <a:ea typeface="Arial"/>
              <a:cs typeface="Arial"/>
              <a:sym typeface="Arial"/>
            </a:endParaRPr>
          </a:p>
          <a:p>
            <a:pPr indent="-323850" lvl="0" marL="457200" rtl="0" algn="l">
              <a:spcBef>
                <a:spcPts val="0"/>
              </a:spcBef>
              <a:spcAft>
                <a:spcPts val="0"/>
              </a:spcAft>
              <a:buSzPts val="1500"/>
              <a:buFont typeface="Arial"/>
              <a:buChar char="-"/>
            </a:pPr>
            <a:r>
              <a:rPr lang="en" sz="1500">
                <a:latin typeface="Arial"/>
                <a:ea typeface="Arial"/>
                <a:cs typeface="Arial"/>
                <a:sym typeface="Arial"/>
              </a:rPr>
              <a:t>When using the Justification Builder:</a:t>
            </a:r>
            <a:br>
              <a:rPr lang="en" sz="1500">
                <a:latin typeface="Arial"/>
                <a:ea typeface="Arial"/>
                <a:cs typeface="Arial"/>
                <a:sym typeface="Arial"/>
              </a:rPr>
            </a:br>
            <a:r>
              <a:rPr lang="en" sz="1500">
                <a:latin typeface="Arial"/>
                <a:ea typeface="Arial"/>
                <a:cs typeface="Arial"/>
                <a:sym typeface="Arial"/>
              </a:rPr>
              <a:t>	- </a:t>
            </a:r>
            <a:r>
              <a:rPr b="1" lang="en" sz="1500">
                <a:latin typeface="Arial"/>
                <a:ea typeface="Arial"/>
                <a:cs typeface="Arial"/>
                <a:sym typeface="Arial"/>
              </a:rPr>
              <a:t>Remove all claims from the first response</a:t>
            </a:r>
            <a:r>
              <a:rPr lang="en" sz="1500">
                <a:latin typeface="Arial"/>
                <a:ea typeface="Arial"/>
                <a:cs typeface="Arial"/>
                <a:sym typeface="Arial"/>
              </a:rPr>
              <a:t>.</a:t>
            </a:r>
            <a:br>
              <a:rPr lang="en" sz="1500">
                <a:latin typeface="Arial"/>
                <a:ea typeface="Arial"/>
                <a:cs typeface="Arial"/>
                <a:sym typeface="Arial"/>
              </a:rPr>
            </a:br>
            <a:r>
              <a:rPr lang="en" sz="1500">
                <a:latin typeface="Arial"/>
                <a:ea typeface="Arial"/>
                <a:cs typeface="Arial"/>
                <a:sym typeface="Arial"/>
              </a:rPr>
              <a:t>	- </a:t>
            </a:r>
            <a:r>
              <a:rPr b="1" lang="en" sz="1500">
                <a:latin typeface="Arial"/>
                <a:ea typeface="Arial"/>
                <a:cs typeface="Arial"/>
                <a:sym typeface="Arial"/>
              </a:rPr>
              <a:t>Start entering the claims from the second response</a:t>
            </a:r>
            <a:r>
              <a:rPr lang="en" sz="1500">
                <a:latin typeface="Arial"/>
                <a:ea typeface="Arial"/>
                <a:cs typeface="Arial"/>
                <a:sym typeface="Arial"/>
              </a:rPr>
              <a:t>.</a:t>
            </a:r>
            <a:endParaRPr sz="1500">
              <a:latin typeface="Arial"/>
              <a:ea typeface="Arial"/>
              <a:cs typeface="Arial"/>
              <a:sym typeface="Arial"/>
            </a:endParaRPr>
          </a:p>
          <a:p>
            <a:pPr indent="-323850" lvl="0" marL="457200" rtl="0" algn="l">
              <a:spcBef>
                <a:spcPts val="0"/>
              </a:spcBef>
              <a:spcAft>
                <a:spcPts val="0"/>
              </a:spcAft>
              <a:buSzPts val="1500"/>
              <a:buFont typeface="Arial"/>
              <a:buChar char="-"/>
            </a:pPr>
            <a:r>
              <a:rPr lang="en" sz="1500">
                <a:latin typeface="Arial"/>
                <a:ea typeface="Arial"/>
                <a:cs typeface="Arial"/>
                <a:sym typeface="Arial"/>
              </a:rPr>
              <a:t>The </a:t>
            </a:r>
            <a:r>
              <a:rPr b="1" lang="en" sz="1500">
                <a:latin typeface="Arial"/>
                <a:ea typeface="Arial"/>
                <a:cs typeface="Arial"/>
                <a:sym typeface="Arial"/>
              </a:rPr>
              <a:t>summary section at the bottom</a:t>
            </a:r>
            <a:r>
              <a:rPr lang="en" sz="1500">
                <a:latin typeface="Arial"/>
                <a:ea typeface="Arial"/>
                <a:cs typeface="Arial"/>
                <a:sym typeface="Arial"/>
              </a:rPr>
              <a:t> of the Justification Builder should be treated as the </a:t>
            </a:r>
            <a:r>
              <a:rPr b="1" lang="en" sz="1500">
                <a:latin typeface="Arial"/>
                <a:ea typeface="Arial"/>
                <a:cs typeface="Arial"/>
                <a:sym typeface="Arial"/>
              </a:rPr>
              <a:t>Final Justification Summary</a:t>
            </a:r>
            <a:r>
              <a:rPr lang="en" sz="1500">
                <a:latin typeface="Arial"/>
                <a:ea typeface="Arial"/>
                <a:cs typeface="Arial"/>
                <a:sym typeface="Arial"/>
              </a:rPr>
              <a:t>.</a:t>
            </a:r>
            <a:endParaRPr b="1" sz="3200">
              <a:latin typeface="Arial"/>
              <a:ea typeface="Arial"/>
              <a:cs typeface="Arial"/>
              <a:sym typeface="Arial"/>
            </a:endParaRPr>
          </a:p>
        </p:txBody>
      </p:sp>
      <p:pic>
        <p:nvPicPr>
          <p:cNvPr id="223" name="Google Shape;223;p37"/>
          <p:cNvPicPr preferRelativeResize="0"/>
          <p:nvPr/>
        </p:nvPicPr>
        <p:blipFill>
          <a:blip r:embed="rId4">
            <a:alphaModFix/>
          </a:blip>
          <a:stretch>
            <a:fillRect/>
          </a:stretch>
        </p:blipFill>
        <p:spPr>
          <a:xfrm>
            <a:off x="1645209" y="3822394"/>
            <a:ext cx="2333625" cy="12096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id="228" name="Google Shape;228;p38"/>
          <p:cNvPicPr preferRelativeResize="0"/>
          <p:nvPr/>
        </p:nvPicPr>
        <p:blipFill>
          <a:blip r:embed="rId3">
            <a:alphaModFix/>
          </a:blip>
          <a:stretch>
            <a:fillRect/>
          </a:stretch>
        </p:blipFill>
        <p:spPr>
          <a:xfrm>
            <a:off x="6838875" y="3305575"/>
            <a:ext cx="2076525" cy="1609324"/>
          </a:xfrm>
          <a:prstGeom prst="rect">
            <a:avLst/>
          </a:prstGeom>
          <a:noFill/>
          <a:ln>
            <a:noFill/>
          </a:ln>
        </p:spPr>
      </p:pic>
      <p:sp>
        <p:nvSpPr>
          <p:cNvPr id="229" name="Google Shape;229;p38"/>
          <p:cNvSpPr txBox="1"/>
          <p:nvPr>
            <p:ph type="title"/>
          </p:nvPr>
        </p:nvSpPr>
        <p:spPr>
          <a:xfrm>
            <a:off x="311700" y="240376"/>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Factual Accuracy Justification Template:</a:t>
            </a:r>
            <a:endParaRPr sz="2000"/>
          </a:p>
        </p:txBody>
      </p:sp>
      <p:pic>
        <p:nvPicPr>
          <p:cNvPr id="230" name="Google Shape;230;p38"/>
          <p:cNvPicPr preferRelativeResize="0"/>
          <p:nvPr/>
        </p:nvPicPr>
        <p:blipFill>
          <a:blip r:embed="rId3">
            <a:alphaModFix/>
          </a:blip>
          <a:stretch>
            <a:fillRect/>
          </a:stretch>
        </p:blipFill>
        <p:spPr>
          <a:xfrm>
            <a:off x="6838875" y="3305575"/>
            <a:ext cx="2076525" cy="1609324"/>
          </a:xfrm>
          <a:prstGeom prst="rect">
            <a:avLst/>
          </a:prstGeom>
          <a:noFill/>
          <a:ln>
            <a:noFill/>
          </a:ln>
        </p:spPr>
      </p:pic>
      <p:sp>
        <p:nvSpPr>
          <p:cNvPr id="231" name="Google Shape;231;p38"/>
          <p:cNvSpPr txBox="1"/>
          <p:nvPr>
            <p:ph idx="1" type="body"/>
          </p:nvPr>
        </p:nvSpPr>
        <p:spPr>
          <a:xfrm>
            <a:off x="491368" y="703937"/>
            <a:ext cx="8520600" cy="414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sz="1500">
                <a:latin typeface="Arial"/>
                <a:ea typeface="Arial"/>
                <a:cs typeface="Arial"/>
                <a:sym typeface="Arial"/>
              </a:rPr>
              <a:t>Objective Claims Identified:</a:t>
            </a:r>
            <a:endParaRPr sz="1500">
              <a:latin typeface="Arial"/>
              <a:ea typeface="Arial"/>
              <a:cs typeface="Arial"/>
              <a:sym typeface="Arial"/>
            </a:endParaRPr>
          </a:p>
          <a:p>
            <a:pPr indent="-323850" lvl="0" marL="457200" rtl="0" algn="l">
              <a:spcBef>
                <a:spcPts val="0"/>
              </a:spcBef>
              <a:spcAft>
                <a:spcPts val="0"/>
              </a:spcAft>
              <a:buSzPts val="1500"/>
              <a:buFont typeface="Arial"/>
              <a:buChar char="●"/>
            </a:pPr>
            <a:r>
              <a:rPr lang="en" sz="1500">
                <a:latin typeface="Arial"/>
                <a:ea typeface="Arial"/>
                <a:cs typeface="Arial"/>
                <a:sym typeface="Arial"/>
              </a:rPr>
              <a:t>[Claim 1 text...]</a:t>
            </a:r>
            <a:endParaRPr sz="1500">
              <a:latin typeface="Arial"/>
              <a:ea typeface="Arial"/>
              <a:cs typeface="Arial"/>
              <a:sym typeface="Arial"/>
            </a:endParaRPr>
          </a:p>
          <a:p>
            <a:pPr indent="-323850" lvl="0" marL="457200" rtl="0" algn="l">
              <a:spcBef>
                <a:spcPts val="0"/>
              </a:spcBef>
              <a:spcAft>
                <a:spcPts val="0"/>
              </a:spcAft>
              <a:buSzPts val="1500"/>
              <a:buFont typeface="Arial"/>
              <a:buChar char="●"/>
            </a:pPr>
            <a:r>
              <a:rPr lang="en" sz="1500">
                <a:latin typeface="Arial"/>
                <a:ea typeface="Arial"/>
                <a:cs typeface="Arial"/>
                <a:sym typeface="Arial"/>
              </a:rPr>
              <a:t>[Claim 2 text...]</a:t>
            </a:r>
            <a:endParaRPr sz="1500">
              <a:latin typeface="Arial"/>
              <a:ea typeface="Arial"/>
              <a:cs typeface="Arial"/>
              <a:sym typeface="Arial"/>
            </a:endParaRPr>
          </a:p>
          <a:p>
            <a:pPr indent="-323850" lvl="0" marL="457200" rtl="0" algn="l">
              <a:spcBef>
                <a:spcPts val="0"/>
              </a:spcBef>
              <a:spcAft>
                <a:spcPts val="0"/>
              </a:spcAft>
              <a:buSzPts val="1500"/>
              <a:buFont typeface="Arial"/>
              <a:buChar char="●"/>
            </a:pPr>
            <a:r>
              <a:rPr lang="en" sz="1500">
                <a:latin typeface="Arial"/>
                <a:ea typeface="Arial"/>
                <a:cs typeface="Arial"/>
                <a:sym typeface="Arial"/>
              </a:rPr>
              <a:t>[And so on...]</a:t>
            </a:r>
            <a:endParaRPr sz="1500">
              <a:latin typeface="Arial"/>
              <a:ea typeface="Arial"/>
              <a:cs typeface="Arial"/>
              <a:sym typeface="Arial"/>
            </a:endParaRPr>
          </a:p>
          <a:p>
            <a:pPr indent="0" lvl="0" marL="914400" rtl="0" algn="l">
              <a:spcBef>
                <a:spcPts val="0"/>
              </a:spcBef>
              <a:spcAft>
                <a:spcPts val="0"/>
              </a:spcAft>
              <a:buClr>
                <a:schemeClr val="dk2"/>
              </a:buClr>
              <a:buSzPts val="1100"/>
              <a:buFont typeface="Arial"/>
              <a:buNone/>
            </a:pPr>
            <a:r>
              <a:t/>
            </a:r>
            <a:endParaRPr sz="1500">
              <a:latin typeface="Arial"/>
              <a:ea typeface="Arial"/>
              <a:cs typeface="Arial"/>
              <a:sym typeface="Arial"/>
            </a:endParaRPr>
          </a:p>
          <a:p>
            <a:pPr indent="0" lvl="0" marL="0" rtl="0" algn="l">
              <a:spcBef>
                <a:spcPts val="0"/>
              </a:spcBef>
              <a:spcAft>
                <a:spcPts val="0"/>
              </a:spcAft>
              <a:buClr>
                <a:schemeClr val="dk2"/>
              </a:buClr>
              <a:buSzPts val="1100"/>
              <a:buFont typeface="Arial"/>
              <a:buNone/>
            </a:pPr>
            <a:r>
              <a:rPr lang="en" sz="1500">
                <a:latin typeface="Arial"/>
                <a:ea typeface="Arial"/>
                <a:cs typeface="Arial"/>
                <a:sym typeface="Arial"/>
              </a:rPr>
              <a:t>Claim 1: [Rating Given] Justification: [Brief explanation of your reasoning, referencing the sources.] Sources: [Source 1 URL] [Source 2 URL]</a:t>
            </a:r>
            <a:endParaRPr sz="1500">
              <a:latin typeface="Arial"/>
              <a:ea typeface="Arial"/>
              <a:cs typeface="Arial"/>
              <a:sym typeface="Arial"/>
            </a:endParaRPr>
          </a:p>
          <a:p>
            <a:pPr indent="0" lvl="0" marL="0" rtl="0" algn="l">
              <a:spcBef>
                <a:spcPts val="0"/>
              </a:spcBef>
              <a:spcAft>
                <a:spcPts val="0"/>
              </a:spcAft>
              <a:buClr>
                <a:schemeClr val="dk2"/>
              </a:buClr>
              <a:buSzPts val="1100"/>
              <a:buFont typeface="Arial"/>
              <a:buNone/>
            </a:pPr>
            <a:r>
              <a:rPr lang="en" sz="1500">
                <a:latin typeface="Arial"/>
                <a:ea typeface="Arial"/>
                <a:cs typeface="Arial"/>
                <a:sym typeface="Arial"/>
              </a:rPr>
              <a:t>Claim 2: [Rating Given] Justification: [Brief explanation of your reasoning, referencing the sources.] Sources: [Source 1 URL] [Source 2 URL]</a:t>
            </a:r>
            <a:endParaRPr sz="1500">
              <a:latin typeface="Arial"/>
              <a:ea typeface="Arial"/>
              <a:cs typeface="Arial"/>
              <a:sym typeface="Arial"/>
            </a:endParaRPr>
          </a:p>
          <a:p>
            <a:pPr indent="0" lvl="0" marL="914400" rtl="0" algn="l">
              <a:spcBef>
                <a:spcPts val="0"/>
              </a:spcBef>
              <a:spcAft>
                <a:spcPts val="0"/>
              </a:spcAft>
              <a:buClr>
                <a:schemeClr val="dk2"/>
              </a:buClr>
              <a:buSzPts val="1100"/>
              <a:buFont typeface="Arial"/>
              <a:buNone/>
            </a:pPr>
            <a:r>
              <a:t/>
            </a:r>
            <a:endParaRPr sz="1500">
              <a:latin typeface="Arial"/>
              <a:ea typeface="Arial"/>
              <a:cs typeface="Arial"/>
              <a:sym typeface="Arial"/>
            </a:endParaRPr>
          </a:p>
          <a:p>
            <a:pPr indent="0" lvl="0" marL="0" rtl="0" algn="l">
              <a:spcBef>
                <a:spcPts val="0"/>
              </a:spcBef>
              <a:spcAft>
                <a:spcPts val="0"/>
              </a:spcAft>
              <a:buClr>
                <a:schemeClr val="dk2"/>
              </a:buClr>
              <a:buSzPts val="1100"/>
              <a:buFont typeface="Arial"/>
              <a:buNone/>
            </a:pPr>
            <a:r>
              <a:rPr lang="en" sz="1500">
                <a:latin typeface="Arial"/>
                <a:ea typeface="Arial"/>
                <a:cs typeface="Arial"/>
                <a:sym typeface="Arial"/>
              </a:rPr>
              <a:t>Final Justification: [Overall summary of the response's accuracy.]</a:t>
            </a:r>
            <a:endParaRPr b="1" sz="3200">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9"/>
          <p:cNvSpPr txBox="1"/>
          <p:nvPr>
            <p:ph type="title"/>
          </p:nvPr>
        </p:nvSpPr>
        <p:spPr>
          <a:xfrm>
            <a:off x="311700" y="1"/>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Factual Accuracy Justification Template:</a:t>
            </a:r>
            <a:endParaRPr sz="2000"/>
          </a:p>
        </p:txBody>
      </p:sp>
      <p:pic>
        <p:nvPicPr>
          <p:cNvPr id="237" name="Google Shape;237;p39"/>
          <p:cNvPicPr preferRelativeResize="0"/>
          <p:nvPr/>
        </p:nvPicPr>
        <p:blipFill>
          <a:blip r:embed="rId3">
            <a:alphaModFix/>
          </a:blip>
          <a:stretch>
            <a:fillRect/>
          </a:stretch>
        </p:blipFill>
        <p:spPr>
          <a:xfrm>
            <a:off x="6838875" y="3305575"/>
            <a:ext cx="2076525" cy="1609324"/>
          </a:xfrm>
          <a:prstGeom prst="rect">
            <a:avLst/>
          </a:prstGeom>
          <a:noFill/>
          <a:ln>
            <a:noFill/>
          </a:ln>
        </p:spPr>
      </p:pic>
      <p:sp>
        <p:nvSpPr>
          <p:cNvPr id="238" name="Google Shape;238;p39"/>
          <p:cNvSpPr txBox="1"/>
          <p:nvPr>
            <p:ph idx="1" type="body"/>
          </p:nvPr>
        </p:nvSpPr>
        <p:spPr>
          <a:xfrm>
            <a:off x="491368" y="498162"/>
            <a:ext cx="8520600" cy="4147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100">
                <a:latin typeface="Arial"/>
                <a:ea typeface="Arial"/>
                <a:cs typeface="Arial"/>
                <a:sym typeface="Arial"/>
              </a:rPr>
              <a:t>Prompt:</a:t>
            </a:r>
            <a:br>
              <a:rPr b="1" lang="en" sz="1100">
                <a:latin typeface="Arial"/>
                <a:ea typeface="Arial"/>
                <a:cs typeface="Arial"/>
                <a:sym typeface="Arial"/>
              </a:rPr>
            </a:br>
            <a:r>
              <a:rPr lang="en" sz="1100">
                <a:latin typeface="Arial"/>
                <a:ea typeface="Arial"/>
                <a:cs typeface="Arial"/>
                <a:sym typeface="Arial"/>
              </a:rPr>
              <a:t>“When was Google founded?”</a:t>
            </a:r>
            <a:endParaRPr sz="1100">
              <a:latin typeface="Arial"/>
              <a:ea typeface="Arial"/>
              <a:cs typeface="Arial"/>
              <a:sym typeface="Arial"/>
            </a:endParaRPr>
          </a:p>
          <a:p>
            <a:pPr indent="0" lvl="0" marL="0" rtl="0" algn="l">
              <a:spcBef>
                <a:spcPts val="1200"/>
              </a:spcBef>
              <a:spcAft>
                <a:spcPts val="0"/>
              </a:spcAft>
              <a:buNone/>
            </a:pPr>
            <a:r>
              <a:rPr b="1" lang="en" sz="1100">
                <a:latin typeface="Arial"/>
                <a:ea typeface="Arial"/>
                <a:cs typeface="Arial"/>
                <a:sym typeface="Arial"/>
              </a:rPr>
              <a:t>Response:</a:t>
            </a:r>
            <a:br>
              <a:rPr b="1" lang="en" sz="1100">
                <a:latin typeface="Arial"/>
                <a:ea typeface="Arial"/>
                <a:cs typeface="Arial"/>
                <a:sym typeface="Arial"/>
              </a:rPr>
            </a:br>
            <a:r>
              <a:rPr lang="en" sz="1100">
                <a:latin typeface="Arial"/>
                <a:ea typeface="Arial"/>
                <a:cs typeface="Arial"/>
                <a:sym typeface="Arial"/>
              </a:rPr>
              <a:t>“Google was founded in 1998 by Larry Page and Sergey Brin at Stanford University.”</a:t>
            </a:r>
            <a:endParaRPr sz="1100">
              <a:latin typeface="Arial"/>
              <a:ea typeface="Arial"/>
              <a:cs typeface="Arial"/>
              <a:sym typeface="Arial"/>
            </a:endParaRPr>
          </a:p>
          <a:p>
            <a:pPr indent="0" lvl="0" marL="0" rtl="0" algn="l">
              <a:spcBef>
                <a:spcPts val="1800"/>
              </a:spcBef>
              <a:spcAft>
                <a:spcPts val="0"/>
              </a:spcAft>
              <a:buNone/>
            </a:pPr>
            <a:r>
              <a:rPr b="1" lang="en" sz="1700">
                <a:latin typeface="Arial"/>
                <a:ea typeface="Arial"/>
                <a:cs typeface="Arial"/>
                <a:sym typeface="Arial"/>
              </a:rPr>
              <a:t>Factual Accuracy Justification (Example)</a:t>
            </a:r>
            <a:endParaRPr b="1" sz="1700">
              <a:latin typeface="Arial"/>
              <a:ea typeface="Arial"/>
              <a:cs typeface="Arial"/>
              <a:sym typeface="Arial"/>
            </a:endParaRPr>
          </a:p>
          <a:p>
            <a:pPr indent="0" lvl="0" marL="0" rtl="0" algn="l">
              <a:spcBef>
                <a:spcPts val="1400"/>
              </a:spcBef>
              <a:spcAft>
                <a:spcPts val="0"/>
              </a:spcAft>
              <a:buNone/>
            </a:pPr>
            <a:r>
              <a:rPr b="1" lang="en" sz="1300">
                <a:latin typeface="Arial"/>
                <a:ea typeface="Arial"/>
                <a:cs typeface="Arial"/>
                <a:sym typeface="Arial"/>
              </a:rPr>
              <a:t>Objective Claims Identified:</a:t>
            </a:r>
            <a:endParaRPr b="1" sz="1300">
              <a:latin typeface="Arial"/>
              <a:ea typeface="Arial"/>
              <a:cs typeface="Arial"/>
              <a:sym typeface="Arial"/>
            </a:endParaRPr>
          </a:p>
          <a:p>
            <a:pPr indent="-298450" lvl="0" marL="457200" rtl="0" algn="l">
              <a:spcBef>
                <a:spcPts val="1200"/>
              </a:spcBef>
              <a:spcAft>
                <a:spcPts val="0"/>
              </a:spcAft>
              <a:buSzPts val="1100"/>
              <a:buFont typeface="Arial"/>
              <a:buAutoNum type="arabicPeriod"/>
            </a:pPr>
            <a:r>
              <a:rPr lang="en" sz="1100">
                <a:latin typeface="Arial"/>
                <a:ea typeface="Arial"/>
                <a:cs typeface="Arial"/>
                <a:sym typeface="Arial"/>
              </a:rPr>
              <a:t>Google was founded in 1998.</a:t>
            </a:r>
            <a:endParaRPr sz="1100">
              <a:latin typeface="Arial"/>
              <a:ea typeface="Arial"/>
              <a:cs typeface="Arial"/>
              <a:sym typeface="Arial"/>
            </a:endParaRPr>
          </a:p>
          <a:p>
            <a:pPr indent="-298450" lvl="0" marL="457200" rtl="0" algn="l">
              <a:spcBef>
                <a:spcPts val="0"/>
              </a:spcBef>
              <a:spcAft>
                <a:spcPts val="0"/>
              </a:spcAft>
              <a:buSzPts val="1100"/>
              <a:buFont typeface="Arial"/>
              <a:buAutoNum type="arabicPeriod"/>
            </a:pPr>
            <a:r>
              <a:rPr lang="en" sz="1100">
                <a:latin typeface="Arial"/>
                <a:ea typeface="Arial"/>
                <a:cs typeface="Arial"/>
                <a:sym typeface="Arial"/>
              </a:rPr>
              <a:t>Google was founded by Larry Page and Sergey Brin.</a:t>
            </a:r>
            <a:endParaRPr sz="1100">
              <a:latin typeface="Arial"/>
              <a:ea typeface="Arial"/>
              <a:cs typeface="Arial"/>
              <a:sym typeface="Arial"/>
            </a:endParaRPr>
          </a:p>
          <a:p>
            <a:pPr indent="-298450" lvl="0" marL="457200" rtl="0" algn="l">
              <a:spcBef>
                <a:spcPts val="0"/>
              </a:spcBef>
              <a:spcAft>
                <a:spcPts val="0"/>
              </a:spcAft>
              <a:buSzPts val="1100"/>
              <a:buFont typeface="Arial"/>
              <a:buAutoNum type="arabicPeriod"/>
            </a:pPr>
            <a:r>
              <a:rPr lang="en" sz="1100">
                <a:latin typeface="Arial"/>
                <a:ea typeface="Arial"/>
                <a:cs typeface="Arial"/>
                <a:sym typeface="Arial"/>
              </a:rPr>
              <a:t>Google was founded at Stanford University.</a:t>
            </a:r>
            <a:endParaRPr sz="1100">
              <a:latin typeface="Arial"/>
              <a:ea typeface="Arial"/>
              <a:cs typeface="Arial"/>
              <a:sym typeface="Arial"/>
            </a:endParaRPr>
          </a:p>
          <a:p>
            <a:pPr indent="0" lvl="0" marL="0" rtl="0" algn="l">
              <a:spcBef>
                <a:spcPts val="1400"/>
              </a:spcBef>
              <a:spcAft>
                <a:spcPts val="0"/>
              </a:spcAft>
              <a:buNone/>
            </a:pPr>
            <a:r>
              <a:rPr b="1" lang="en" sz="1300">
                <a:latin typeface="Arial"/>
                <a:ea typeface="Arial"/>
                <a:cs typeface="Arial"/>
                <a:sym typeface="Arial"/>
              </a:rPr>
              <a:t>Claim 1: Accurate</a:t>
            </a:r>
            <a:endParaRPr b="1" sz="1300">
              <a:latin typeface="Arial"/>
              <a:ea typeface="Arial"/>
              <a:cs typeface="Arial"/>
              <a:sym typeface="Arial"/>
            </a:endParaRPr>
          </a:p>
          <a:p>
            <a:pPr indent="0" lvl="0" marL="0" rtl="0" algn="l">
              <a:spcBef>
                <a:spcPts val="1200"/>
              </a:spcBef>
              <a:spcAft>
                <a:spcPts val="0"/>
              </a:spcAft>
              <a:buNone/>
            </a:pPr>
            <a:r>
              <a:rPr b="1" lang="en" sz="1100">
                <a:latin typeface="Arial"/>
                <a:ea typeface="Arial"/>
                <a:cs typeface="Arial"/>
                <a:sym typeface="Arial"/>
              </a:rPr>
              <a:t>Justification:</a:t>
            </a:r>
            <a:br>
              <a:rPr b="1" lang="en" sz="1100">
                <a:latin typeface="Arial"/>
                <a:ea typeface="Arial"/>
                <a:cs typeface="Arial"/>
                <a:sym typeface="Arial"/>
              </a:rPr>
            </a:br>
            <a:r>
              <a:rPr lang="en" sz="1100">
                <a:latin typeface="Arial"/>
                <a:ea typeface="Arial"/>
                <a:cs typeface="Arial"/>
                <a:sym typeface="Arial"/>
              </a:rPr>
              <a:t>Multiple reputable sources confirm that Google was founded in 1998.</a:t>
            </a:r>
            <a:br>
              <a:rPr lang="en" sz="1100">
                <a:latin typeface="Arial"/>
                <a:ea typeface="Arial"/>
                <a:cs typeface="Arial"/>
                <a:sym typeface="Arial"/>
              </a:rPr>
            </a:br>
            <a:r>
              <a:rPr b="1" lang="en" sz="1100">
                <a:latin typeface="Arial"/>
                <a:ea typeface="Arial"/>
                <a:cs typeface="Arial"/>
                <a:sym typeface="Arial"/>
              </a:rPr>
              <a:t>Sources:</a:t>
            </a:r>
            <a:br>
              <a:rPr b="1" lang="en" sz="1100">
                <a:latin typeface="Arial"/>
                <a:ea typeface="Arial"/>
                <a:cs typeface="Arial"/>
                <a:sym typeface="Arial"/>
              </a:rPr>
            </a:br>
            <a:r>
              <a:rPr lang="en" sz="1100" u="sng">
                <a:solidFill>
                  <a:schemeClr val="hlink"/>
                </a:solidFill>
                <a:latin typeface="Arial"/>
                <a:ea typeface="Arial"/>
                <a:cs typeface="Arial"/>
                <a:sym typeface="Arial"/>
                <a:hlinkClick r:id="rId4"/>
              </a:rPr>
              <a:t>https://www.britannica.com/topic/Google-Inc</a:t>
            </a:r>
            <a:br>
              <a:rPr lang="en" sz="1100" u="sng">
                <a:solidFill>
                  <a:schemeClr val="hlink"/>
                </a:solidFill>
                <a:latin typeface="Arial"/>
                <a:ea typeface="Arial"/>
                <a:cs typeface="Arial"/>
                <a:sym typeface="Arial"/>
                <a:hlinkClick r:id="rId5"/>
              </a:rPr>
            </a:br>
            <a:r>
              <a:rPr lang="en" sz="1100" u="sng">
                <a:solidFill>
                  <a:schemeClr val="hlink"/>
                </a:solidFill>
                <a:latin typeface="Arial"/>
                <a:ea typeface="Arial"/>
                <a:cs typeface="Arial"/>
                <a:sym typeface="Arial"/>
                <a:hlinkClick r:id="rId6"/>
              </a:rPr>
              <a:t>https://about.google/company-info/</a:t>
            </a:r>
            <a:endParaRPr sz="1100" u="sng">
              <a:solidFill>
                <a:schemeClr val="hlink"/>
              </a:solidFill>
              <a:latin typeface="Arial"/>
              <a:ea typeface="Arial"/>
              <a:cs typeface="Arial"/>
              <a:sym typeface="Arial"/>
            </a:endParaRPr>
          </a:p>
          <a:p>
            <a:pPr indent="0" lvl="0" marL="0" rtl="0" algn="l">
              <a:spcBef>
                <a:spcPts val="1200"/>
              </a:spcBef>
              <a:spcAft>
                <a:spcPts val="0"/>
              </a:spcAft>
              <a:buNone/>
            </a:pPr>
            <a:r>
              <a:t/>
            </a:r>
            <a:endParaRPr sz="1500">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0"/>
          <p:cNvSpPr txBox="1"/>
          <p:nvPr>
            <p:ph type="title"/>
          </p:nvPr>
        </p:nvSpPr>
        <p:spPr>
          <a:xfrm>
            <a:off x="311700" y="1"/>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Factual Accuracy Justification Template:</a:t>
            </a:r>
            <a:endParaRPr sz="2000"/>
          </a:p>
        </p:txBody>
      </p:sp>
      <p:sp>
        <p:nvSpPr>
          <p:cNvPr id="244" name="Google Shape;244;p40"/>
          <p:cNvSpPr txBox="1"/>
          <p:nvPr>
            <p:ph idx="1" type="body"/>
          </p:nvPr>
        </p:nvSpPr>
        <p:spPr>
          <a:xfrm>
            <a:off x="436818" y="572712"/>
            <a:ext cx="8520600" cy="41472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None/>
            </a:pPr>
            <a:r>
              <a:rPr b="1" lang="en" sz="1300">
                <a:latin typeface="Arial"/>
                <a:ea typeface="Arial"/>
                <a:cs typeface="Arial"/>
                <a:sym typeface="Arial"/>
              </a:rPr>
              <a:t>Claim 2: Accurate</a:t>
            </a:r>
            <a:endParaRPr b="1" sz="1300">
              <a:latin typeface="Arial"/>
              <a:ea typeface="Arial"/>
              <a:cs typeface="Arial"/>
              <a:sym typeface="Arial"/>
            </a:endParaRPr>
          </a:p>
          <a:p>
            <a:pPr indent="0" lvl="0" marL="0" rtl="0" algn="l">
              <a:spcBef>
                <a:spcPts val="1200"/>
              </a:spcBef>
              <a:spcAft>
                <a:spcPts val="0"/>
              </a:spcAft>
              <a:buNone/>
            </a:pPr>
            <a:r>
              <a:rPr b="1" lang="en" sz="1100">
                <a:latin typeface="Arial"/>
                <a:ea typeface="Arial"/>
                <a:cs typeface="Arial"/>
                <a:sym typeface="Arial"/>
              </a:rPr>
              <a:t>Justification:</a:t>
            </a:r>
            <a:br>
              <a:rPr b="1" lang="en" sz="1100">
                <a:latin typeface="Arial"/>
                <a:ea typeface="Arial"/>
                <a:cs typeface="Arial"/>
                <a:sym typeface="Arial"/>
              </a:rPr>
            </a:br>
            <a:r>
              <a:rPr lang="en" sz="1100">
                <a:latin typeface="Arial"/>
                <a:ea typeface="Arial"/>
                <a:cs typeface="Arial"/>
                <a:sym typeface="Arial"/>
              </a:rPr>
              <a:t>Authoritative sources confirm that Larry Page and Sergey Brin are the founders of Google.</a:t>
            </a:r>
            <a:br>
              <a:rPr lang="en" sz="1100">
                <a:latin typeface="Arial"/>
                <a:ea typeface="Arial"/>
                <a:cs typeface="Arial"/>
                <a:sym typeface="Arial"/>
              </a:rPr>
            </a:br>
            <a:r>
              <a:rPr b="1" lang="en" sz="1100">
                <a:latin typeface="Arial"/>
                <a:ea typeface="Arial"/>
                <a:cs typeface="Arial"/>
                <a:sym typeface="Arial"/>
              </a:rPr>
              <a:t>Sources:</a:t>
            </a:r>
            <a:br>
              <a:rPr b="1" lang="en" sz="1100">
                <a:latin typeface="Arial"/>
                <a:ea typeface="Arial"/>
                <a:cs typeface="Arial"/>
                <a:sym typeface="Arial"/>
              </a:rPr>
            </a:br>
            <a:r>
              <a:rPr lang="en" sz="1100" u="sng">
                <a:solidFill>
                  <a:schemeClr val="accent5"/>
                </a:solidFill>
                <a:latin typeface="Arial"/>
                <a:ea typeface="Arial"/>
                <a:cs typeface="Arial"/>
                <a:sym typeface="Arial"/>
                <a:hlinkClick r:id="rId3">
                  <a:extLst>
                    <a:ext uri="{A12FA001-AC4F-418D-AE19-62706E023703}">
                      <ahyp:hlinkClr val="tx"/>
                    </a:ext>
                  </a:extLst>
                </a:hlinkClick>
              </a:rPr>
              <a:t>https://www.britannica.com/topic/Google-Inc</a:t>
            </a:r>
            <a:br>
              <a:rPr lang="en" sz="1100" u="sng">
                <a:solidFill>
                  <a:schemeClr val="accent5"/>
                </a:solidFill>
                <a:latin typeface="Arial"/>
                <a:ea typeface="Arial"/>
                <a:cs typeface="Arial"/>
                <a:sym typeface="Arial"/>
                <a:hlinkClick r:id="rId4">
                  <a:extLst>
                    <a:ext uri="{A12FA001-AC4F-418D-AE19-62706E023703}">
                      <ahyp:hlinkClr val="tx"/>
                    </a:ext>
                  </a:extLst>
                </a:hlinkClick>
              </a:rPr>
            </a:br>
            <a:r>
              <a:rPr lang="en" sz="1100" u="sng">
                <a:solidFill>
                  <a:schemeClr val="accent5"/>
                </a:solidFill>
                <a:latin typeface="Arial"/>
                <a:ea typeface="Arial"/>
                <a:cs typeface="Arial"/>
                <a:sym typeface="Arial"/>
                <a:hlinkClick r:id="rId5">
                  <a:extLst>
                    <a:ext uri="{A12FA001-AC4F-418D-AE19-62706E023703}">
                      <ahyp:hlinkClr val="tx"/>
                    </a:ext>
                  </a:extLst>
                </a:hlinkClick>
              </a:rPr>
              <a:t>https://about.google/company-info/</a:t>
            </a:r>
            <a:endParaRPr sz="1100" u="sng">
              <a:solidFill>
                <a:schemeClr val="accent5"/>
              </a:solidFill>
              <a:latin typeface="Arial"/>
              <a:ea typeface="Arial"/>
              <a:cs typeface="Arial"/>
              <a:sym typeface="Arial"/>
            </a:endParaRPr>
          </a:p>
          <a:p>
            <a:pPr indent="0" lvl="0" marL="0" rtl="0" algn="l">
              <a:spcBef>
                <a:spcPts val="1400"/>
              </a:spcBef>
              <a:spcAft>
                <a:spcPts val="0"/>
              </a:spcAft>
              <a:buNone/>
            </a:pPr>
            <a:r>
              <a:rPr b="1" lang="en" sz="1300">
                <a:latin typeface="Arial"/>
                <a:ea typeface="Arial"/>
                <a:cs typeface="Arial"/>
                <a:sym typeface="Arial"/>
              </a:rPr>
              <a:t>Claim 3: Mostly Accurate</a:t>
            </a:r>
            <a:endParaRPr b="1" sz="1300">
              <a:latin typeface="Arial"/>
              <a:ea typeface="Arial"/>
              <a:cs typeface="Arial"/>
              <a:sym typeface="Arial"/>
            </a:endParaRPr>
          </a:p>
          <a:p>
            <a:pPr indent="0" lvl="0" marL="0" rtl="0" algn="l">
              <a:spcBef>
                <a:spcPts val="1200"/>
              </a:spcBef>
              <a:spcAft>
                <a:spcPts val="0"/>
              </a:spcAft>
              <a:buNone/>
            </a:pPr>
            <a:r>
              <a:rPr b="1" lang="en" sz="1100">
                <a:latin typeface="Arial"/>
                <a:ea typeface="Arial"/>
                <a:cs typeface="Arial"/>
                <a:sym typeface="Arial"/>
              </a:rPr>
              <a:t>Justification:</a:t>
            </a:r>
            <a:br>
              <a:rPr b="1" lang="en" sz="1100">
                <a:latin typeface="Arial"/>
                <a:ea typeface="Arial"/>
                <a:cs typeface="Arial"/>
                <a:sym typeface="Arial"/>
              </a:rPr>
            </a:br>
            <a:r>
              <a:rPr lang="en" sz="1100">
                <a:latin typeface="Arial"/>
                <a:ea typeface="Arial"/>
                <a:cs typeface="Arial"/>
                <a:sym typeface="Arial"/>
              </a:rPr>
              <a:t>Sources confirm that Google began as a research project by Page and Brin while they were PhD students at Stanford University. However, the company itself was incorporated later, making the wording slightly imprecise.</a:t>
            </a:r>
            <a:br>
              <a:rPr lang="en" sz="1100">
                <a:latin typeface="Arial"/>
                <a:ea typeface="Arial"/>
                <a:cs typeface="Arial"/>
                <a:sym typeface="Arial"/>
              </a:rPr>
            </a:br>
            <a:r>
              <a:rPr b="1" lang="en" sz="1100">
                <a:latin typeface="Arial"/>
                <a:ea typeface="Arial"/>
                <a:cs typeface="Arial"/>
                <a:sym typeface="Arial"/>
              </a:rPr>
              <a:t>Sources:</a:t>
            </a:r>
            <a:br>
              <a:rPr b="1" lang="en" sz="1100">
                <a:latin typeface="Arial"/>
                <a:ea typeface="Arial"/>
                <a:cs typeface="Arial"/>
                <a:sym typeface="Arial"/>
              </a:rPr>
            </a:br>
            <a:r>
              <a:rPr lang="en" sz="1100" u="sng">
                <a:solidFill>
                  <a:schemeClr val="accent5"/>
                </a:solidFill>
                <a:latin typeface="Arial"/>
                <a:ea typeface="Arial"/>
                <a:cs typeface="Arial"/>
                <a:sym typeface="Arial"/>
                <a:hlinkClick r:id="rId6">
                  <a:extLst>
                    <a:ext uri="{A12FA001-AC4F-418D-AE19-62706E023703}">
                      <ahyp:hlinkClr val="tx"/>
                    </a:ext>
                  </a:extLst>
                </a:hlinkClick>
              </a:rPr>
              <a:t>https://www.britannica.com/topic/Google-Inc</a:t>
            </a:r>
            <a:br>
              <a:rPr lang="en" sz="1100" u="sng">
                <a:solidFill>
                  <a:schemeClr val="accent5"/>
                </a:solidFill>
                <a:latin typeface="Arial"/>
                <a:ea typeface="Arial"/>
                <a:cs typeface="Arial"/>
                <a:sym typeface="Arial"/>
                <a:hlinkClick r:id="rId7">
                  <a:extLst>
                    <a:ext uri="{A12FA001-AC4F-418D-AE19-62706E023703}">
                      <ahyp:hlinkClr val="tx"/>
                    </a:ext>
                  </a:extLst>
                </a:hlinkClick>
              </a:rPr>
            </a:br>
            <a:r>
              <a:rPr lang="en" sz="1100" u="sng">
                <a:solidFill>
                  <a:schemeClr val="accent5"/>
                </a:solidFill>
                <a:latin typeface="Arial"/>
                <a:ea typeface="Arial"/>
                <a:cs typeface="Arial"/>
                <a:sym typeface="Arial"/>
                <a:hlinkClick r:id="rId8">
                  <a:extLst>
                    <a:ext uri="{A12FA001-AC4F-418D-AE19-62706E023703}">
                      <ahyp:hlinkClr val="tx"/>
                    </a:ext>
                  </a:extLst>
                </a:hlinkClick>
              </a:rPr>
              <a:t>https://about.google/company-info/</a:t>
            </a:r>
            <a:endParaRPr sz="1100" u="sng">
              <a:solidFill>
                <a:schemeClr val="accent5"/>
              </a:solidFill>
              <a:latin typeface="Arial"/>
              <a:ea typeface="Arial"/>
              <a:cs typeface="Arial"/>
              <a:sym typeface="Arial"/>
            </a:endParaRPr>
          </a:p>
          <a:p>
            <a:pPr indent="0" lvl="0" marL="0" rtl="0" algn="l">
              <a:spcBef>
                <a:spcPts val="1400"/>
              </a:spcBef>
              <a:spcAft>
                <a:spcPts val="0"/>
              </a:spcAft>
              <a:buNone/>
            </a:pPr>
            <a:r>
              <a:rPr b="1" lang="en" sz="1300">
                <a:latin typeface="Arial"/>
                <a:ea typeface="Arial"/>
                <a:cs typeface="Arial"/>
                <a:sym typeface="Arial"/>
              </a:rPr>
              <a:t>Final Justification:</a:t>
            </a:r>
            <a:endParaRPr b="1" sz="1300">
              <a:latin typeface="Arial"/>
              <a:ea typeface="Arial"/>
              <a:cs typeface="Arial"/>
              <a:sym typeface="Arial"/>
            </a:endParaRPr>
          </a:p>
          <a:p>
            <a:pPr indent="0" lvl="0" marL="0" rtl="0" algn="l">
              <a:spcBef>
                <a:spcPts val="1200"/>
              </a:spcBef>
              <a:spcAft>
                <a:spcPts val="0"/>
              </a:spcAft>
              <a:buNone/>
            </a:pPr>
            <a:r>
              <a:rPr lang="en" sz="1100">
                <a:latin typeface="Arial"/>
                <a:ea typeface="Arial"/>
                <a:cs typeface="Arial"/>
                <a:sym typeface="Arial"/>
              </a:rPr>
              <a:t>The response contains multiple objective claims that are largely supported by reputable sources. While most information is accurate, one claim is slightly imprecise regarding the company’s founding context. Overall, the response is </a:t>
            </a:r>
            <a:r>
              <a:rPr b="1" lang="en" sz="1100">
                <a:latin typeface="Arial"/>
                <a:ea typeface="Arial"/>
                <a:cs typeface="Arial"/>
                <a:sym typeface="Arial"/>
              </a:rPr>
              <a:t>Mostly Accurate</a:t>
            </a:r>
            <a:r>
              <a:rPr lang="en" sz="1100">
                <a:latin typeface="Arial"/>
                <a:ea typeface="Arial"/>
                <a:cs typeface="Arial"/>
                <a:sym typeface="Arial"/>
              </a:rPr>
              <a:t>.</a:t>
            </a:r>
            <a:endParaRPr sz="1100">
              <a:latin typeface="Arial"/>
              <a:ea typeface="Arial"/>
              <a:cs typeface="Arial"/>
              <a:sym typeface="Arial"/>
            </a:endParaRPr>
          </a:p>
          <a:p>
            <a:pPr indent="0" lvl="0" marL="0" rtl="0" algn="l">
              <a:spcBef>
                <a:spcPts val="1200"/>
              </a:spcBef>
              <a:spcAft>
                <a:spcPts val="0"/>
              </a:spcAft>
              <a:buNone/>
            </a:pPr>
            <a:r>
              <a:t/>
            </a:r>
            <a:endParaRPr b="1" sz="1100">
              <a:latin typeface="Arial"/>
              <a:ea typeface="Arial"/>
              <a:cs typeface="Arial"/>
              <a:sym typeface="Arial"/>
            </a:endParaRPr>
          </a:p>
          <a:p>
            <a:pPr indent="0" lvl="0" marL="0" rtl="0" algn="l">
              <a:spcBef>
                <a:spcPts val="1200"/>
              </a:spcBef>
              <a:spcAft>
                <a:spcPts val="0"/>
              </a:spcAft>
              <a:buNone/>
            </a:pPr>
            <a:r>
              <a:t/>
            </a:r>
            <a:endParaRPr sz="1500">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1"/>
          <p:cNvSpPr txBox="1"/>
          <p:nvPr>
            <p:ph type="title"/>
          </p:nvPr>
        </p:nvSpPr>
        <p:spPr>
          <a:xfrm>
            <a:off x="311700" y="1"/>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Factual Accuracy While Doing Overall Justification</a:t>
            </a:r>
            <a:endParaRPr sz="2000"/>
          </a:p>
        </p:txBody>
      </p:sp>
      <p:sp>
        <p:nvSpPr>
          <p:cNvPr id="250" name="Google Shape;250;p41"/>
          <p:cNvSpPr txBox="1"/>
          <p:nvPr>
            <p:ph idx="1" type="body"/>
          </p:nvPr>
        </p:nvSpPr>
        <p:spPr>
          <a:xfrm>
            <a:off x="436825" y="2710550"/>
            <a:ext cx="8520600" cy="223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300" u="sng">
                <a:latin typeface="Arial"/>
                <a:ea typeface="Arial"/>
                <a:cs typeface="Arial"/>
                <a:sym typeface="Arial"/>
              </a:rPr>
              <a:t>Response Scores:</a:t>
            </a:r>
            <a:endParaRPr b="1" sz="1300" u="sng">
              <a:latin typeface="Arial"/>
              <a:ea typeface="Arial"/>
              <a:cs typeface="Arial"/>
              <a:sym typeface="Arial"/>
            </a:endParaRPr>
          </a:p>
          <a:p>
            <a:pPr indent="0" lvl="0" marL="0" rtl="0" algn="l">
              <a:spcBef>
                <a:spcPts val="0"/>
              </a:spcBef>
              <a:spcAft>
                <a:spcPts val="0"/>
              </a:spcAft>
              <a:buNone/>
            </a:pPr>
            <a:r>
              <a:t/>
            </a:r>
            <a:endParaRPr b="1" sz="1300" u="sng">
              <a:latin typeface="Arial"/>
              <a:ea typeface="Arial"/>
              <a:cs typeface="Arial"/>
              <a:sym typeface="Arial"/>
            </a:endParaRPr>
          </a:p>
          <a:p>
            <a:pPr indent="-311150" lvl="0" marL="457200" rtl="0" algn="l">
              <a:spcBef>
                <a:spcPts val="0"/>
              </a:spcBef>
              <a:spcAft>
                <a:spcPts val="0"/>
              </a:spcAft>
              <a:buSzPts val="1300"/>
              <a:buFont typeface="Arial"/>
              <a:buChar char="●"/>
            </a:pPr>
            <a:r>
              <a:rPr lang="en" sz="1300">
                <a:latin typeface="Arial"/>
                <a:ea typeface="Arial"/>
                <a:cs typeface="Arial"/>
                <a:sym typeface="Arial"/>
              </a:rPr>
              <a:t>Cannot confidently access: [</a:t>
            </a:r>
            <a:r>
              <a:rPr lang="en" sz="1300">
                <a:latin typeface="Arial"/>
                <a:ea typeface="Arial"/>
                <a:cs typeface="Arial"/>
                <a:sym typeface="Arial"/>
              </a:rPr>
              <a:t>Cannot confidently access]</a:t>
            </a: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lang="en" sz="1300">
                <a:latin typeface="Arial"/>
                <a:ea typeface="Arial"/>
                <a:cs typeface="Arial"/>
                <a:sym typeface="Arial"/>
              </a:rPr>
              <a:t>Completely Inaccurate: [1]</a:t>
            </a: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lang="en" sz="1300">
                <a:latin typeface="Arial"/>
                <a:ea typeface="Arial"/>
                <a:cs typeface="Arial"/>
                <a:sym typeface="Arial"/>
              </a:rPr>
              <a:t>Mostly Inaccurate: [2]</a:t>
            </a: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lang="en" sz="1300">
                <a:latin typeface="Arial"/>
                <a:ea typeface="Arial"/>
                <a:cs typeface="Arial"/>
                <a:sym typeface="Arial"/>
              </a:rPr>
              <a:t>Mixed Accuracy: [3]</a:t>
            </a: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lang="en" sz="1300">
                <a:latin typeface="Arial"/>
                <a:ea typeface="Arial"/>
                <a:cs typeface="Arial"/>
                <a:sym typeface="Arial"/>
              </a:rPr>
              <a:t>Mostly Accurate: [4]</a:t>
            </a: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lang="en" sz="1300">
                <a:latin typeface="Arial"/>
                <a:ea typeface="Arial"/>
                <a:cs typeface="Arial"/>
                <a:sym typeface="Arial"/>
              </a:rPr>
              <a:t>Completely Accurate: [5]</a:t>
            </a:r>
            <a:endParaRPr sz="1300">
              <a:latin typeface="Arial"/>
              <a:ea typeface="Arial"/>
              <a:cs typeface="Arial"/>
              <a:sym typeface="Arial"/>
            </a:endParaRPr>
          </a:p>
        </p:txBody>
      </p:sp>
      <p:pic>
        <p:nvPicPr>
          <p:cNvPr id="251" name="Google Shape;251;p41"/>
          <p:cNvPicPr preferRelativeResize="0"/>
          <p:nvPr/>
        </p:nvPicPr>
        <p:blipFill>
          <a:blip r:embed="rId3">
            <a:alphaModFix/>
          </a:blip>
          <a:stretch>
            <a:fillRect/>
          </a:stretch>
        </p:blipFill>
        <p:spPr>
          <a:xfrm>
            <a:off x="436825" y="572701"/>
            <a:ext cx="5629149" cy="183304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2"/>
          <p:cNvSpPr/>
          <p:nvPr/>
        </p:nvSpPr>
        <p:spPr>
          <a:xfrm>
            <a:off x="-8550" y="-81850"/>
            <a:ext cx="9161100" cy="2484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42"/>
          <p:cNvSpPr txBox="1"/>
          <p:nvPr>
            <p:ph idx="4294967295" type="title"/>
          </p:nvPr>
        </p:nvSpPr>
        <p:spPr>
          <a:xfrm>
            <a:off x="311700" y="1982375"/>
            <a:ext cx="8520600" cy="733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accent1"/>
                </a:solidFill>
              </a:rPr>
              <a:t>Other Edge Cases and </a:t>
            </a:r>
            <a:r>
              <a:rPr lang="en">
                <a:solidFill>
                  <a:schemeClr val="accent1"/>
                </a:solidFill>
              </a:rPr>
              <a:t>Scenarios</a:t>
            </a:r>
            <a:endParaRPr>
              <a:solidFill>
                <a:schemeClr val="accent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3"/>
          <p:cNvSpPr txBox="1"/>
          <p:nvPr>
            <p:ph type="title"/>
          </p:nvPr>
        </p:nvSpPr>
        <p:spPr>
          <a:xfrm>
            <a:off x="2727725" y="526350"/>
            <a:ext cx="56187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Example 1</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4"/>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pic>
        <p:nvPicPr>
          <p:cNvPr id="268" name="Google Shape;268;p44"/>
          <p:cNvPicPr preferRelativeResize="0"/>
          <p:nvPr/>
        </p:nvPicPr>
        <p:blipFill>
          <a:blip r:embed="rId3">
            <a:alphaModFix/>
          </a:blip>
          <a:stretch>
            <a:fillRect/>
          </a:stretch>
        </p:blipFill>
        <p:spPr>
          <a:xfrm>
            <a:off x="383518" y="127977"/>
            <a:ext cx="8404251" cy="48880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5"/>
          <p:cNvSpPr txBox="1"/>
          <p:nvPr>
            <p:ph type="title"/>
          </p:nvPr>
        </p:nvSpPr>
        <p:spPr>
          <a:xfrm>
            <a:off x="2727725" y="526350"/>
            <a:ext cx="56187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Example 2</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6"/>
          <p:cNvSpPr txBox="1"/>
          <p:nvPr>
            <p:ph type="title"/>
          </p:nvPr>
        </p:nvSpPr>
        <p:spPr>
          <a:xfrm>
            <a:off x="490250" y="526350"/>
            <a:ext cx="8271300" cy="4090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400">
                <a:solidFill>
                  <a:schemeClr val="dk2"/>
                </a:solidFill>
                <a:latin typeface="Arial"/>
                <a:ea typeface="Arial"/>
                <a:cs typeface="Arial"/>
                <a:sym typeface="Arial"/>
              </a:rPr>
              <a:t>Prompt: Browse the top 250 movies and find one movie that is available on Prime Video. Give me a link to the IMDB page.</a:t>
            </a:r>
            <a:endParaRPr b="1" sz="1400">
              <a:solidFill>
                <a:schemeClr val="dk2"/>
              </a:solidFill>
              <a:latin typeface="Arial"/>
              <a:ea typeface="Arial"/>
              <a:cs typeface="Arial"/>
              <a:sym typeface="Arial"/>
            </a:endParaRPr>
          </a:p>
          <a:p>
            <a:pPr indent="0" lvl="0" marL="0" rtl="0" algn="l">
              <a:spcBef>
                <a:spcPts val="0"/>
              </a:spcBef>
              <a:spcAft>
                <a:spcPts val="0"/>
              </a:spcAft>
              <a:buNone/>
            </a:pPr>
            <a:r>
              <a:t/>
            </a:r>
            <a:endParaRPr b="1" sz="1400">
              <a:solidFill>
                <a:schemeClr val="dk2"/>
              </a:solidFill>
              <a:latin typeface="Arial"/>
              <a:ea typeface="Arial"/>
              <a:cs typeface="Arial"/>
              <a:sym typeface="Arial"/>
            </a:endParaRPr>
          </a:p>
          <a:p>
            <a:pPr indent="0" lvl="0" marL="0" rtl="0" algn="l">
              <a:spcBef>
                <a:spcPts val="0"/>
              </a:spcBef>
              <a:spcAft>
                <a:spcPts val="0"/>
              </a:spcAft>
              <a:buNone/>
            </a:pPr>
            <a:r>
              <a:t/>
            </a:r>
            <a:endParaRPr b="1" sz="1400">
              <a:solidFill>
                <a:schemeClr val="dk2"/>
              </a:solidFill>
              <a:latin typeface="Arial"/>
              <a:ea typeface="Arial"/>
              <a:cs typeface="Arial"/>
              <a:sym typeface="Arial"/>
            </a:endParaRPr>
          </a:p>
          <a:p>
            <a:pPr indent="0" lvl="0" marL="0" rtl="0" algn="l">
              <a:spcBef>
                <a:spcPts val="0"/>
              </a:spcBef>
              <a:spcAft>
                <a:spcPts val="0"/>
              </a:spcAft>
              <a:buNone/>
            </a:pPr>
            <a:r>
              <a:rPr b="1" lang="en" sz="1400">
                <a:solidFill>
                  <a:schemeClr val="dk2"/>
                </a:solidFill>
                <a:latin typeface="Arial"/>
                <a:ea typeface="Arial"/>
                <a:cs typeface="Arial"/>
                <a:sym typeface="Arial"/>
              </a:rPr>
              <a:t>Response A: OK. I found that Pulp Fiction is one of the top 250 movies on IMDb and is available on Prime Video.</a:t>
            </a:r>
            <a:endParaRPr b="1" sz="1400">
              <a:solidFill>
                <a:schemeClr val="dk2"/>
              </a:solidFill>
              <a:latin typeface="Arial"/>
              <a:ea typeface="Arial"/>
              <a:cs typeface="Arial"/>
              <a:sym typeface="Arial"/>
            </a:endParaRPr>
          </a:p>
          <a:p>
            <a:pPr indent="0" lvl="0" marL="0" rtl="0" algn="l">
              <a:spcBef>
                <a:spcPts val="0"/>
              </a:spcBef>
              <a:spcAft>
                <a:spcPts val="0"/>
              </a:spcAft>
              <a:buNone/>
            </a:pPr>
            <a:r>
              <a:t/>
            </a:r>
            <a:endParaRPr b="1" sz="1400">
              <a:solidFill>
                <a:schemeClr val="dk2"/>
              </a:solidFill>
              <a:latin typeface="Arial"/>
              <a:ea typeface="Arial"/>
              <a:cs typeface="Arial"/>
              <a:sym typeface="Arial"/>
            </a:endParaRPr>
          </a:p>
          <a:p>
            <a:pPr indent="0" lvl="0" marL="0" rtl="0" algn="l">
              <a:spcBef>
                <a:spcPts val="0"/>
              </a:spcBef>
              <a:spcAft>
                <a:spcPts val="0"/>
              </a:spcAft>
              <a:buNone/>
            </a:pPr>
            <a:r>
              <a:t/>
            </a:r>
            <a:endParaRPr b="1" sz="1400">
              <a:solidFill>
                <a:schemeClr val="dk2"/>
              </a:solidFill>
              <a:latin typeface="Arial"/>
              <a:ea typeface="Arial"/>
              <a:cs typeface="Arial"/>
              <a:sym typeface="Arial"/>
            </a:endParaRPr>
          </a:p>
          <a:p>
            <a:pPr indent="0" lvl="0" marL="0" rtl="0" algn="l">
              <a:spcBef>
                <a:spcPts val="0"/>
              </a:spcBef>
              <a:spcAft>
                <a:spcPts val="0"/>
              </a:spcAft>
              <a:buClr>
                <a:schemeClr val="dk2"/>
              </a:buClr>
              <a:buSzPts val="1100"/>
              <a:buFont typeface="Arial"/>
              <a:buNone/>
            </a:pPr>
            <a:r>
              <a:rPr b="1" lang="en" sz="1400">
                <a:solidFill>
                  <a:schemeClr val="dk2"/>
                </a:solidFill>
                <a:latin typeface="Arial"/>
                <a:ea typeface="Arial"/>
                <a:cs typeface="Arial"/>
                <a:sym typeface="Arial"/>
              </a:rPr>
              <a:t>Response B: One movie from the </a:t>
            </a:r>
            <a:r>
              <a:rPr b="1" lang="en" sz="1400" u="sng">
                <a:solidFill>
                  <a:schemeClr val="hlink"/>
                </a:solidFill>
                <a:latin typeface="Arial"/>
                <a:ea typeface="Arial"/>
                <a:cs typeface="Arial"/>
                <a:sym typeface="Arial"/>
                <a:hlinkClick r:id="rId3"/>
              </a:rPr>
              <a:t>IMDb </a:t>
            </a:r>
            <a:r>
              <a:rPr b="1" lang="en" sz="1400">
                <a:solidFill>
                  <a:schemeClr val="dk2"/>
                </a:solidFill>
                <a:latin typeface="Arial"/>
                <a:ea typeface="Arial"/>
                <a:cs typeface="Arial"/>
                <a:sym typeface="Arial"/>
              </a:rPr>
              <a:t>Top 250 list that is available on </a:t>
            </a:r>
            <a:r>
              <a:rPr b="1" lang="en" sz="1400" u="sng">
                <a:solidFill>
                  <a:schemeClr val="hlink"/>
                </a:solidFill>
                <a:latin typeface="Arial"/>
                <a:ea typeface="Arial"/>
                <a:cs typeface="Arial"/>
                <a:sym typeface="Arial"/>
                <a:hlinkClick r:id="rId4"/>
              </a:rPr>
              <a:t>Prime Video</a:t>
            </a:r>
            <a:r>
              <a:rPr b="1" lang="en" sz="1400">
                <a:solidFill>
                  <a:schemeClr val="dk2"/>
                </a:solidFill>
                <a:latin typeface="Arial"/>
                <a:ea typeface="Arial"/>
                <a:cs typeface="Arial"/>
                <a:sym typeface="Arial"/>
              </a:rPr>
              <a:t> (for rent or purchase) is </a:t>
            </a:r>
            <a:r>
              <a:rPr b="1" lang="en" sz="1400" u="sng">
                <a:solidFill>
                  <a:schemeClr val="hlink"/>
                </a:solidFill>
                <a:latin typeface="Arial"/>
                <a:ea typeface="Arial"/>
                <a:cs typeface="Arial"/>
                <a:sym typeface="Arial"/>
                <a:hlinkClick r:id="rId5"/>
              </a:rPr>
              <a:t>The Shawshank Redemption</a:t>
            </a:r>
            <a:r>
              <a:rPr b="1" lang="en" sz="1400">
                <a:solidFill>
                  <a:schemeClr val="dk2"/>
                </a:solidFill>
                <a:latin typeface="Arial"/>
                <a:ea typeface="Arial"/>
                <a:cs typeface="Arial"/>
                <a:sym typeface="Arial"/>
              </a:rPr>
              <a:t>.</a:t>
            </a:r>
            <a:endParaRPr b="1" sz="1400">
              <a:solidFill>
                <a:schemeClr val="dk2"/>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7"/>
          <p:cNvSpPr txBox="1"/>
          <p:nvPr>
            <p:ph type="title"/>
          </p:nvPr>
        </p:nvSpPr>
        <p:spPr>
          <a:xfrm>
            <a:off x="2727725" y="526350"/>
            <a:ext cx="56187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Example 3</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8"/>
          <p:cNvSpPr txBox="1"/>
          <p:nvPr>
            <p:ph type="title"/>
          </p:nvPr>
        </p:nvSpPr>
        <p:spPr>
          <a:xfrm>
            <a:off x="462950" y="294425"/>
            <a:ext cx="7998600" cy="1157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Clr>
                <a:schemeClr val="dk2"/>
              </a:buClr>
              <a:buSzPct val="78571"/>
              <a:buFont typeface="Arial"/>
              <a:buNone/>
            </a:pPr>
            <a:r>
              <a:rPr b="1" lang="en" sz="1400">
                <a:solidFill>
                  <a:schemeClr val="dk2"/>
                </a:solidFill>
                <a:latin typeface="Arial"/>
                <a:ea typeface="Arial"/>
                <a:cs typeface="Arial"/>
                <a:sym typeface="Arial"/>
              </a:rPr>
              <a:t>Prompt: Browse the top 250 movies and find one movie that is available on Prime Video. Give me a link to the IMDB page.</a:t>
            </a:r>
            <a:endParaRPr b="1" sz="1400">
              <a:solidFill>
                <a:schemeClr val="dk2"/>
              </a:solidFill>
              <a:latin typeface="Arial"/>
              <a:ea typeface="Arial"/>
              <a:cs typeface="Arial"/>
              <a:sym typeface="Arial"/>
            </a:endParaRPr>
          </a:p>
          <a:p>
            <a:pPr indent="0" lvl="0" marL="0" rtl="0" algn="l">
              <a:spcBef>
                <a:spcPts val="0"/>
              </a:spcBef>
              <a:spcAft>
                <a:spcPts val="0"/>
              </a:spcAft>
              <a:buNone/>
            </a:pPr>
            <a:r>
              <a:t/>
            </a:r>
            <a:endParaRPr/>
          </a:p>
        </p:txBody>
      </p:sp>
      <p:pic>
        <p:nvPicPr>
          <p:cNvPr id="289" name="Google Shape;289;p48"/>
          <p:cNvPicPr preferRelativeResize="0"/>
          <p:nvPr/>
        </p:nvPicPr>
        <p:blipFill>
          <a:blip r:embed="rId3">
            <a:alphaModFix/>
          </a:blip>
          <a:stretch>
            <a:fillRect/>
          </a:stretch>
        </p:blipFill>
        <p:spPr>
          <a:xfrm>
            <a:off x="2324005" y="920775"/>
            <a:ext cx="3301950" cy="3301950"/>
          </a:xfrm>
          <a:prstGeom prst="rect">
            <a:avLst/>
          </a:prstGeom>
          <a:noFill/>
          <a:ln>
            <a:noFill/>
          </a:ln>
        </p:spPr>
      </p:pic>
      <p:sp>
        <p:nvSpPr>
          <p:cNvPr id="290" name="Google Shape;290;p48"/>
          <p:cNvSpPr txBox="1"/>
          <p:nvPr>
            <p:ph type="title"/>
          </p:nvPr>
        </p:nvSpPr>
        <p:spPr>
          <a:xfrm>
            <a:off x="369775" y="3986400"/>
            <a:ext cx="7998600" cy="1157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sz="1400">
                <a:solidFill>
                  <a:schemeClr val="dk2"/>
                </a:solidFill>
                <a:latin typeface="Arial"/>
                <a:ea typeface="Arial"/>
                <a:cs typeface="Arial"/>
                <a:sym typeface="Arial"/>
              </a:rPr>
              <a:t>More information on time sensitive responses and combining claims are coming soon…..</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9"/>
          <p:cNvSpPr txBox="1"/>
          <p:nvPr>
            <p:ph type="title"/>
          </p:nvPr>
        </p:nvSpPr>
        <p:spPr>
          <a:xfrm>
            <a:off x="735825" y="387487"/>
            <a:ext cx="7111800" cy="4420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400"/>
              <a:t>Common Errors:</a:t>
            </a:r>
            <a:endParaRPr b="1" sz="2400"/>
          </a:p>
          <a:p>
            <a:pPr indent="0" lvl="0" marL="0" rtl="0" algn="l">
              <a:spcBef>
                <a:spcPts val="0"/>
              </a:spcBef>
              <a:spcAft>
                <a:spcPts val="0"/>
              </a:spcAft>
              <a:buNone/>
            </a:pPr>
            <a:r>
              <a:t/>
            </a:r>
            <a:endParaRPr sz="2400"/>
          </a:p>
          <a:p>
            <a:pPr indent="-330200" lvl="0" marL="457200" rtl="0" algn="l">
              <a:lnSpc>
                <a:spcPct val="200000"/>
              </a:lnSpc>
              <a:spcBef>
                <a:spcPts val="0"/>
              </a:spcBef>
              <a:spcAft>
                <a:spcPts val="0"/>
              </a:spcAft>
              <a:buClr>
                <a:schemeClr val="dk2"/>
              </a:buClr>
              <a:buSzPts val="1600"/>
              <a:buFont typeface="Arial"/>
              <a:buChar char="•"/>
            </a:pPr>
            <a:r>
              <a:rPr lang="en" sz="1600">
                <a:solidFill>
                  <a:schemeClr val="dk2"/>
                </a:solidFill>
                <a:latin typeface="Arial"/>
                <a:ea typeface="Arial"/>
                <a:cs typeface="Arial"/>
                <a:sym typeface="Arial"/>
              </a:rPr>
              <a:t>Not distinguishing objective vs. subjective claims</a:t>
            </a:r>
            <a:endParaRPr sz="1600">
              <a:solidFill>
                <a:schemeClr val="dk2"/>
              </a:solidFill>
              <a:latin typeface="Arial"/>
              <a:ea typeface="Arial"/>
              <a:cs typeface="Arial"/>
              <a:sym typeface="Arial"/>
            </a:endParaRPr>
          </a:p>
          <a:p>
            <a:pPr indent="-330200" lvl="0" marL="457200" rtl="0" algn="l">
              <a:lnSpc>
                <a:spcPct val="200000"/>
              </a:lnSpc>
              <a:spcBef>
                <a:spcPts val="0"/>
              </a:spcBef>
              <a:spcAft>
                <a:spcPts val="0"/>
              </a:spcAft>
              <a:buClr>
                <a:schemeClr val="dk2"/>
              </a:buClr>
              <a:buSzPts val="1600"/>
              <a:buFont typeface="Arial"/>
              <a:buChar char="•"/>
            </a:pPr>
            <a:r>
              <a:rPr lang="en" sz="1600">
                <a:solidFill>
                  <a:schemeClr val="dk2"/>
                </a:solidFill>
                <a:latin typeface="Arial"/>
                <a:ea typeface="Arial"/>
                <a:cs typeface="Arial"/>
                <a:sym typeface="Arial"/>
              </a:rPr>
              <a:t>Failing to provide sources</a:t>
            </a:r>
            <a:endParaRPr sz="1600">
              <a:solidFill>
                <a:schemeClr val="dk2"/>
              </a:solidFill>
              <a:latin typeface="Arial"/>
              <a:ea typeface="Arial"/>
              <a:cs typeface="Arial"/>
              <a:sym typeface="Arial"/>
            </a:endParaRPr>
          </a:p>
          <a:p>
            <a:pPr indent="-330200" lvl="0" marL="457200" rtl="0" algn="l">
              <a:lnSpc>
                <a:spcPct val="200000"/>
              </a:lnSpc>
              <a:spcBef>
                <a:spcPts val="0"/>
              </a:spcBef>
              <a:spcAft>
                <a:spcPts val="0"/>
              </a:spcAft>
              <a:buClr>
                <a:schemeClr val="dk2"/>
              </a:buClr>
              <a:buSzPts val="1600"/>
              <a:buFont typeface="Arial"/>
              <a:buChar char="•"/>
            </a:pPr>
            <a:r>
              <a:rPr lang="en" sz="1600">
                <a:solidFill>
                  <a:schemeClr val="dk2"/>
                </a:solidFill>
                <a:latin typeface="Arial"/>
                <a:ea typeface="Arial"/>
                <a:cs typeface="Arial"/>
                <a:sym typeface="Arial"/>
              </a:rPr>
              <a:t>Using unreliable sources (Wikipedia, blogs only)</a:t>
            </a:r>
            <a:endParaRPr sz="1600">
              <a:solidFill>
                <a:schemeClr val="dk2"/>
              </a:solidFill>
              <a:latin typeface="Arial"/>
              <a:ea typeface="Arial"/>
              <a:cs typeface="Arial"/>
              <a:sym typeface="Arial"/>
            </a:endParaRPr>
          </a:p>
          <a:p>
            <a:pPr indent="-330200" lvl="0" marL="457200" rtl="0" algn="l">
              <a:lnSpc>
                <a:spcPct val="200000"/>
              </a:lnSpc>
              <a:spcBef>
                <a:spcPts val="0"/>
              </a:spcBef>
              <a:spcAft>
                <a:spcPts val="0"/>
              </a:spcAft>
              <a:buClr>
                <a:schemeClr val="dk2"/>
              </a:buClr>
              <a:buSzPts val="1600"/>
              <a:buFont typeface="Arial"/>
              <a:buChar char="•"/>
            </a:pPr>
            <a:r>
              <a:rPr lang="en" sz="1600">
                <a:solidFill>
                  <a:schemeClr val="dk2"/>
                </a:solidFill>
                <a:latin typeface="Arial"/>
                <a:ea typeface="Arial"/>
                <a:cs typeface="Arial"/>
                <a:sym typeface="Arial"/>
              </a:rPr>
              <a:t>Not fact-checking claims systematically</a:t>
            </a:r>
            <a:endParaRPr sz="1600">
              <a:solidFill>
                <a:schemeClr val="dk2"/>
              </a:solidFill>
              <a:latin typeface="Arial"/>
              <a:ea typeface="Arial"/>
              <a:cs typeface="Arial"/>
              <a:sym typeface="Arial"/>
            </a:endParaRPr>
          </a:p>
          <a:p>
            <a:pPr indent="-330200" lvl="0" marL="457200" rtl="0" algn="l">
              <a:lnSpc>
                <a:spcPct val="200000"/>
              </a:lnSpc>
              <a:spcBef>
                <a:spcPts val="0"/>
              </a:spcBef>
              <a:spcAft>
                <a:spcPts val="0"/>
              </a:spcAft>
              <a:buClr>
                <a:schemeClr val="dk2"/>
              </a:buClr>
              <a:buSzPts val="1600"/>
              <a:buFont typeface="Arial"/>
              <a:buChar char="•"/>
            </a:pPr>
            <a:r>
              <a:rPr lang="en" sz="1600">
                <a:solidFill>
                  <a:schemeClr val="dk2"/>
                </a:solidFill>
                <a:latin typeface="Arial"/>
                <a:ea typeface="Arial"/>
                <a:cs typeface="Arial"/>
                <a:sym typeface="Arial"/>
              </a:rPr>
              <a:t>Not checking every claim in the response</a:t>
            </a:r>
            <a:endParaRPr sz="1600">
              <a:solidFill>
                <a:schemeClr val="dk2"/>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50"/>
          <p:cNvSpPr/>
          <p:nvPr/>
        </p:nvSpPr>
        <p:spPr>
          <a:xfrm>
            <a:off x="0" y="0"/>
            <a:ext cx="9161100" cy="2484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50"/>
          <p:cNvSpPr txBox="1"/>
          <p:nvPr>
            <p:ph idx="4294967295" type="title"/>
          </p:nvPr>
        </p:nvSpPr>
        <p:spPr>
          <a:xfrm>
            <a:off x="311700" y="372500"/>
            <a:ext cx="8520600" cy="733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accent1"/>
                </a:solidFill>
              </a:rPr>
              <a:t>Review</a:t>
            </a:r>
            <a:endParaRPr>
              <a:solidFill>
                <a:schemeClr val="accent1"/>
              </a:solidFill>
            </a:endParaRPr>
          </a:p>
        </p:txBody>
      </p:sp>
      <p:grpSp>
        <p:nvGrpSpPr>
          <p:cNvPr id="302" name="Google Shape;302;p50"/>
          <p:cNvGrpSpPr/>
          <p:nvPr/>
        </p:nvGrpSpPr>
        <p:grpSpPr>
          <a:xfrm>
            <a:off x="1211307" y="1705030"/>
            <a:ext cx="1233485" cy="1233485"/>
            <a:chOff x="1700550" y="1498632"/>
            <a:chExt cx="1053900" cy="1053900"/>
          </a:xfrm>
        </p:grpSpPr>
        <p:sp>
          <p:nvSpPr>
            <p:cNvPr id="303" name="Google Shape;303;p50"/>
            <p:cNvSpPr/>
            <p:nvPr/>
          </p:nvSpPr>
          <p:spPr>
            <a:xfrm>
              <a:off x="1700550" y="1498632"/>
              <a:ext cx="1053900" cy="1053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50"/>
            <p:cNvSpPr/>
            <p:nvPr/>
          </p:nvSpPr>
          <p:spPr>
            <a:xfrm>
              <a:off x="1956450" y="1729405"/>
              <a:ext cx="542100" cy="515400"/>
            </a:xfrm>
            <a:prstGeom prst="star5">
              <a:avLst>
                <a:gd fmla="val 19098" name="adj"/>
                <a:gd fmla="val 105146" name="hf"/>
                <a:gd fmla="val 110557" name="vf"/>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5" name="Google Shape;305;p50"/>
          <p:cNvGrpSpPr/>
          <p:nvPr/>
        </p:nvGrpSpPr>
        <p:grpSpPr>
          <a:xfrm>
            <a:off x="2583323" y="1705030"/>
            <a:ext cx="1233485" cy="1233485"/>
            <a:chOff x="2872812" y="1498619"/>
            <a:chExt cx="1053900" cy="1053900"/>
          </a:xfrm>
        </p:grpSpPr>
        <p:sp>
          <p:nvSpPr>
            <p:cNvPr id="306" name="Google Shape;306;p50"/>
            <p:cNvSpPr/>
            <p:nvPr/>
          </p:nvSpPr>
          <p:spPr>
            <a:xfrm>
              <a:off x="2872812" y="1498619"/>
              <a:ext cx="1053900" cy="1053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50"/>
            <p:cNvSpPr/>
            <p:nvPr/>
          </p:nvSpPr>
          <p:spPr>
            <a:xfrm>
              <a:off x="3128712" y="1729418"/>
              <a:ext cx="542100" cy="515400"/>
            </a:xfrm>
            <a:prstGeom prst="star5">
              <a:avLst>
                <a:gd fmla="val 19098" name="adj"/>
                <a:gd fmla="val 105146" name="hf"/>
                <a:gd fmla="val 110557" name="vf"/>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8" name="Google Shape;308;p50"/>
          <p:cNvGrpSpPr/>
          <p:nvPr/>
        </p:nvGrpSpPr>
        <p:grpSpPr>
          <a:xfrm>
            <a:off x="3955309" y="1705030"/>
            <a:ext cx="1233485" cy="1233485"/>
            <a:chOff x="4045050" y="1484544"/>
            <a:chExt cx="1053900" cy="1053900"/>
          </a:xfrm>
        </p:grpSpPr>
        <p:sp>
          <p:nvSpPr>
            <p:cNvPr id="309" name="Google Shape;309;p50"/>
            <p:cNvSpPr/>
            <p:nvPr/>
          </p:nvSpPr>
          <p:spPr>
            <a:xfrm>
              <a:off x="4045050" y="1484544"/>
              <a:ext cx="1053900" cy="1053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50"/>
            <p:cNvSpPr/>
            <p:nvPr/>
          </p:nvSpPr>
          <p:spPr>
            <a:xfrm>
              <a:off x="4300950" y="1715343"/>
              <a:ext cx="542100" cy="515400"/>
            </a:xfrm>
            <a:prstGeom prst="star5">
              <a:avLst>
                <a:gd fmla="val 19098" name="adj"/>
                <a:gd fmla="val 105146" name="hf"/>
                <a:gd fmla="val 110557" name="vf"/>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1" name="Google Shape;311;p50"/>
          <p:cNvGrpSpPr/>
          <p:nvPr/>
        </p:nvGrpSpPr>
        <p:grpSpPr>
          <a:xfrm>
            <a:off x="5327311" y="1705030"/>
            <a:ext cx="1233485" cy="1233485"/>
            <a:chOff x="5217300" y="1498632"/>
            <a:chExt cx="1053900" cy="1053900"/>
          </a:xfrm>
        </p:grpSpPr>
        <p:sp>
          <p:nvSpPr>
            <p:cNvPr id="312" name="Google Shape;312;p50"/>
            <p:cNvSpPr/>
            <p:nvPr/>
          </p:nvSpPr>
          <p:spPr>
            <a:xfrm>
              <a:off x="5217300" y="1498632"/>
              <a:ext cx="1053900" cy="1053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50"/>
            <p:cNvSpPr/>
            <p:nvPr/>
          </p:nvSpPr>
          <p:spPr>
            <a:xfrm>
              <a:off x="5473200" y="1729430"/>
              <a:ext cx="542100" cy="515400"/>
            </a:xfrm>
            <a:prstGeom prst="star5">
              <a:avLst>
                <a:gd fmla="val 19098" name="adj"/>
                <a:gd fmla="val 105146" name="hf"/>
                <a:gd fmla="val 110557" name="vf"/>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4" name="Google Shape;314;p50"/>
          <p:cNvGrpSpPr/>
          <p:nvPr/>
        </p:nvGrpSpPr>
        <p:grpSpPr>
          <a:xfrm>
            <a:off x="6699312" y="1705030"/>
            <a:ext cx="1233485" cy="1233485"/>
            <a:chOff x="6389550" y="1498632"/>
            <a:chExt cx="1053900" cy="1053900"/>
          </a:xfrm>
        </p:grpSpPr>
        <p:sp>
          <p:nvSpPr>
            <p:cNvPr id="315" name="Google Shape;315;p50"/>
            <p:cNvSpPr/>
            <p:nvPr/>
          </p:nvSpPr>
          <p:spPr>
            <a:xfrm>
              <a:off x="6389550" y="1498632"/>
              <a:ext cx="1053900" cy="1053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50"/>
            <p:cNvSpPr/>
            <p:nvPr/>
          </p:nvSpPr>
          <p:spPr>
            <a:xfrm>
              <a:off x="6645450" y="1729430"/>
              <a:ext cx="542100" cy="515400"/>
            </a:xfrm>
            <a:prstGeom prst="star5">
              <a:avLst>
                <a:gd fmla="val 19098" name="adj"/>
                <a:gd fmla="val 105146" name="hf"/>
                <a:gd fmla="val 110557" name="vf"/>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7" name="Google Shape;317;p50"/>
          <p:cNvSpPr txBox="1"/>
          <p:nvPr>
            <p:ph idx="4294967295" type="body"/>
          </p:nvPr>
        </p:nvSpPr>
        <p:spPr>
          <a:xfrm>
            <a:off x="311700" y="3198825"/>
            <a:ext cx="8520600" cy="16098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2400"/>
              <a:t>How did you feel about the training today</a:t>
            </a:r>
            <a:r>
              <a:rPr lang="en" sz="2400"/>
              <a:t>? </a:t>
            </a:r>
            <a:endParaRPr sz="24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op">
  <a:themeElements>
    <a:clrScheme name="Pop">
      <a:dk1>
        <a:srgbClr val="F8E71C"/>
      </a:dk1>
      <a:lt1>
        <a:srgbClr val="FFFFFF"/>
      </a:lt1>
      <a:dk2>
        <a:srgbClr val="000000"/>
      </a:dk2>
      <a:lt2>
        <a:srgbClr val="D9D9D9"/>
      </a:lt2>
      <a:accent1>
        <a:srgbClr val="666666"/>
      </a:accent1>
      <a:accent2>
        <a:srgbClr val="483165"/>
      </a:accent2>
      <a:accent3>
        <a:srgbClr val="EB1E95"/>
      </a:accent3>
      <a:accent4>
        <a:srgbClr val="01AFD1"/>
      </a:accent4>
      <a:accent5>
        <a:srgbClr val="0F9D58"/>
      </a:accent5>
      <a:accent6>
        <a:srgbClr val="9C27B0"/>
      </a:accent6>
      <a:hlink>
        <a:srgbClr val="0F9D58"/>
      </a:hlink>
      <a:folHlink>
        <a:srgbClr val="0F9D5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